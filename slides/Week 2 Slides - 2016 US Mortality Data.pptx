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29" r:id="rId1"/>
  </p:sldMasterIdLst>
  <p:notesMasterIdLst>
    <p:notesMasterId r:id="rId24"/>
  </p:notesMasterIdLst>
  <p:sldIdLst>
    <p:sldId id="256" r:id="rId2"/>
    <p:sldId id="260" r:id="rId3"/>
    <p:sldId id="261" r:id="rId4"/>
    <p:sldId id="257" r:id="rId5"/>
    <p:sldId id="275" r:id="rId6"/>
    <p:sldId id="258" r:id="rId7"/>
    <p:sldId id="279" r:id="rId8"/>
    <p:sldId id="280" r:id="rId9"/>
    <p:sldId id="282" r:id="rId10"/>
    <p:sldId id="283" r:id="rId11"/>
    <p:sldId id="276" r:id="rId12"/>
    <p:sldId id="259" r:id="rId13"/>
    <p:sldId id="262" r:id="rId14"/>
    <p:sldId id="268" r:id="rId15"/>
    <p:sldId id="273" r:id="rId16"/>
    <p:sldId id="269" r:id="rId17"/>
    <p:sldId id="272" r:id="rId18"/>
    <p:sldId id="274" r:id="rId19"/>
    <p:sldId id="263" r:id="rId20"/>
    <p:sldId id="264" r:id="rId21"/>
    <p:sldId id="265" r:id="rId22"/>
    <p:sldId id="277"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A11F67-8BD6-47EC-9F71-6CD8F6C066F8}">
  <a:tblStyle styleId="{BFA11F67-8BD6-47EC-9F71-6CD8F6C066F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6B56FE9-9935-4933-9EED-B9BDDED56D0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p:restoredTop sz="94694"/>
  </p:normalViewPr>
  <p:slideViewPr>
    <p:cSldViewPr snapToGrid="0">
      <p:cViewPr>
        <p:scale>
          <a:sx n="92" d="100"/>
          <a:sy n="92" d="100"/>
        </p:scale>
        <p:origin x="192" y="13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5D3CEE35-D2F9-55D8-32E2-FAAE4DDB832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34075D38-E58C-0855-F6C6-0F037975C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9C459F08-4EB3-2E96-C8A4-6898D3A48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384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A9CBAA3B-BC5F-D038-4641-D1B17B2EECF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0BDD33B3-32D6-3E68-16C3-A515DE44D6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DFD355AC-1C77-A215-83EF-94DB596E5E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6944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592c9a769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CA5748E-216F-2807-9E65-8808B1251EA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6F0659D-83C2-094F-9D7F-5D5E727DF3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A88FD501-3564-5E85-66C2-F4E970A002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142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92c9a769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92c9a769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53294316-F55E-2CBC-41C6-F1A7D1E03E3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DE2B881F-E9F9-8F7D-8A7C-B1DFD563F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832D381-84EE-40D8-3E14-3AF8214C7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44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71E976EB-4363-7977-7A93-24F9F50A239B}"/>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6454DF5-3BEF-6A69-34DF-7A8DC0AACF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628554B8-21F5-D484-6A8B-DC55FEA9CB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549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615FE4CC-952F-4DDD-D2A0-54D12462C01F}"/>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3B9D4B7A-26BC-F847-FFC2-597108C054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4F5F0A57-B8CB-A6C1-B42D-0C9A465C8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982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4F2C59CC-568E-E757-8FCB-00BFB22FD97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80DCE55C-1233-1842-F4B9-F7E4CC1A9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7EC5FCC5-1781-88EF-A05E-3A925E48E2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793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4E9BBBA8-B764-1E0C-0897-0525F2D712F5}"/>
            </a:ext>
          </a:extLst>
        </p:cNvPr>
        <p:cNvGrpSpPr/>
        <p:nvPr/>
      </p:nvGrpSpPr>
      <p:grpSpPr>
        <a:xfrm>
          <a:off x="0" y="0"/>
          <a:ext cx="0" cy="0"/>
          <a:chOff x="0" y="0"/>
          <a:chExt cx="0" cy="0"/>
        </a:xfrm>
      </p:grpSpPr>
      <p:sp>
        <p:nvSpPr>
          <p:cNvPr id="62" name="Google Shape;62;g3592c9a7694_0_24:notes">
            <a:extLst>
              <a:ext uri="{FF2B5EF4-FFF2-40B4-BE49-F238E27FC236}">
                <a16:creationId xmlns:a16="http://schemas.microsoft.com/office/drawing/2014/main" id="{90637652-7E29-4C38-6023-1D57AF4CC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92c9a7694_0_24:notes">
            <a:extLst>
              <a:ext uri="{FF2B5EF4-FFF2-40B4-BE49-F238E27FC236}">
                <a16:creationId xmlns:a16="http://schemas.microsoft.com/office/drawing/2014/main" id="{17B2AC50-5A9D-A5D5-DBA5-72BE583835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8715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92c9a769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92c9a769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9F1EDCD3-32F4-5529-1524-0C14B5A382B8}"/>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EFE4A4E-9B02-6946-1040-3C962CEEF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1199C69B-6469-1F53-F2D1-C65D48975F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121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1728E4C-4999-666D-EE4A-DE8763DE031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40A4B8E-0FCB-C0B0-73D0-306910C51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CDF57DBB-184B-E98E-AC44-5DF901260D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745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1E8B79C-9B79-0AD3-9C40-7A36BD2C5D8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A692D763-B89D-74C9-F6BF-8BB26D919A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400C203F-D927-77D1-01FC-48B3819B0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133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D50A799-80AC-57E7-561F-74540E3A8736}"/>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F2AA01E-2B66-42C9-97E6-C89A6F9CB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5DD611D5-FEDE-F5EB-2DA2-C2E3CA6ED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1646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B77F0F-7113-86A6-3371-7F8BC5EB95F8}"/>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62E2AC2A-B326-47A0-802C-9930FB5C83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E3620F8-04AA-27B4-8DA6-028D87162A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2426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8E6A231E-7096-9681-CCD3-CD4EBF3F891D}"/>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8F3B9A9A-143B-9FC4-A931-C7ADE9355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4A4A7D1-4C87-CD4A-78AE-8BA597C348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5688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24141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56523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768015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4306553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386728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578033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25768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495733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177128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484430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612622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2994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5/16/25</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17741031"/>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6571" y="935831"/>
            <a:ext cx="6858000" cy="2255585"/>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4" name="Google Shape;54;p13"/>
          <p:cNvSpPr txBox="1">
            <a:spLocks noGrp="1"/>
          </p:cNvSpPr>
          <p:nvPr>
            <p:ph type="ctrTitle"/>
          </p:nvPr>
        </p:nvSpPr>
        <p:spPr>
          <a:xfrm>
            <a:off x="1353741" y="1081629"/>
            <a:ext cx="6436518" cy="1632996"/>
          </a:xfrm>
          <a:prstGeom prst="rect">
            <a:avLst/>
          </a:prstGeom>
        </p:spPr>
        <p:txBody>
          <a:bodyPr spcFirstLastPara="1" lIns="91425" tIns="91425" rIns="91425" bIns="91425" anchor="ctr" anchorCtr="0">
            <a:normAutofit/>
          </a:bodyPr>
          <a:lstStyle/>
          <a:p>
            <a:pPr marL="0" lvl="0" indent="0" rtl="0">
              <a:spcBef>
                <a:spcPts val="0"/>
              </a:spcBef>
              <a:spcAft>
                <a:spcPts val="0"/>
              </a:spcAft>
              <a:buNone/>
            </a:pPr>
            <a:r>
              <a:rPr lang="en-CA" sz="5000"/>
              <a:t>Quality of 2016 US Mortality Data</a:t>
            </a:r>
          </a:p>
        </p:txBody>
      </p:sp>
      <p:sp>
        <p:nvSpPr>
          <p:cNvPr id="63" name="Rectangle: Rounded Corners 62">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5904" y="2934241"/>
            <a:ext cx="5419335" cy="51435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E74D520-C484-ED4B-5443-B7509633B915}"/>
              </a:ext>
            </a:extLst>
          </p:cNvPr>
          <p:cNvSpPr txBox="1"/>
          <p:nvPr/>
        </p:nvSpPr>
        <p:spPr>
          <a:xfrm>
            <a:off x="3511296" y="3008081"/>
            <a:ext cx="1628716" cy="369332"/>
          </a:xfrm>
          <a:prstGeom prst="rect">
            <a:avLst/>
          </a:prstGeom>
          <a:noFill/>
        </p:spPr>
        <p:txBody>
          <a:bodyPr wrap="none" rtlCol="0">
            <a:spAutoFit/>
          </a:bodyPr>
          <a:lstStyle/>
          <a:p>
            <a:r>
              <a:rPr lang="en-US" dirty="0"/>
              <a:t>Week 2 Update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8">
          <a:extLst>
            <a:ext uri="{FF2B5EF4-FFF2-40B4-BE49-F238E27FC236}">
              <a16:creationId xmlns:a16="http://schemas.microsoft.com/office/drawing/2014/main" id="{AF697BAF-B125-C33C-126A-7D6391A73DBB}"/>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Google Shape;59;p14">
            <a:extLst>
              <a:ext uri="{FF2B5EF4-FFF2-40B4-BE49-F238E27FC236}">
                <a16:creationId xmlns:a16="http://schemas.microsoft.com/office/drawing/2014/main" id="{477C8D8E-8B30-09AE-B9BD-C0E9B687E874}"/>
              </a:ext>
            </a:extLst>
          </p:cNvPr>
          <p:cNvSpPr txBox="1">
            <a:spLocks noGrp="1"/>
          </p:cNvSpPr>
          <p:nvPr>
            <p:ph type="ctrTitle"/>
          </p:nvPr>
        </p:nvSpPr>
        <p:spPr>
          <a:xfrm>
            <a:off x="1030986" y="199736"/>
            <a:ext cx="7886700" cy="994173"/>
          </a:xfrm>
          <a:prstGeom prst="rect">
            <a:avLst/>
          </a:prstGeom>
        </p:spPr>
        <p:txBody>
          <a:bodyPr spcFirstLastPara="1" vert="horz" lIns="91440" tIns="45720" rIns="91440" bIns="45720" rtlCol="0" anchor="ctr" anchorCtr="0">
            <a:normAutofit/>
          </a:bodyPr>
          <a:lstStyle/>
          <a:p>
            <a:pPr marL="0" lvl="0" indent="0" algn="l" defTabSz="914400">
              <a:spcAft>
                <a:spcPts val="0"/>
              </a:spcAft>
              <a:buSzPts val="990"/>
            </a:pPr>
            <a:r>
              <a:rPr lang="en-US" sz="3200" kern="1200" dirty="0">
                <a:solidFill>
                  <a:schemeClr val="tx1"/>
                </a:solidFill>
                <a:latin typeface="+mj-lt"/>
                <a:ea typeface="+mj-ea"/>
                <a:cs typeface="+mj-cs"/>
              </a:rPr>
              <a:t>ANACONDA Index</a:t>
            </a:r>
          </a:p>
        </p:txBody>
      </p:sp>
      <p:sp>
        <p:nvSpPr>
          <p:cNvPr id="69" name="Arc 6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7"/>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0" name="Google Shape;60;p14">
            <a:extLst>
              <a:ext uri="{FF2B5EF4-FFF2-40B4-BE49-F238E27FC236}">
                <a16:creationId xmlns:a16="http://schemas.microsoft.com/office/drawing/2014/main" id="{76953108-8CB2-F7B3-9575-0F7EBEEE26EA}"/>
              </a:ext>
            </a:extLst>
          </p:cNvPr>
          <p:cNvSpPr txBox="1"/>
          <p:nvPr/>
        </p:nvSpPr>
        <p:spPr>
          <a:xfrm>
            <a:off x="942975" y="1122330"/>
            <a:ext cx="7886700" cy="3263504"/>
          </a:xfrm>
          <a:prstGeom prst="rect">
            <a:avLst/>
          </a:prstGeom>
        </p:spPr>
        <p:txBody>
          <a:bodyPr spcFirstLastPara="1" vert="horz" lIns="91440" tIns="45720" rIns="91440" bIns="45720" rtlCol="0" anchorCtr="0">
            <a:normAutofit/>
          </a:bodyPr>
          <a:lstStyle/>
          <a:p>
            <a:pPr lvl="0" defTabSz="914400">
              <a:lnSpc>
                <a:spcPct val="90000"/>
              </a:lnSpc>
              <a:spcAft>
                <a:spcPts val="600"/>
              </a:spcAft>
            </a:pPr>
            <a:r>
              <a:rPr lang="en-US" sz="1200" dirty="0"/>
              <a:t>1.* Completeness of death registration</a:t>
            </a:r>
          </a:p>
          <a:p>
            <a:pPr lvl="0" defTabSz="914400">
              <a:lnSpc>
                <a:spcPct val="90000"/>
              </a:lnSpc>
              <a:spcAft>
                <a:spcPts val="600"/>
              </a:spcAft>
            </a:pPr>
            <a:r>
              <a:rPr lang="en-US" sz="1200" dirty="0"/>
              <a:t>	- this is unimportant for our dataset</a:t>
            </a:r>
          </a:p>
          <a:p>
            <a:pPr lvl="0" defTabSz="914400">
              <a:lnSpc>
                <a:spcPct val="90000"/>
              </a:lnSpc>
              <a:spcAft>
                <a:spcPts val="600"/>
              </a:spcAft>
            </a:pPr>
            <a:r>
              <a:rPr lang="en-US" sz="1200" dirty="0"/>
              <a:t>2. Fraction of ‘garbage’ codes in the data</a:t>
            </a:r>
          </a:p>
          <a:p>
            <a:pPr lvl="0" defTabSz="914400">
              <a:lnSpc>
                <a:spcPct val="90000"/>
              </a:lnSpc>
              <a:spcAft>
                <a:spcPts val="600"/>
              </a:spcAft>
            </a:pPr>
            <a:r>
              <a:rPr lang="en-US" sz="1200" dirty="0"/>
              <a:t>3.* Amount of COD detail in the COD list used</a:t>
            </a:r>
          </a:p>
          <a:p>
            <a:pPr lvl="0" defTabSz="914400">
              <a:lnSpc>
                <a:spcPct val="90000"/>
              </a:lnSpc>
              <a:spcAft>
                <a:spcPts val="600"/>
              </a:spcAft>
            </a:pPr>
            <a:r>
              <a:rPr lang="en-US" sz="1200" dirty="0"/>
              <a:t>	- The ANACONDA model simply calculates the number of different categories used for underlying cause of death rather than looking at the number of secondary factors listed. I think both are interesting</a:t>
            </a:r>
          </a:p>
          <a:p>
            <a:pPr lvl="0" defTabSz="914400">
              <a:lnSpc>
                <a:spcPct val="90000"/>
              </a:lnSpc>
              <a:spcAft>
                <a:spcPts val="600"/>
              </a:spcAft>
            </a:pPr>
            <a:r>
              <a:rPr lang="en-US" sz="1200" dirty="0"/>
              <a:t>4.* Extent to which age and sex of deceased are not recorded</a:t>
            </a:r>
          </a:p>
          <a:p>
            <a:pPr lvl="0" defTabSz="914400">
              <a:lnSpc>
                <a:spcPct val="90000"/>
              </a:lnSpc>
              <a:spcAft>
                <a:spcPts val="600"/>
              </a:spcAft>
            </a:pPr>
            <a:r>
              <a:rPr lang="en-US" sz="1200" dirty="0"/>
              <a:t>5. Number of biologically implausible causes found in the data (i.e. highly unlikely of impossible causes for a given age-sex category)</a:t>
            </a:r>
          </a:p>
          <a:p>
            <a:pPr lvl="0" indent="-228600" defTabSz="914400">
              <a:lnSpc>
                <a:spcPct val="90000"/>
              </a:lnSpc>
              <a:spcAft>
                <a:spcPts val="600"/>
              </a:spcAft>
              <a:buFont typeface="Arial" panose="020B0604020202020204" pitchFamily="34" charset="0"/>
              <a:buChar char="•"/>
            </a:pPr>
            <a:endParaRPr lang="en-US" sz="1200" dirty="0"/>
          </a:p>
          <a:p>
            <a:pPr lvl="0" defTabSz="914400">
              <a:lnSpc>
                <a:spcPct val="90000"/>
              </a:lnSpc>
              <a:spcAft>
                <a:spcPts val="600"/>
              </a:spcAft>
            </a:pPr>
            <a:r>
              <a:rPr lang="en-US" sz="1200" dirty="0"/>
              <a:t>* Indicates that the category is not necessarily useful for the United States</a:t>
            </a:r>
          </a:p>
          <a:p>
            <a:pPr lvl="0" indent="-228600" defTabSz="914400">
              <a:lnSpc>
                <a:spcPct val="90000"/>
              </a:lnSpc>
              <a:spcAft>
                <a:spcPts val="600"/>
              </a:spcAft>
              <a:buFont typeface="Arial" panose="020B0604020202020204" pitchFamily="34" charset="0"/>
              <a:buChar char="•"/>
            </a:pPr>
            <a:endParaRPr lang="en-US" sz="1200" dirty="0"/>
          </a:p>
          <a:p>
            <a:pPr lvl="0" defTabSz="914400">
              <a:lnSpc>
                <a:spcPct val="90000"/>
              </a:lnSpc>
              <a:spcAft>
                <a:spcPts val="600"/>
              </a:spcAft>
            </a:pPr>
            <a:r>
              <a:rPr lang="en-US" sz="1200" dirty="0"/>
              <a:t>The final index is calculated as:  </a:t>
            </a:r>
            <a:r>
              <a:rPr lang="en-US" sz="1200" dirty="0" err="1"/>
              <a:t>completeness_score</a:t>
            </a:r>
            <a:r>
              <a:rPr lang="en-US" sz="1200" dirty="0"/>
              <a:t>  * (1 - </a:t>
            </a:r>
            <a:r>
              <a:rPr lang="en-US" sz="1200" dirty="0" err="1"/>
              <a:t>garbage_fraction</a:t>
            </a:r>
            <a:r>
              <a:rPr lang="en-US" sz="1200" dirty="0"/>
              <a:t>) * </a:t>
            </a:r>
            <a:r>
              <a:rPr lang="en-US" sz="1200" dirty="0" err="1"/>
              <a:t>level_of_detail</a:t>
            </a:r>
            <a:r>
              <a:rPr lang="en-US" sz="1200" dirty="0"/>
              <a:t> *  (1 - </a:t>
            </a:r>
            <a:r>
              <a:rPr lang="en-US" sz="1200" dirty="0" err="1"/>
              <a:t>missing_age_sex</a:t>
            </a:r>
            <a:r>
              <a:rPr lang="en-US" sz="1200" dirty="0"/>
              <a:t>)   *  (1 - </a:t>
            </a:r>
            <a:r>
              <a:rPr lang="en-US" sz="1200" dirty="0" err="1"/>
              <a:t>implausible_codes</a:t>
            </a:r>
            <a:r>
              <a:rPr lang="en-US" sz="1200" dirty="0"/>
              <a:t>) </a:t>
            </a:r>
          </a:p>
        </p:txBody>
      </p:sp>
    </p:spTree>
    <p:extLst>
      <p:ext uri="{BB962C8B-B14F-4D97-AF65-F5344CB8AC3E}">
        <p14:creationId xmlns:p14="http://schemas.microsoft.com/office/powerpoint/2010/main" val="1887571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38B3BB1F-D969-941F-E8E0-221381E689DE}"/>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13857AA7-B08C-538C-8991-F4E2368F1DD8}"/>
              </a:ext>
            </a:extLst>
          </p:cNvPr>
          <p:cNvSpPr txBox="1">
            <a:spLocks noGrp="1"/>
          </p:cNvSpPr>
          <p:nvPr>
            <p:ph type="ctrTitle"/>
          </p:nvPr>
        </p:nvSpPr>
        <p:spPr>
          <a:xfrm>
            <a:off x="311700" y="120087"/>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CA" sz="2400" dirty="0"/>
              <a:t>Summary of Things I Looked At</a:t>
            </a:r>
          </a:p>
        </p:txBody>
      </p:sp>
      <p:sp>
        <p:nvSpPr>
          <p:cNvPr id="60" name="Google Shape;60;p14">
            <a:extLst>
              <a:ext uri="{FF2B5EF4-FFF2-40B4-BE49-F238E27FC236}">
                <a16:creationId xmlns:a16="http://schemas.microsoft.com/office/drawing/2014/main" id="{67DB86F6-2136-A012-1DA0-86FA6A911DDD}"/>
              </a:ext>
            </a:extLst>
          </p:cNvPr>
          <p:cNvSpPr txBox="1"/>
          <p:nvPr/>
        </p:nvSpPr>
        <p:spPr>
          <a:xfrm>
            <a:off x="470643" y="747387"/>
            <a:ext cx="8202713" cy="4183637"/>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1.* Completeness of death registration</a:t>
            </a:r>
          </a:p>
          <a:p>
            <a:pPr lvl="0"/>
            <a:r>
              <a:rPr lang="en-CA" dirty="0">
                <a:solidFill>
                  <a:schemeClr val="dk2"/>
                </a:solidFill>
              </a:rPr>
              <a:t>		- this is unimportant for our dataset</a:t>
            </a:r>
          </a:p>
          <a:p>
            <a:pPr lvl="0"/>
            <a:r>
              <a:rPr lang="en-CA" dirty="0">
                <a:solidFill>
                  <a:schemeClr val="dk2"/>
                </a:solidFill>
              </a:rPr>
              <a:t>2. Fraction of ‘garbage’ codes in the data</a:t>
            </a:r>
          </a:p>
          <a:p>
            <a:pPr lvl="0"/>
            <a:r>
              <a:rPr lang="en-CA" dirty="0">
                <a:solidFill>
                  <a:schemeClr val="dk2"/>
                </a:solidFill>
              </a:rPr>
              <a:t>3.* Amount of COD detail in the COD list used</a:t>
            </a:r>
          </a:p>
          <a:p>
            <a:pPr lvl="0"/>
            <a:r>
              <a:rPr lang="en-CA" dirty="0">
                <a:solidFill>
                  <a:schemeClr val="dk2"/>
                </a:solidFill>
              </a:rPr>
              <a:t>		- The ANACONDA model simply calculates the number of different codes used for underlying cause of death rather</a:t>
            </a:r>
          </a:p>
          <a:p>
            <a:pPr lvl="0"/>
            <a:r>
              <a:rPr lang="en-CA" dirty="0">
                <a:solidFill>
                  <a:schemeClr val="dk2"/>
                </a:solidFill>
              </a:rPr>
              <a:t>4. * Number of biologically implausible causes found in the data (i.e. highly unlikely of impossible causes for a given age-sex category)</a:t>
            </a:r>
          </a:p>
          <a:p>
            <a:pPr lvl="0"/>
            <a:r>
              <a:rPr lang="en-CA" dirty="0">
                <a:solidFill>
                  <a:srgbClr val="FF0000"/>
                </a:solidFill>
              </a:rPr>
              <a:t>5. Autopsy frequency </a:t>
            </a:r>
          </a:p>
          <a:p>
            <a:pPr lvl="0"/>
            <a:r>
              <a:rPr lang="en-CA" dirty="0">
                <a:solidFill>
                  <a:srgbClr val="FF0000"/>
                </a:solidFill>
              </a:rPr>
              <a:t>6. Average number secondary factors recorded. </a:t>
            </a:r>
          </a:p>
          <a:p>
            <a:pPr lvl="0"/>
            <a:r>
              <a:rPr lang="en-CA" dirty="0">
                <a:solidFill>
                  <a:srgbClr val="FF0000"/>
                </a:solidFill>
              </a:rPr>
              <a:t>7. Frequency that one or no secondary factors were recorded.</a:t>
            </a:r>
          </a:p>
          <a:p>
            <a:pPr lvl="0"/>
            <a:endParaRPr lang="en-CA" dirty="0">
              <a:solidFill>
                <a:schemeClr val="dk2"/>
              </a:solidFill>
            </a:endParaRPr>
          </a:p>
          <a:p>
            <a:pPr lvl="0"/>
            <a:r>
              <a:rPr lang="en-CA" sz="1400" dirty="0">
                <a:solidFill>
                  <a:srgbClr val="FF0000"/>
                </a:solidFill>
              </a:rPr>
              <a:t>Ones in red are not part of ANACONDA</a:t>
            </a:r>
          </a:p>
          <a:p>
            <a:pPr lvl="0"/>
            <a:r>
              <a:rPr lang="en-CA" sz="1400" dirty="0"/>
              <a:t>* Less relevant for United States</a:t>
            </a:r>
          </a:p>
          <a:p>
            <a:pPr lvl="0"/>
            <a:r>
              <a:rPr lang="en-CA" sz="1400" dirty="0">
                <a:solidFill>
                  <a:schemeClr val="dk2"/>
                </a:solidFill>
              </a:rPr>
              <a:t>Is there a way to evaluate if some secondary codes are better than others?</a:t>
            </a:r>
          </a:p>
        </p:txBody>
      </p:sp>
    </p:spTree>
    <p:extLst>
      <p:ext uri="{BB962C8B-B14F-4D97-AF65-F5344CB8AC3E}">
        <p14:creationId xmlns:p14="http://schemas.microsoft.com/office/powerpoint/2010/main" val="360651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Data is complete (or very close)</a:t>
            </a:r>
            <a:endParaRPr sz="2800" dirty="0"/>
          </a:p>
        </p:txBody>
      </p:sp>
      <p:sp>
        <p:nvSpPr>
          <p:cNvPr id="60" name="Google Shape;60;p14"/>
          <p:cNvSpPr txBox="1"/>
          <p:nvPr/>
        </p:nvSpPr>
        <p:spPr>
          <a:xfrm>
            <a:off x="1136000" y="1669075"/>
            <a:ext cx="6798600" cy="272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The ANACONDA completeness model finds that the US mortality data is 98% complete which is within a standard error of 100% (the model has uncertainty of 3-5%).</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Measuring exactly how complete US mortality is would require a more precise model.</a:t>
            </a:r>
            <a:endParaRPr sz="1800" dirty="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A974519-BF79-C04A-95F8-89E6CD55586D}"/>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6C94330C-2143-2DB9-5286-F03104385AB3}"/>
              </a:ext>
            </a:extLst>
          </p:cNvPr>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Biologically Implausible Codes</a:t>
            </a:r>
            <a:endParaRPr sz="2800" dirty="0"/>
          </a:p>
        </p:txBody>
      </p:sp>
      <p:sp>
        <p:nvSpPr>
          <p:cNvPr id="60" name="Google Shape;60;p14">
            <a:extLst>
              <a:ext uri="{FF2B5EF4-FFF2-40B4-BE49-F238E27FC236}">
                <a16:creationId xmlns:a16="http://schemas.microsoft.com/office/drawing/2014/main" id="{D07044D1-24E4-CFF0-1D4F-95FA4F03E8B3}"/>
              </a:ext>
            </a:extLst>
          </p:cNvPr>
          <p:cNvSpPr txBox="1"/>
          <p:nvPr/>
        </p:nvSpPr>
        <p:spPr>
          <a:xfrm>
            <a:off x="1004341" y="1469036"/>
            <a:ext cx="6930259" cy="2926439"/>
          </a:xfrm>
          <a:prstGeom prst="rect">
            <a:avLst/>
          </a:prstGeom>
          <a:noFill/>
          <a:ln>
            <a:noFill/>
          </a:ln>
        </p:spPr>
        <p:txBody>
          <a:bodyPr spcFirstLastPara="1" wrap="square" lIns="91425" tIns="91425" rIns="91425" bIns="91425" anchor="t" anchorCtr="0">
            <a:noAutofit/>
          </a:bodyPr>
          <a:lstStyle/>
          <a:p>
            <a:r>
              <a:rPr lang="en" sz="1800" dirty="0">
                <a:solidFill>
                  <a:schemeClr val="dk2"/>
                </a:solidFill>
              </a:rPr>
              <a:t>The ANACONDA </a:t>
            </a:r>
            <a:r>
              <a:rPr lang="en-CA" sz="1800" dirty="0">
                <a:solidFill>
                  <a:schemeClr val="dk2"/>
                </a:solidFill>
              </a:rPr>
              <a:t>model looks at garbage codes as well as biologically implausible codes (age / sex combination). The Ellingsen paper on Norway assumes that the number of biologically implausible codes is incredibly small (&lt;3% according to ANACONDA model) so it ignores them.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I think the same assumption can be made about the United States data.</a:t>
            </a:r>
          </a:p>
          <a:p>
            <a:pPr marL="0" lvl="0" indent="0" algn="l" rtl="0">
              <a:spcBef>
                <a:spcPts val="0"/>
              </a:spcBef>
              <a:spcAft>
                <a:spcPts val="0"/>
              </a:spcAft>
              <a:buNone/>
            </a:pPr>
            <a:r>
              <a:rPr lang="en" dirty="0">
                <a:solidFill>
                  <a:schemeClr val="dk2"/>
                </a:solidFill>
              </a:rPr>
              <a:t>(Having difficulty finding a list of biologically implausible codes to test this.)</a:t>
            </a:r>
            <a:endParaRPr sz="1800" dirty="0">
              <a:solidFill>
                <a:schemeClr val="dk2"/>
              </a:solidFill>
            </a:endParaRPr>
          </a:p>
        </p:txBody>
      </p:sp>
    </p:spTree>
    <p:extLst>
      <p:ext uri="{BB962C8B-B14F-4D97-AF65-F5344CB8AC3E}">
        <p14:creationId xmlns:p14="http://schemas.microsoft.com/office/powerpoint/2010/main" val="1347600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013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Fraction of Garbage Codes and GBD Severity Profile</a:t>
            </a:r>
            <a:endParaRPr dirty="0"/>
          </a:p>
        </p:txBody>
      </p:sp>
      <p:graphicFrame>
        <p:nvGraphicFramePr>
          <p:cNvPr id="66" name="Google Shape;66;p15"/>
          <p:cNvGraphicFramePr/>
          <p:nvPr/>
        </p:nvGraphicFramePr>
        <p:xfrm>
          <a:off x="493200" y="2038675"/>
          <a:ext cx="7239000" cy="1942950"/>
        </p:xfrm>
        <a:graphic>
          <a:graphicData uri="http://schemas.openxmlformats.org/drawingml/2006/table">
            <a:tbl>
              <a:tblPr>
                <a:noFill/>
                <a:tableStyleId>{BFA11F67-8BD6-47EC-9F71-6CD8F6C066F8}</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a:t>GBD Severity</a:t>
                      </a:r>
                      <a:endParaRPr/>
                    </a:p>
                  </a:txBody>
                  <a:tcPr marL="91425" marR="91425" marT="91425" marB="91425"/>
                </a:tc>
                <a:tc>
                  <a:txBody>
                    <a:bodyPr/>
                    <a:lstStyle/>
                    <a:p>
                      <a:pPr marL="0" lvl="0" indent="0" algn="l" rtl="0">
                        <a:spcBef>
                          <a:spcPts val="0"/>
                        </a:spcBef>
                        <a:spcAft>
                          <a:spcPts val="0"/>
                        </a:spcAft>
                        <a:buNone/>
                      </a:pPr>
                      <a:r>
                        <a:rPr lang="en"/>
                        <a:t>Deaths</a:t>
                      </a:r>
                      <a:endParaRPr/>
                    </a:p>
                  </a:txBody>
                  <a:tcPr marL="91425" marR="91425" marT="91425" marB="91425"/>
                </a:tc>
                <a:tc>
                  <a:txBody>
                    <a:bodyPr/>
                    <a:lstStyle/>
                    <a:p>
                      <a:pPr marL="0" lvl="0" indent="0" algn="l" rtl="0">
                        <a:spcBef>
                          <a:spcPts val="0"/>
                        </a:spcBef>
                        <a:spcAft>
                          <a:spcPts val="0"/>
                        </a:spcAft>
                        <a:buNone/>
                      </a:pPr>
                      <a:r>
                        <a:rPr lang="en"/>
                        <a:t>Share (of garbage codes)</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92876</a:t>
                      </a:r>
                      <a:endParaRPr/>
                    </a:p>
                  </a:txBody>
                  <a:tcPr marL="91425" marR="91425" marT="91425" marB="91425"/>
                </a:tc>
                <a:tc>
                  <a:txBody>
                    <a:bodyPr/>
                    <a:lstStyle/>
                    <a:p>
                      <a:pPr marL="0" lvl="0" indent="0" algn="l" rtl="0">
                        <a:spcBef>
                          <a:spcPts val="0"/>
                        </a:spcBef>
                        <a:spcAft>
                          <a:spcPts val="0"/>
                        </a:spcAft>
                        <a:buNone/>
                      </a:pPr>
                      <a:r>
                        <a:rPr lang="en">
                          <a:solidFill>
                            <a:schemeClr val="dk1"/>
                          </a:solidFill>
                          <a:highlight>
                            <a:srgbClr val="FFFFFF"/>
                          </a:highlight>
                        </a:rPr>
                        <a:t>41.3%</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27631</a:t>
                      </a:r>
                      <a:endParaRPr/>
                    </a:p>
                  </a:txBody>
                  <a:tcPr marL="91425" marR="91425" marT="91425" marB="91425"/>
                </a:tc>
                <a:tc>
                  <a:txBody>
                    <a:bodyPr/>
                    <a:lstStyle/>
                    <a:p>
                      <a:pPr marL="0" lvl="0" indent="0" algn="l" rtl="0">
                        <a:spcBef>
                          <a:spcPts val="0"/>
                        </a:spcBef>
                        <a:spcAft>
                          <a:spcPts val="0"/>
                        </a:spcAft>
                        <a:buNone/>
                      </a:pPr>
                      <a:r>
                        <a:rPr lang="en"/>
                        <a:t>12.2%</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40578</a:t>
                      </a:r>
                      <a:endParaRPr/>
                    </a:p>
                  </a:txBody>
                  <a:tcPr marL="91425" marR="91425" marT="91425" marB="91425"/>
                </a:tc>
                <a:tc>
                  <a:txBody>
                    <a:bodyPr/>
                    <a:lstStyle/>
                    <a:p>
                      <a:pPr marL="0" lvl="0" indent="0" algn="l" rtl="0">
                        <a:spcBef>
                          <a:spcPts val="0"/>
                        </a:spcBef>
                        <a:spcAft>
                          <a:spcPts val="0"/>
                        </a:spcAft>
                        <a:buNone/>
                      </a:pPr>
                      <a:r>
                        <a:rPr lang="en"/>
                        <a:t>18.06%</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r>
                        <a:rPr lang="en"/>
                        <a:t>63567</a:t>
                      </a:r>
                      <a:endParaRPr/>
                    </a:p>
                  </a:txBody>
                  <a:tcPr marL="91425" marR="91425" marT="91425" marB="91425"/>
                </a:tc>
                <a:tc>
                  <a:txBody>
                    <a:bodyPr/>
                    <a:lstStyle/>
                    <a:p>
                      <a:pPr marL="0" lvl="0" indent="0" algn="l" rtl="0">
                        <a:spcBef>
                          <a:spcPts val="0"/>
                        </a:spcBef>
                        <a:spcAft>
                          <a:spcPts val="0"/>
                        </a:spcAft>
                        <a:buNone/>
                      </a:pPr>
                      <a:r>
                        <a:rPr lang="en"/>
                        <a:t>28.3%</a:t>
                      </a:r>
                      <a:endParaRPr/>
                    </a:p>
                  </a:txBody>
                  <a:tcPr marL="91425" marR="91425" marT="91425" marB="91425"/>
                </a:tc>
                <a:extLst>
                  <a:ext uri="{0D108BD9-81ED-4DB2-BD59-A6C34878D82A}">
                    <a16:rowId xmlns:a16="http://schemas.microsoft.com/office/drawing/2014/main" val="10004"/>
                  </a:ext>
                </a:extLst>
              </a:tr>
            </a:tbl>
          </a:graphicData>
        </a:graphic>
      </p:graphicFrame>
      <p:sp>
        <p:nvSpPr>
          <p:cNvPr id="67" name="Google Shape;67;p15"/>
          <p:cNvSpPr txBox="1"/>
          <p:nvPr/>
        </p:nvSpPr>
        <p:spPr>
          <a:xfrm>
            <a:off x="493200" y="1262200"/>
            <a:ext cx="6162042" cy="430857"/>
          </a:xfrm>
          <a:prstGeom prst="rect">
            <a:avLst/>
          </a:prstGeom>
          <a:noFill/>
          <a:ln>
            <a:noFill/>
          </a:ln>
        </p:spPr>
        <p:txBody>
          <a:bodyPr spcFirstLastPara="1" wrap="square" lIns="91425" tIns="91425" rIns="91425" bIns="91425" anchor="t" anchorCtr="0">
            <a:spAutoFit/>
          </a:bodyPr>
          <a:lstStyle/>
          <a:p>
            <a:pPr lvl="0"/>
            <a:r>
              <a:rPr lang="en" sz="1600" dirty="0">
                <a:solidFill>
                  <a:schemeClr val="dk1"/>
                </a:solidFill>
              </a:rPr>
              <a:t>In 2016, 8.1% of codes were garbage (underlying cause of death)</a:t>
            </a:r>
            <a:endParaRPr sz="16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0DB523F5-A0CF-3924-D9E1-129E83970C44}"/>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353A5942-4858-A52A-BFB7-3D9733F89B54}"/>
              </a:ext>
            </a:extLst>
          </p:cNvPr>
          <p:cNvSpPr txBox="1">
            <a:spLocks noGrp="1"/>
          </p:cNvSpPr>
          <p:nvPr>
            <p:ph type="ctrTitle"/>
          </p:nvPr>
        </p:nvSpPr>
        <p:spPr>
          <a:xfrm>
            <a:off x="311700" y="0"/>
            <a:ext cx="8520600" cy="627300"/>
          </a:xfrm>
          <a:prstGeom prst="rect">
            <a:avLst/>
          </a:prstGeom>
        </p:spPr>
        <p:txBody>
          <a:bodyPr spcFirstLastPara="1" wrap="square" lIns="91425" tIns="91425" rIns="91425" bIns="91425" anchor="b" anchorCtr="0">
            <a:noAutofit/>
          </a:bodyPr>
          <a:lstStyle/>
          <a:p>
            <a:pPr lvl="0">
              <a:spcBef>
                <a:spcPts val="0"/>
              </a:spcBef>
              <a:buSzPts val="990"/>
            </a:pPr>
            <a:r>
              <a:rPr lang="en" sz="2400" dirty="0"/>
              <a:t>Demographics and Percentage Garbage Codes</a:t>
            </a:r>
            <a:endParaRPr sz="2400" dirty="0"/>
          </a:p>
        </p:txBody>
      </p:sp>
      <p:graphicFrame>
        <p:nvGraphicFramePr>
          <p:cNvPr id="2" name="Table 1">
            <a:extLst>
              <a:ext uri="{FF2B5EF4-FFF2-40B4-BE49-F238E27FC236}">
                <a16:creationId xmlns:a16="http://schemas.microsoft.com/office/drawing/2014/main" id="{C4268D0B-A2FE-F44E-C5AA-9DE93BDFEFD6}"/>
              </a:ext>
            </a:extLst>
          </p:cNvPr>
          <p:cNvGraphicFramePr>
            <a:graphicFrameLocks noGrp="1"/>
          </p:cNvGraphicFramePr>
          <p:nvPr>
            <p:extLst>
              <p:ext uri="{D42A27DB-BD31-4B8C-83A1-F6EECF244321}">
                <p14:modId xmlns:p14="http://schemas.microsoft.com/office/powerpoint/2010/main" val="2529906363"/>
              </p:ext>
            </p:extLst>
          </p:nvPr>
        </p:nvGraphicFramePr>
        <p:xfrm>
          <a:off x="311700" y="727976"/>
          <a:ext cx="4973532" cy="1817388"/>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45659">
                <a:tc>
                  <a:txBody>
                    <a:bodyPr/>
                    <a:lstStyle/>
                    <a:p>
                      <a:r>
                        <a:rPr lang="en-US" dirty="0"/>
                        <a:t>Race</a:t>
                      </a:r>
                    </a:p>
                  </a:txBody>
                  <a:tcPr/>
                </a:tc>
                <a:tc>
                  <a:txBody>
                    <a:bodyPr/>
                    <a:lstStyle/>
                    <a:p>
                      <a:r>
                        <a:rPr lang="en-US" dirty="0"/>
                        <a:t>Percentage garbage codes (%)</a:t>
                      </a:r>
                    </a:p>
                  </a:txBody>
                  <a:tcPr/>
                </a:tc>
                <a:extLst>
                  <a:ext uri="{0D108BD9-81ED-4DB2-BD59-A6C34878D82A}">
                    <a16:rowId xmlns:a16="http://schemas.microsoft.com/office/drawing/2014/main" val="3441494424"/>
                  </a:ext>
                </a:extLst>
              </a:tr>
              <a:tr h="328617">
                <a:tc>
                  <a:txBody>
                    <a:bodyPr/>
                    <a:lstStyle/>
                    <a:p>
                      <a:r>
                        <a:rPr lang="en-US" dirty="0"/>
                        <a:t>White</a:t>
                      </a:r>
                    </a:p>
                  </a:txBody>
                  <a:tcPr>
                    <a:solidFill>
                      <a:schemeClr val="bg2"/>
                    </a:solidFill>
                  </a:tcPr>
                </a:tc>
                <a:tc>
                  <a:txBody>
                    <a:bodyPr/>
                    <a:lstStyle/>
                    <a:p>
                      <a:r>
                        <a:rPr lang="en-US" dirty="0"/>
                        <a:t>8.1</a:t>
                      </a:r>
                    </a:p>
                  </a:txBody>
                  <a:tcPr>
                    <a:solidFill>
                      <a:schemeClr val="bg2"/>
                    </a:solidFill>
                  </a:tcPr>
                </a:tc>
                <a:extLst>
                  <a:ext uri="{0D108BD9-81ED-4DB2-BD59-A6C34878D82A}">
                    <a16:rowId xmlns:a16="http://schemas.microsoft.com/office/drawing/2014/main" val="1978091271"/>
                  </a:ext>
                </a:extLst>
              </a:tr>
              <a:tr h="328617">
                <a:tc>
                  <a:txBody>
                    <a:bodyPr/>
                    <a:lstStyle/>
                    <a:p>
                      <a:r>
                        <a:rPr lang="en-US" dirty="0"/>
                        <a:t>Black</a:t>
                      </a:r>
                    </a:p>
                  </a:txBody>
                  <a:tcPr>
                    <a:solidFill>
                      <a:schemeClr val="bg2"/>
                    </a:solidFill>
                  </a:tcPr>
                </a:tc>
                <a:tc>
                  <a:txBody>
                    <a:bodyPr/>
                    <a:lstStyle/>
                    <a:p>
                      <a:r>
                        <a:rPr lang="en-US" dirty="0"/>
                        <a:t>8.8</a:t>
                      </a:r>
                    </a:p>
                  </a:txBody>
                  <a:tcPr>
                    <a:solidFill>
                      <a:schemeClr val="bg2"/>
                    </a:solidFill>
                  </a:tcPr>
                </a:tc>
                <a:extLst>
                  <a:ext uri="{0D108BD9-81ED-4DB2-BD59-A6C34878D82A}">
                    <a16:rowId xmlns:a16="http://schemas.microsoft.com/office/drawing/2014/main" val="446706471"/>
                  </a:ext>
                </a:extLst>
              </a:tr>
              <a:tr h="328617">
                <a:tc>
                  <a:txBody>
                    <a:bodyPr/>
                    <a:lstStyle/>
                    <a:p>
                      <a:r>
                        <a:rPr lang="en-US" dirty="0"/>
                        <a:t>Indigenous</a:t>
                      </a:r>
                    </a:p>
                  </a:txBody>
                  <a:tcPr>
                    <a:solidFill>
                      <a:schemeClr val="bg2"/>
                    </a:solidFill>
                  </a:tcPr>
                </a:tc>
                <a:tc>
                  <a:txBody>
                    <a:bodyPr/>
                    <a:lstStyle/>
                    <a:p>
                      <a:r>
                        <a:rPr lang="en-US" dirty="0"/>
                        <a:t>8.8</a:t>
                      </a:r>
                    </a:p>
                  </a:txBody>
                  <a:tcPr>
                    <a:solidFill>
                      <a:schemeClr val="bg2"/>
                    </a:solidFill>
                  </a:tcPr>
                </a:tc>
                <a:extLst>
                  <a:ext uri="{0D108BD9-81ED-4DB2-BD59-A6C34878D82A}">
                    <a16:rowId xmlns:a16="http://schemas.microsoft.com/office/drawing/2014/main" val="3537160196"/>
                  </a:ext>
                </a:extLst>
              </a:tr>
              <a:tr h="328617">
                <a:tc>
                  <a:txBody>
                    <a:bodyPr/>
                    <a:lstStyle/>
                    <a:p>
                      <a:r>
                        <a:rPr lang="en-US" dirty="0"/>
                        <a:t>Asian or Pacific Islander </a:t>
                      </a:r>
                    </a:p>
                  </a:txBody>
                  <a:tcPr>
                    <a:solidFill>
                      <a:schemeClr val="bg2"/>
                    </a:solidFill>
                  </a:tcPr>
                </a:tc>
                <a:tc>
                  <a:txBody>
                    <a:bodyPr/>
                    <a:lstStyle/>
                    <a:p>
                      <a:r>
                        <a:rPr lang="en-US" dirty="0"/>
                        <a:t>7.5</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61AEB430-48E5-3F2A-9A13-1EA7C27EA66A}"/>
              </a:ext>
            </a:extLst>
          </p:cNvPr>
          <p:cNvGraphicFramePr>
            <a:graphicFrameLocks noGrp="1"/>
          </p:cNvGraphicFramePr>
          <p:nvPr>
            <p:extLst>
              <p:ext uri="{D42A27DB-BD31-4B8C-83A1-F6EECF244321}">
                <p14:modId xmlns:p14="http://schemas.microsoft.com/office/powerpoint/2010/main" val="4025733878"/>
              </p:ext>
            </p:extLst>
          </p:nvPr>
        </p:nvGraphicFramePr>
        <p:xfrm>
          <a:off x="5517581" y="903261"/>
          <a:ext cx="2962656" cy="1466818"/>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527302">
                <a:tc>
                  <a:txBody>
                    <a:bodyPr/>
                    <a:lstStyle/>
                    <a:p>
                      <a:r>
                        <a:rPr lang="en-US" dirty="0"/>
                        <a:t>Sex</a:t>
                      </a:r>
                    </a:p>
                  </a:txBody>
                  <a:tcPr/>
                </a:tc>
                <a:tc>
                  <a:txBody>
                    <a:bodyPr/>
                    <a:lstStyle/>
                    <a:p>
                      <a:r>
                        <a:rPr lang="en-US" dirty="0"/>
                        <a:t>Percentage garbage codes (%)</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8.2</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8.1</a:t>
                      </a:r>
                    </a:p>
                  </a:txBody>
                  <a:tcPr/>
                </a:tc>
                <a:extLst>
                  <a:ext uri="{0D108BD9-81ED-4DB2-BD59-A6C34878D82A}">
                    <a16:rowId xmlns:a16="http://schemas.microsoft.com/office/drawing/2014/main" val="3998251909"/>
                  </a:ext>
                </a:extLst>
              </a:tr>
            </a:tbl>
          </a:graphicData>
        </a:graphic>
      </p:graphicFrame>
      <p:graphicFrame>
        <p:nvGraphicFramePr>
          <p:cNvPr id="3" name="Table 2">
            <a:extLst>
              <a:ext uri="{FF2B5EF4-FFF2-40B4-BE49-F238E27FC236}">
                <a16:creationId xmlns:a16="http://schemas.microsoft.com/office/drawing/2014/main" id="{C43F566D-5C9E-00F6-1A16-0341333BA88B}"/>
              </a:ext>
            </a:extLst>
          </p:cNvPr>
          <p:cNvGraphicFramePr>
            <a:graphicFrameLocks noGrp="1"/>
          </p:cNvGraphicFramePr>
          <p:nvPr>
            <p:extLst>
              <p:ext uri="{D42A27DB-BD31-4B8C-83A1-F6EECF244321}">
                <p14:modId xmlns:p14="http://schemas.microsoft.com/office/powerpoint/2010/main" val="2773840174"/>
              </p:ext>
            </p:extLst>
          </p:nvPr>
        </p:nvGraphicFramePr>
        <p:xfrm>
          <a:off x="311700" y="2646040"/>
          <a:ext cx="4973532" cy="2346045"/>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99916">
                <a:tc>
                  <a:txBody>
                    <a:bodyPr/>
                    <a:lstStyle/>
                    <a:p>
                      <a:r>
                        <a:rPr lang="en-US" dirty="0"/>
                        <a:t>Marital Status</a:t>
                      </a:r>
                    </a:p>
                  </a:txBody>
                  <a:tcPr>
                    <a:solidFill>
                      <a:schemeClr val="accent6">
                        <a:lumMod val="40000"/>
                        <a:lumOff val="60000"/>
                      </a:schemeClr>
                    </a:solidFill>
                  </a:tcPr>
                </a:tc>
                <a:tc>
                  <a:txBody>
                    <a:bodyPr/>
                    <a:lstStyle/>
                    <a:p>
                      <a:r>
                        <a:rPr lang="en-US"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68625">
                <a:tc>
                  <a:txBody>
                    <a:bodyPr/>
                    <a:lstStyle/>
                    <a:p>
                      <a:r>
                        <a:rPr lang="en-US" dirty="0"/>
                        <a:t>Single</a:t>
                      </a:r>
                    </a:p>
                  </a:txBody>
                  <a:tcPr>
                    <a:solidFill>
                      <a:schemeClr val="accent6">
                        <a:lumMod val="40000"/>
                        <a:lumOff val="60000"/>
                      </a:schemeClr>
                    </a:solidFill>
                  </a:tcPr>
                </a:tc>
                <a:tc>
                  <a:txBody>
                    <a:bodyPr/>
                    <a:lstStyle/>
                    <a:p>
                      <a:r>
                        <a:rPr lang="en-US" dirty="0"/>
                        <a:t>13.7</a:t>
                      </a:r>
                    </a:p>
                  </a:txBody>
                  <a:tcPr>
                    <a:solidFill>
                      <a:schemeClr val="accent6">
                        <a:lumMod val="40000"/>
                        <a:lumOff val="60000"/>
                      </a:schemeClr>
                    </a:solidFill>
                  </a:tcPr>
                </a:tc>
                <a:extLst>
                  <a:ext uri="{0D108BD9-81ED-4DB2-BD59-A6C34878D82A}">
                    <a16:rowId xmlns:a16="http://schemas.microsoft.com/office/drawing/2014/main" val="1978091271"/>
                  </a:ext>
                </a:extLst>
              </a:tr>
              <a:tr h="368625">
                <a:tc>
                  <a:txBody>
                    <a:bodyPr/>
                    <a:lstStyle/>
                    <a:p>
                      <a:r>
                        <a:rPr lang="en-US" dirty="0"/>
                        <a:t>Unknown</a:t>
                      </a:r>
                    </a:p>
                  </a:txBody>
                  <a:tcPr>
                    <a:solidFill>
                      <a:schemeClr val="accent6">
                        <a:lumMod val="40000"/>
                        <a:lumOff val="60000"/>
                      </a:schemeClr>
                    </a:solidFill>
                  </a:tcPr>
                </a:tc>
                <a:tc>
                  <a:txBody>
                    <a:bodyPr/>
                    <a:lstStyle/>
                    <a:p>
                      <a:r>
                        <a:rPr lang="en-US" dirty="0"/>
                        <a:t>12.9</a:t>
                      </a:r>
                    </a:p>
                  </a:txBody>
                  <a:tcPr>
                    <a:solidFill>
                      <a:schemeClr val="accent6">
                        <a:lumMod val="40000"/>
                        <a:lumOff val="60000"/>
                      </a:schemeClr>
                    </a:solidFill>
                  </a:tcPr>
                </a:tc>
                <a:extLst>
                  <a:ext uri="{0D108BD9-81ED-4DB2-BD59-A6C34878D82A}">
                    <a16:rowId xmlns:a16="http://schemas.microsoft.com/office/drawing/2014/main" val="446706471"/>
                  </a:ext>
                </a:extLst>
              </a:tr>
              <a:tr h="368625">
                <a:tc>
                  <a:txBody>
                    <a:bodyPr/>
                    <a:lstStyle/>
                    <a:p>
                      <a:r>
                        <a:rPr lang="en-US" dirty="0"/>
                        <a:t>Divorced</a:t>
                      </a:r>
                    </a:p>
                  </a:txBody>
                  <a:tcPr>
                    <a:solidFill>
                      <a:schemeClr val="accent6">
                        <a:lumMod val="40000"/>
                        <a:lumOff val="60000"/>
                      </a:schemeClr>
                    </a:solidFill>
                  </a:tcPr>
                </a:tc>
                <a:tc>
                  <a:txBody>
                    <a:bodyPr/>
                    <a:lstStyle/>
                    <a:p>
                      <a:r>
                        <a:rPr lang="en-US" dirty="0"/>
                        <a:t>8.8</a:t>
                      </a:r>
                    </a:p>
                  </a:txBody>
                  <a:tcPr>
                    <a:solidFill>
                      <a:schemeClr val="accent6">
                        <a:lumMod val="40000"/>
                        <a:lumOff val="60000"/>
                      </a:schemeClr>
                    </a:solidFill>
                  </a:tcPr>
                </a:tc>
                <a:extLst>
                  <a:ext uri="{0D108BD9-81ED-4DB2-BD59-A6C34878D82A}">
                    <a16:rowId xmlns:a16="http://schemas.microsoft.com/office/drawing/2014/main" val="3537160196"/>
                  </a:ext>
                </a:extLst>
              </a:tr>
              <a:tr h="368625">
                <a:tc>
                  <a:txBody>
                    <a:bodyPr/>
                    <a:lstStyle/>
                    <a:p>
                      <a:r>
                        <a:rPr lang="en-US" dirty="0"/>
                        <a:t>Widowed</a:t>
                      </a:r>
                    </a:p>
                  </a:txBody>
                  <a:tcPr>
                    <a:solidFill>
                      <a:schemeClr val="accent6">
                        <a:lumMod val="40000"/>
                        <a:lumOff val="60000"/>
                      </a:schemeClr>
                    </a:solidFill>
                  </a:tcPr>
                </a:tc>
                <a:tc>
                  <a:txBody>
                    <a:bodyPr/>
                    <a:lstStyle/>
                    <a:p>
                      <a:r>
                        <a:rPr lang="en-US" dirty="0"/>
                        <a:t>7.1</a:t>
                      </a:r>
                    </a:p>
                  </a:txBody>
                  <a:tcPr>
                    <a:solidFill>
                      <a:schemeClr val="accent6">
                        <a:lumMod val="40000"/>
                        <a:lumOff val="60000"/>
                      </a:schemeClr>
                    </a:solidFill>
                  </a:tcPr>
                </a:tc>
                <a:extLst>
                  <a:ext uri="{0D108BD9-81ED-4DB2-BD59-A6C34878D82A}">
                    <a16:rowId xmlns:a16="http://schemas.microsoft.com/office/drawing/2014/main" val="2050751449"/>
                  </a:ext>
                </a:extLst>
              </a:tr>
              <a:tr h="368625">
                <a:tc>
                  <a:txBody>
                    <a:bodyPr/>
                    <a:lstStyle/>
                    <a:p>
                      <a:r>
                        <a:rPr lang="en-US" dirty="0"/>
                        <a:t>Married</a:t>
                      </a:r>
                    </a:p>
                  </a:txBody>
                  <a:tcPr>
                    <a:solidFill>
                      <a:schemeClr val="accent6">
                        <a:lumMod val="40000"/>
                        <a:lumOff val="60000"/>
                      </a:schemeClr>
                    </a:solidFill>
                  </a:tcPr>
                </a:tc>
                <a:tc>
                  <a:txBody>
                    <a:bodyPr/>
                    <a:lstStyle/>
                    <a:p>
                      <a:r>
                        <a:rPr lang="en-US" dirty="0"/>
                        <a:t>6.7</a:t>
                      </a:r>
                    </a:p>
                  </a:txBody>
                  <a:tcPr>
                    <a:solidFill>
                      <a:schemeClr val="accent6">
                        <a:lumMod val="40000"/>
                        <a:lumOff val="60000"/>
                      </a:schemeClr>
                    </a:solidFill>
                  </a:tcPr>
                </a:tc>
                <a:extLst>
                  <a:ext uri="{0D108BD9-81ED-4DB2-BD59-A6C34878D82A}">
                    <a16:rowId xmlns:a16="http://schemas.microsoft.com/office/drawing/2014/main" val="4210811717"/>
                  </a:ext>
                </a:extLst>
              </a:tr>
            </a:tbl>
          </a:graphicData>
        </a:graphic>
      </p:graphicFrame>
    </p:spTree>
    <p:extLst>
      <p:ext uri="{BB962C8B-B14F-4D97-AF65-F5344CB8AC3E}">
        <p14:creationId xmlns:p14="http://schemas.microsoft.com/office/powerpoint/2010/main" val="1924045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F76DF5F3-0246-F518-65A4-22AD6DC2D17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920D808-95AD-07AB-86AC-B5AFE075CAE1}"/>
              </a:ext>
            </a:extLst>
          </p:cNvPr>
          <p:cNvGraphicFramePr>
            <a:graphicFrameLocks noGrp="1"/>
          </p:cNvGraphicFramePr>
          <p:nvPr>
            <p:extLst>
              <p:ext uri="{D42A27DB-BD31-4B8C-83A1-F6EECF244321}">
                <p14:modId xmlns:p14="http://schemas.microsoft.com/office/powerpoint/2010/main" val="1350191622"/>
              </p:ext>
            </p:extLst>
          </p:nvPr>
        </p:nvGraphicFramePr>
        <p:xfrm>
          <a:off x="219456" y="489966"/>
          <a:ext cx="3979884" cy="3925435"/>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Education Status</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8</a:t>
                      </a:r>
                      <a:r>
                        <a:rPr lang="en-US" sz="1200" baseline="30000" dirty="0"/>
                        <a:t>th</a:t>
                      </a:r>
                      <a:r>
                        <a:rPr lang="en-US" sz="1200" dirty="0"/>
                        <a:t> grade or less</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9</a:t>
                      </a:r>
                      <a:r>
                        <a:rPr lang="en-US" sz="1200" baseline="30000" dirty="0"/>
                        <a:t>th</a:t>
                      </a:r>
                      <a:r>
                        <a:rPr lang="en-US" sz="1200" dirty="0"/>
                        <a:t> - 12</a:t>
                      </a:r>
                      <a:r>
                        <a:rPr lang="en-US" sz="1200" baseline="30000" dirty="0"/>
                        <a:t>th</a:t>
                      </a:r>
                      <a:r>
                        <a:rPr lang="en-US" sz="1200" dirty="0"/>
                        <a:t> grade, no diploma</a:t>
                      </a:r>
                    </a:p>
                  </a:txBody>
                  <a:tcPr>
                    <a:solidFill>
                      <a:schemeClr val="accent6">
                        <a:lumMod val="40000"/>
                        <a:lumOff val="60000"/>
                      </a:schemeClr>
                    </a:solidFill>
                  </a:tcPr>
                </a:tc>
                <a:tc>
                  <a:txBody>
                    <a:bodyPr/>
                    <a:lstStyle/>
                    <a:p>
                      <a:r>
                        <a:rPr lang="en-US" sz="1200" dirty="0"/>
                        <a:t>9.0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High school graduate or GED completed</a:t>
                      </a:r>
                    </a:p>
                  </a:txBody>
                  <a:tcPr>
                    <a:solidFill>
                      <a:schemeClr val="accent6">
                        <a:lumMod val="40000"/>
                        <a:lumOff val="60000"/>
                      </a:schemeClr>
                    </a:solidFill>
                  </a:tcPr>
                </a:tc>
                <a:tc>
                  <a:txBody>
                    <a:bodyPr/>
                    <a:lstStyle/>
                    <a:p>
                      <a:r>
                        <a:rPr lang="en-US" sz="1200" dirty="0"/>
                        <a:t>8.4</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Some college credit, but no degree</a:t>
                      </a:r>
                    </a:p>
                  </a:txBody>
                  <a:tcPr>
                    <a:solidFill>
                      <a:schemeClr val="accent6">
                        <a:lumMod val="40000"/>
                        <a:lumOff val="60000"/>
                      </a:schemeClr>
                    </a:solidFill>
                  </a:tcPr>
                </a:tc>
                <a:tc>
                  <a:txBody>
                    <a:bodyPr/>
                    <a:lstStyle/>
                    <a:p>
                      <a:r>
                        <a:rPr lang="en-US" sz="1200" dirty="0"/>
                        <a:t>8.5</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Associate degree</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Bachelor’s degree</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Master’s degree</a:t>
                      </a:r>
                    </a:p>
                  </a:txBody>
                  <a:tcPr>
                    <a:solidFill>
                      <a:schemeClr val="accent6">
                        <a:lumMod val="40000"/>
                        <a:lumOff val="60000"/>
                      </a:schemeClr>
                    </a:solidFill>
                  </a:tcPr>
                </a:tc>
                <a:tc>
                  <a:txBody>
                    <a:bodyPr/>
                    <a:lstStyle/>
                    <a:p>
                      <a:r>
                        <a:rPr lang="en-US" sz="1200" dirty="0"/>
                        <a:t>6.5</a:t>
                      </a:r>
                    </a:p>
                  </a:txBody>
                  <a:tcPr>
                    <a:solidFill>
                      <a:schemeClr val="accent6">
                        <a:lumMod val="40000"/>
                        <a:lumOff val="60000"/>
                      </a:schemeClr>
                    </a:solidFill>
                  </a:tcPr>
                </a:tc>
                <a:extLst>
                  <a:ext uri="{0D108BD9-81ED-4DB2-BD59-A6C34878D82A}">
                    <a16:rowId xmlns:a16="http://schemas.microsoft.com/office/drawing/2014/main" val="1840912725"/>
                  </a:ext>
                </a:extLst>
              </a:tr>
              <a:tr h="444668">
                <a:tc>
                  <a:txBody>
                    <a:bodyPr/>
                    <a:lstStyle/>
                    <a:p>
                      <a:r>
                        <a:rPr lang="en-US" sz="1200" dirty="0"/>
                        <a:t>Doctorate or professional degree</a:t>
                      </a:r>
                    </a:p>
                  </a:txBody>
                  <a:tcPr>
                    <a:solidFill>
                      <a:schemeClr val="accent6">
                        <a:lumMod val="40000"/>
                        <a:lumOff val="60000"/>
                      </a:schemeClr>
                    </a:solidFill>
                  </a:tcPr>
                </a:tc>
                <a:tc>
                  <a:txBody>
                    <a:bodyPr/>
                    <a:lstStyle/>
                    <a:p>
                      <a:r>
                        <a:rPr lang="en-US" sz="1200" dirty="0"/>
                        <a:t>6.3</a:t>
                      </a:r>
                    </a:p>
                  </a:txBody>
                  <a:tcPr>
                    <a:solidFill>
                      <a:schemeClr val="accent6">
                        <a:lumMod val="40000"/>
                        <a:lumOff val="60000"/>
                      </a:schemeClr>
                    </a:solidFill>
                  </a:tcPr>
                </a:tc>
                <a:extLst>
                  <a:ext uri="{0D108BD9-81ED-4DB2-BD59-A6C34878D82A}">
                    <a16:rowId xmlns:a16="http://schemas.microsoft.com/office/drawing/2014/main" val="1468553211"/>
                  </a:ext>
                </a:extLst>
              </a:tr>
              <a:tr h="327887">
                <a:tc>
                  <a:txBody>
                    <a:bodyPr/>
                    <a:lstStyle/>
                    <a:p>
                      <a:r>
                        <a:rPr lang="en-US" sz="1200" dirty="0"/>
                        <a:t>Unknown</a:t>
                      </a:r>
                    </a:p>
                  </a:txBody>
                  <a:tcPr>
                    <a:solidFill>
                      <a:schemeClr val="accent6">
                        <a:lumMod val="40000"/>
                        <a:lumOff val="60000"/>
                      </a:schemeClr>
                    </a:solidFill>
                  </a:tcPr>
                </a:tc>
                <a:tc>
                  <a:txBody>
                    <a:bodyPr/>
                    <a:lstStyle/>
                    <a:p>
                      <a:r>
                        <a:rPr lang="en-US" sz="1200" dirty="0"/>
                        <a:t>10.1</a:t>
                      </a:r>
                    </a:p>
                  </a:txBody>
                  <a:tcPr>
                    <a:solidFill>
                      <a:schemeClr val="accent6">
                        <a:lumMod val="40000"/>
                        <a:lumOff val="60000"/>
                      </a:schemeClr>
                    </a:solidFill>
                  </a:tcPr>
                </a:tc>
                <a:extLst>
                  <a:ext uri="{0D108BD9-81ED-4DB2-BD59-A6C34878D82A}">
                    <a16:rowId xmlns:a16="http://schemas.microsoft.com/office/drawing/2014/main" val="3446963874"/>
                  </a:ext>
                </a:extLst>
              </a:tr>
            </a:tbl>
          </a:graphicData>
        </a:graphic>
      </p:graphicFrame>
      <p:graphicFrame>
        <p:nvGraphicFramePr>
          <p:cNvPr id="2" name="Table 1">
            <a:extLst>
              <a:ext uri="{FF2B5EF4-FFF2-40B4-BE49-F238E27FC236}">
                <a16:creationId xmlns:a16="http://schemas.microsoft.com/office/drawing/2014/main" id="{665A6EB7-ED4E-CF6A-03D1-849901EF7FF5}"/>
              </a:ext>
            </a:extLst>
          </p:cNvPr>
          <p:cNvGraphicFramePr>
            <a:graphicFrameLocks noGrp="1"/>
          </p:cNvGraphicFramePr>
          <p:nvPr>
            <p:extLst>
              <p:ext uri="{D42A27DB-BD31-4B8C-83A1-F6EECF244321}">
                <p14:modId xmlns:p14="http://schemas.microsoft.com/office/powerpoint/2010/main" val="60162363"/>
              </p:ext>
            </p:extLst>
          </p:nvPr>
        </p:nvGraphicFramePr>
        <p:xfrm>
          <a:off x="4572000" y="489965"/>
          <a:ext cx="3979884" cy="3332527"/>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Day of the Week</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Monday</a:t>
                      </a:r>
                    </a:p>
                  </a:txBody>
                  <a:tcPr>
                    <a:solidFill>
                      <a:schemeClr val="accent6">
                        <a:lumMod val="40000"/>
                        <a:lumOff val="60000"/>
                      </a:schemeClr>
                    </a:solidFill>
                  </a:tcPr>
                </a:tc>
                <a:tc>
                  <a:txBody>
                    <a:bodyPr/>
                    <a:lstStyle/>
                    <a:p>
                      <a:r>
                        <a:rPr lang="en-US" sz="1200" dirty="0"/>
                        <a:t>8.2</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Tuesday</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Wednesday</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Thursday</a:t>
                      </a:r>
                    </a:p>
                  </a:txBody>
                  <a:tcPr>
                    <a:solidFill>
                      <a:schemeClr val="accent6">
                        <a:lumMod val="40000"/>
                        <a:lumOff val="60000"/>
                      </a:schemeClr>
                    </a:solidFill>
                  </a:tcPr>
                </a:tc>
                <a:tc>
                  <a:txBody>
                    <a:bodyPr/>
                    <a:lstStyle/>
                    <a:p>
                      <a:r>
                        <a:rPr lang="en-US" sz="1200" dirty="0"/>
                        <a:t>8.1</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Friday</a:t>
                      </a:r>
                    </a:p>
                  </a:txBody>
                  <a:tcPr>
                    <a:solidFill>
                      <a:schemeClr val="accent6">
                        <a:lumMod val="40000"/>
                        <a:lumOff val="60000"/>
                      </a:schemeClr>
                    </a:solidFill>
                  </a:tcPr>
                </a:tc>
                <a:tc>
                  <a:txBody>
                    <a:bodyPr/>
                    <a:lstStyle/>
                    <a:p>
                      <a:r>
                        <a:rPr lang="en-US" sz="1200" dirty="0"/>
                        <a:t>8.1</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Saturday</a:t>
                      </a:r>
                    </a:p>
                  </a:txBody>
                  <a:tcPr>
                    <a:solidFill>
                      <a:schemeClr val="accent6">
                        <a:lumMod val="40000"/>
                        <a:lumOff val="60000"/>
                      </a:schemeClr>
                    </a:solidFill>
                  </a:tcPr>
                </a:tc>
                <a:tc>
                  <a:txBody>
                    <a:bodyPr/>
                    <a:lstStyle/>
                    <a:p>
                      <a:r>
                        <a:rPr lang="en-US" sz="1200" dirty="0"/>
                        <a:t>8.4</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Sunday</a:t>
                      </a:r>
                    </a:p>
                  </a:txBody>
                  <a:tcPr>
                    <a:solidFill>
                      <a:schemeClr val="accent6">
                        <a:lumMod val="40000"/>
                        <a:lumOff val="60000"/>
                      </a:schemeClr>
                    </a:solidFill>
                  </a:tcPr>
                </a:tc>
                <a:tc>
                  <a:txBody>
                    <a:bodyPr/>
                    <a:lstStyle/>
                    <a:p>
                      <a:r>
                        <a:rPr lang="en-US" sz="1200" dirty="0"/>
                        <a:t>8.3</a:t>
                      </a:r>
                    </a:p>
                  </a:txBody>
                  <a:tcPr>
                    <a:solidFill>
                      <a:schemeClr val="accent6">
                        <a:lumMod val="40000"/>
                        <a:lumOff val="60000"/>
                      </a:schemeClr>
                    </a:solidFill>
                  </a:tcPr>
                </a:tc>
                <a:extLst>
                  <a:ext uri="{0D108BD9-81ED-4DB2-BD59-A6C34878D82A}">
                    <a16:rowId xmlns:a16="http://schemas.microsoft.com/office/drawing/2014/main" val="1840912725"/>
                  </a:ext>
                </a:extLst>
              </a:tr>
              <a:tr h="346556">
                <a:tc>
                  <a:txBody>
                    <a:bodyPr/>
                    <a:lstStyle/>
                    <a:p>
                      <a:r>
                        <a:rPr lang="en-US" sz="1200" dirty="0"/>
                        <a:t>Unknown</a:t>
                      </a:r>
                    </a:p>
                  </a:txBody>
                  <a:tcPr>
                    <a:solidFill>
                      <a:schemeClr val="accent6">
                        <a:lumMod val="40000"/>
                        <a:lumOff val="60000"/>
                      </a:schemeClr>
                    </a:solidFill>
                  </a:tcPr>
                </a:tc>
                <a:tc>
                  <a:txBody>
                    <a:bodyPr/>
                    <a:lstStyle/>
                    <a:p>
                      <a:r>
                        <a:rPr lang="en-US" sz="1200" dirty="0"/>
                        <a:t>14.1</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Tree>
    <p:extLst>
      <p:ext uri="{BB962C8B-B14F-4D97-AF65-F5344CB8AC3E}">
        <p14:creationId xmlns:p14="http://schemas.microsoft.com/office/powerpoint/2010/main" val="2124990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83C33E5A-2EA7-611E-F276-B287C2B43D7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505B702-0E5F-C4AF-2AAC-D7361976620B}"/>
              </a:ext>
            </a:extLst>
          </p:cNvPr>
          <p:cNvGraphicFramePr>
            <a:graphicFrameLocks noGrp="1"/>
          </p:cNvGraphicFramePr>
          <p:nvPr>
            <p:extLst>
              <p:ext uri="{D42A27DB-BD31-4B8C-83A1-F6EECF244321}">
                <p14:modId xmlns:p14="http://schemas.microsoft.com/office/powerpoint/2010/main" val="3387558663"/>
              </p:ext>
            </p:extLst>
          </p:nvPr>
        </p:nvGraphicFramePr>
        <p:xfrm>
          <a:off x="462602" y="298385"/>
          <a:ext cx="3839576" cy="4546729"/>
        </p:xfrm>
        <a:graphic>
          <a:graphicData uri="http://schemas.openxmlformats.org/drawingml/2006/table">
            <a:tbl>
              <a:tblPr firstRow="1" bandRow="1">
                <a:tableStyleId>{BFA11F67-8BD6-47EC-9F71-6CD8F6C066F8}</a:tableStyleId>
              </a:tblPr>
              <a:tblGrid>
                <a:gridCol w="1849634">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Place of Death</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Hospital, clinic or Medical Center</a:t>
                      </a:r>
                      <a:br>
                        <a:rPr lang="en-US" sz="1200" dirty="0"/>
                      </a:br>
                      <a:r>
                        <a:rPr lang="en-US" sz="1200" dirty="0"/>
                        <a:t>- Inpatient</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Hospital, Clinic or Medical Center</a:t>
                      </a:r>
                      <a:br>
                        <a:rPr lang="en-US" sz="1200" dirty="0"/>
                      </a:br>
                      <a:r>
                        <a:rPr lang="en-US" sz="1200" dirty="0"/>
                        <a:t>- Outpatient or admitted to Emergency Room </a:t>
                      </a:r>
                    </a:p>
                  </a:txBody>
                  <a:tcPr>
                    <a:solidFill>
                      <a:schemeClr val="accent6">
                        <a:lumMod val="40000"/>
                        <a:lumOff val="60000"/>
                      </a:schemeClr>
                    </a:solidFill>
                  </a:tcPr>
                </a:tc>
                <a:tc>
                  <a:txBody>
                    <a:bodyPr/>
                    <a:lstStyle/>
                    <a:p>
                      <a:r>
                        <a:rPr lang="en-US" sz="1200" dirty="0"/>
                        <a:t>10.0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Hospital, Clinic or Medical Center </a:t>
                      </a:r>
                    </a:p>
                    <a:p>
                      <a:r>
                        <a:rPr lang="en-US" sz="1200" dirty="0"/>
                        <a:t>- Dead on Arrival</a:t>
                      </a:r>
                    </a:p>
                  </a:txBody>
                  <a:tcPr>
                    <a:solidFill>
                      <a:schemeClr val="accent6">
                        <a:lumMod val="40000"/>
                        <a:lumOff val="60000"/>
                      </a:schemeClr>
                    </a:solidFill>
                  </a:tcPr>
                </a:tc>
                <a:tc>
                  <a:txBody>
                    <a:bodyPr/>
                    <a:lstStyle/>
                    <a:p>
                      <a:r>
                        <a:rPr lang="en-US" sz="1200" dirty="0"/>
                        <a:t>15.0</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Decedent’s home</a:t>
                      </a:r>
                    </a:p>
                  </a:txBody>
                  <a:tcPr>
                    <a:solidFill>
                      <a:schemeClr val="accent6">
                        <a:lumMod val="40000"/>
                        <a:lumOff val="60000"/>
                      </a:schemeClr>
                    </a:solidFill>
                  </a:tcPr>
                </a:tc>
                <a:tc>
                  <a:txBody>
                    <a:bodyPr/>
                    <a:lstStyle/>
                    <a:p>
                      <a:r>
                        <a:rPr lang="en-US" sz="1200" dirty="0"/>
                        <a:t>9.0</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Hospice facility</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Nursing home/long term care </a:t>
                      </a:r>
                    </a:p>
                  </a:txBody>
                  <a:tcPr>
                    <a:solidFill>
                      <a:schemeClr val="accent6">
                        <a:lumMod val="40000"/>
                        <a:lumOff val="60000"/>
                      </a:schemeClr>
                    </a:solidFill>
                  </a:tcPr>
                </a:tc>
                <a:tc>
                  <a:txBody>
                    <a:bodyPr/>
                    <a:lstStyle/>
                    <a:p>
                      <a:r>
                        <a:rPr lang="en-US" sz="1200" dirty="0"/>
                        <a:t>6.8</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Other</a:t>
                      </a:r>
                    </a:p>
                  </a:txBody>
                  <a:tcPr>
                    <a:solidFill>
                      <a:schemeClr val="accent6">
                        <a:lumMod val="40000"/>
                        <a:lumOff val="60000"/>
                      </a:schemeClr>
                    </a:solidFill>
                  </a:tcPr>
                </a:tc>
                <a:tc>
                  <a:txBody>
                    <a:bodyPr/>
                    <a:lstStyle/>
                    <a:p>
                      <a:r>
                        <a:rPr lang="en-US" sz="1200" dirty="0"/>
                        <a:t>12.5</a:t>
                      </a:r>
                    </a:p>
                  </a:txBody>
                  <a:tcPr>
                    <a:solidFill>
                      <a:schemeClr val="accent6">
                        <a:lumMod val="40000"/>
                        <a:lumOff val="60000"/>
                      </a:schemeClr>
                    </a:solidFill>
                  </a:tcPr>
                </a:tc>
                <a:extLst>
                  <a:ext uri="{0D108BD9-81ED-4DB2-BD59-A6C34878D82A}">
                    <a16:rowId xmlns:a16="http://schemas.microsoft.com/office/drawing/2014/main" val="1840912725"/>
                  </a:ext>
                </a:extLst>
              </a:tr>
              <a:tr h="428767">
                <a:tc>
                  <a:txBody>
                    <a:bodyPr/>
                    <a:lstStyle/>
                    <a:p>
                      <a:r>
                        <a:rPr lang="en-US" sz="1200" dirty="0"/>
                        <a:t>Unknown</a:t>
                      </a:r>
                    </a:p>
                  </a:txBody>
                  <a:tcPr>
                    <a:solidFill>
                      <a:schemeClr val="accent6">
                        <a:lumMod val="40000"/>
                        <a:lumOff val="60000"/>
                      </a:schemeClr>
                    </a:solidFill>
                  </a:tcPr>
                </a:tc>
                <a:tc>
                  <a:txBody>
                    <a:bodyPr/>
                    <a:lstStyle/>
                    <a:p>
                      <a:r>
                        <a:rPr lang="en-US" sz="1200" dirty="0"/>
                        <a:t>12.0</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
        <p:nvSpPr>
          <p:cNvPr id="3" name="TextBox 2">
            <a:extLst>
              <a:ext uri="{FF2B5EF4-FFF2-40B4-BE49-F238E27FC236}">
                <a16:creationId xmlns:a16="http://schemas.microsoft.com/office/drawing/2014/main" id="{BD8A39F9-B9B1-F958-8541-0C53DB315072}"/>
              </a:ext>
            </a:extLst>
          </p:cNvPr>
          <p:cNvSpPr txBox="1"/>
          <p:nvPr/>
        </p:nvSpPr>
        <p:spPr>
          <a:xfrm>
            <a:off x="4572000" y="419725"/>
            <a:ext cx="3710061" cy="738664"/>
          </a:xfrm>
          <a:prstGeom prst="rect">
            <a:avLst/>
          </a:prstGeom>
          <a:noFill/>
        </p:spPr>
        <p:txBody>
          <a:bodyPr wrap="square" rtlCol="0">
            <a:spAutoFit/>
          </a:bodyPr>
          <a:lstStyle/>
          <a:p>
            <a:r>
              <a:rPr lang="en-US" sz="1400" dirty="0"/>
              <a:t>8.1% of people who have at least one secondary factor listed have a garbage code (same as overall average).</a:t>
            </a:r>
          </a:p>
        </p:txBody>
      </p:sp>
    </p:spTree>
    <p:extLst>
      <p:ext uri="{BB962C8B-B14F-4D97-AF65-F5344CB8AC3E}">
        <p14:creationId xmlns:p14="http://schemas.microsoft.com/office/powerpoint/2010/main" val="401328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1DFDD02-25F4-62BC-4C97-78E52ACE7BE0}"/>
            </a:ext>
          </a:extLst>
        </p:cNvPr>
        <p:cNvGrpSpPr/>
        <p:nvPr/>
      </p:nvGrpSpPr>
      <p:grpSpPr>
        <a:xfrm>
          <a:off x="0" y="0"/>
          <a:ext cx="0" cy="0"/>
          <a:chOff x="0" y="0"/>
          <a:chExt cx="0" cy="0"/>
        </a:xfrm>
      </p:grpSpPr>
      <p:pic>
        <p:nvPicPr>
          <p:cNvPr id="4" name="Picture 3" descr="A graph with lines and numbers&#10;&#10;AI-generated content may be incorrect.">
            <a:extLst>
              <a:ext uri="{FF2B5EF4-FFF2-40B4-BE49-F238E27FC236}">
                <a16:creationId xmlns:a16="http://schemas.microsoft.com/office/drawing/2014/main" id="{DE24CD9A-9953-0B3A-A410-51C4A415674F}"/>
              </a:ext>
            </a:extLst>
          </p:cNvPr>
          <p:cNvPicPr>
            <a:picLocks noChangeAspect="1"/>
          </p:cNvPicPr>
          <p:nvPr/>
        </p:nvPicPr>
        <p:blipFill>
          <a:blip r:embed="rId3"/>
          <a:stretch>
            <a:fillRect/>
          </a:stretch>
        </p:blipFill>
        <p:spPr>
          <a:xfrm>
            <a:off x="450642" y="188595"/>
            <a:ext cx="7943850" cy="4766310"/>
          </a:xfrm>
          <a:prstGeom prst="rect">
            <a:avLst/>
          </a:prstGeom>
        </p:spPr>
      </p:pic>
    </p:spTree>
    <p:extLst>
      <p:ext uri="{BB962C8B-B14F-4D97-AF65-F5344CB8AC3E}">
        <p14:creationId xmlns:p14="http://schemas.microsoft.com/office/powerpoint/2010/main" val="369976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69990418-FDFA-13EE-1037-8189155A9D0F}"/>
            </a:ext>
          </a:extLst>
        </p:cNvPr>
        <p:cNvGrpSpPr/>
        <p:nvPr/>
      </p:nvGrpSpPr>
      <p:grpSpPr>
        <a:xfrm>
          <a:off x="0" y="0"/>
          <a:ext cx="0" cy="0"/>
          <a:chOff x="0" y="0"/>
          <a:chExt cx="0" cy="0"/>
        </a:xfrm>
      </p:grpSpPr>
      <p:sp>
        <p:nvSpPr>
          <p:cNvPr id="65" name="Google Shape;65;p15">
            <a:extLst>
              <a:ext uri="{FF2B5EF4-FFF2-40B4-BE49-F238E27FC236}">
                <a16:creationId xmlns:a16="http://schemas.microsoft.com/office/drawing/2014/main" id="{34CBB427-3F56-AB04-2AF0-C594D1906370}"/>
              </a:ext>
            </a:extLst>
          </p:cNvPr>
          <p:cNvSpPr txBox="1">
            <a:spLocks noGrp="1"/>
          </p:cNvSpPr>
          <p:nvPr>
            <p:ph type="title"/>
          </p:nvPr>
        </p:nvSpPr>
        <p:spPr>
          <a:xfrm>
            <a:off x="311700" y="30408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GBD severities?</a:t>
            </a:r>
            <a:endParaRPr dirty="0"/>
          </a:p>
        </p:txBody>
      </p:sp>
      <p:sp>
        <p:nvSpPr>
          <p:cNvPr id="2" name="TextBox 1">
            <a:extLst>
              <a:ext uri="{FF2B5EF4-FFF2-40B4-BE49-F238E27FC236}">
                <a16:creationId xmlns:a16="http://schemas.microsoft.com/office/drawing/2014/main" id="{FEC83B23-5F76-57C9-9997-032E90D8204F}"/>
              </a:ext>
            </a:extLst>
          </p:cNvPr>
          <p:cNvSpPr txBox="1"/>
          <p:nvPr/>
        </p:nvSpPr>
        <p:spPr>
          <a:xfrm>
            <a:off x="449705" y="4354663"/>
            <a:ext cx="7659974" cy="553998"/>
          </a:xfrm>
          <a:prstGeom prst="rect">
            <a:avLst/>
          </a:prstGeom>
          <a:noFill/>
        </p:spPr>
        <p:txBody>
          <a:bodyPr wrap="square" rtlCol="0">
            <a:spAutoFit/>
          </a:bodyPr>
          <a:lstStyle/>
          <a:p>
            <a:r>
              <a:rPr lang="en-US" sz="1000" dirty="0"/>
              <a:t>Source: </a:t>
            </a:r>
            <a:r>
              <a:rPr lang="en-CA" sz="1000" dirty="0" err="1"/>
              <a:t>Monasta</a:t>
            </a:r>
            <a:r>
              <a:rPr lang="en-CA" sz="1000" dirty="0"/>
              <a:t>, L., Alicandro, G., </a:t>
            </a:r>
            <a:r>
              <a:rPr lang="en-CA" sz="1000" dirty="0" err="1"/>
              <a:t>Pasovic</a:t>
            </a:r>
            <a:r>
              <a:rPr lang="en-CA" sz="1000" dirty="0"/>
              <a:t>, M., Cunningham, M., Armocida, B., JL Murray, C., ... &amp; </a:t>
            </a:r>
            <a:r>
              <a:rPr lang="en-CA" sz="1000" dirty="0" err="1"/>
              <a:t>Naghavi</a:t>
            </a:r>
            <a:r>
              <a:rPr lang="en-CA" sz="1000" dirty="0"/>
              <a:t>, M. (2022). Redistribution of garbage codes to underlying causes of death: a systematic analysis on Italy and a comparison with most populous Western European countries based on the Global Burden of Disease Study 2019. </a:t>
            </a:r>
            <a:r>
              <a:rPr lang="en-CA" sz="1000" i="1" dirty="0"/>
              <a:t>European Journal of Public Health</a:t>
            </a:r>
            <a:r>
              <a:rPr lang="en-CA" sz="1000" dirty="0"/>
              <a:t>, </a:t>
            </a:r>
            <a:r>
              <a:rPr lang="en-CA" sz="1000" i="1" dirty="0"/>
              <a:t>32</a:t>
            </a:r>
            <a:r>
              <a:rPr lang="en-CA" sz="1000" dirty="0"/>
              <a:t>(3), 456-462.</a:t>
            </a:r>
            <a:endParaRPr lang="en-US" sz="1000" dirty="0"/>
          </a:p>
        </p:txBody>
      </p:sp>
      <p:sp>
        <p:nvSpPr>
          <p:cNvPr id="4" name="TextBox 3">
            <a:extLst>
              <a:ext uri="{FF2B5EF4-FFF2-40B4-BE49-F238E27FC236}">
                <a16:creationId xmlns:a16="http://schemas.microsoft.com/office/drawing/2014/main" id="{CEB84337-187B-EB04-0F0D-306C937DE214}"/>
              </a:ext>
            </a:extLst>
          </p:cNvPr>
          <p:cNvSpPr txBox="1"/>
          <p:nvPr/>
        </p:nvSpPr>
        <p:spPr>
          <a:xfrm>
            <a:off x="449705" y="1018875"/>
            <a:ext cx="7869835" cy="3477875"/>
          </a:xfrm>
          <a:prstGeom prst="rect">
            <a:avLst/>
          </a:prstGeom>
          <a:noFill/>
        </p:spPr>
        <p:txBody>
          <a:bodyPr wrap="square">
            <a:spAutoFit/>
          </a:bodyPr>
          <a:lstStyle/>
          <a:p>
            <a:pPr algn="l" fontAlgn="base">
              <a:buFont typeface="Arial" panose="020B0604020202020204" pitchFamily="34" charset="0"/>
              <a:buChar char="•"/>
            </a:pPr>
            <a:r>
              <a:rPr lang="en-CA" sz="1600" b="0" i="0" u="none" strike="noStrike" dirty="0">
                <a:solidFill>
                  <a:srgbClr val="2A2A2A"/>
                </a:solidFill>
                <a:effectLst/>
                <a:latin typeface="inherit"/>
              </a:rPr>
              <a:t>Class 1 comprises GCs that could be redistributed to any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in any of the three Level 1 cause groups of diseases and injuries (e.g. sepsis): Communicable diseases, non-communicable diseases and Injuries. They are the most difficult to redistribute and require the most modelling.</a:t>
            </a:r>
          </a:p>
          <a:p>
            <a:pPr algn="l" fontAlgn="base">
              <a:buFont typeface="Arial" panose="020B0604020202020204" pitchFamily="34" charset="0"/>
              <a:buChar char="•"/>
            </a:pPr>
            <a:r>
              <a:rPr lang="en-CA" sz="1600" b="0" i="0" u="none" strike="noStrike" dirty="0">
                <a:solidFill>
                  <a:srgbClr val="2A2A2A"/>
                </a:solidFill>
                <a:effectLst/>
                <a:latin typeface="inherit"/>
              </a:rPr>
              <a:t>Class 2 comprises GCs that could be redistributed to any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in one or two of the three Level 1 cause groups of diseases and injuries (e.g. unspecified and undetermined intent of injury).</a:t>
            </a:r>
          </a:p>
          <a:p>
            <a:pPr algn="l" fontAlgn="base">
              <a:buFont typeface="Arial" panose="020B0604020202020204" pitchFamily="34" charset="0"/>
              <a:buChar char="•"/>
            </a:pPr>
            <a:r>
              <a:rPr lang="en-CA" sz="1600" b="0" i="0" u="none" strike="noStrike" dirty="0">
                <a:solidFill>
                  <a:srgbClr val="2A2A2A"/>
                </a:solidFill>
                <a:effectLst/>
                <a:latin typeface="inherit"/>
              </a:rPr>
              <a:t>Class 3 includes GCs for which the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is likely part of the same ICD chapter (e.g. CUP).</a:t>
            </a:r>
          </a:p>
          <a:p>
            <a:pPr algn="l" fontAlgn="base">
              <a:buFont typeface="Arial" panose="020B0604020202020204" pitchFamily="34" charset="0"/>
              <a:buChar char="•"/>
            </a:pPr>
            <a:r>
              <a:rPr lang="en-CA" sz="1600" b="0" i="0" u="none" strike="noStrike" dirty="0">
                <a:solidFill>
                  <a:srgbClr val="2A2A2A"/>
                </a:solidFill>
                <a:effectLst/>
                <a:latin typeface="inherit"/>
              </a:rPr>
              <a:t>Class 4 is the one with less policy implications and identifies GCs for which the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is likely to be attributed to a single disease or injury (e.g. unspecified type of stroke).</a:t>
            </a:r>
          </a:p>
          <a:p>
            <a:pPr algn="l" fontAlgn="base">
              <a:buFont typeface="Arial" panose="020B0604020202020204" pitchFamily="34" charset="0"/>
              <a:buChar char="•"/>
            </a:pPr>
            <a:endParaRPr lang="en-CA" sz="1600" dirty="0">
              <a:solidFill>
                <a:srgbClr val="2A2A2A"/>
              </a:solidFill>
              <a:latin typeface="inherit"/>
            </a:endParaRPr>
          </a:p>
          <a:p>
            <a:pPr fontAlgn="base"/>
            <a:r>
              <a:rPr lang="en-US" sz="1400" dirty="0"/>
              <a:t>Note that the IHME GBD severity typology is designed to assess the impact of a garbage code on global health statistics. We may want to make our own typology specific to high income countries like the US.</a:t>
            </a:r>
          </a:p>
          <a:p>
            <a:pPr algn="l" fontAlgn="base">
              <a:buFont typeface="Arial" panose="020B0604020202020204" pitchFamily="34" charset="0"/>
              <a:buChar char="•"/>
            </a:pPr>
            <a:endParaRPr lang="en-CA" sz="1600" b="0" i="0" u="none" strike="noStrike" dirty="0">
              <a:solidFill>
                <a:srgbClr val="2A2A2A"/>
              </a:solidFill>
              <a:effectLst/>
              <a:latin typeface="inherit"/>
            </a:endParaRPr>
          </a:p>
        </p:txBody>
      </p:sp>
    </p:spTree>
    <p:extLst>
      <p:ext uri="{BB962C8B-B14F-4D97-AF65-F5344CB8AC3E}">
        <p14:creationId xmlns:p14="http://schemas.microsoft.com/office/powerpoint/2010/main" val="1128869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442775" y="17009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000" dirty="0"/>
              <a:t>Top 11 Garbage Codes in 2016</a:t>
            </a:r>
            <a:endParaRPr sz="2000" dirty="0"/>
          </a:p>
        </p:txBody>
      </p:sp>
      <p:graphicFrame>
        <p:nvGraphicFramePr>
          <p:cNvPr id="73" name="Google Shape;73;p16"/>
          <p:cNvGraphicFramePr/>
          <p:nvPr>
            <p:extLst>
              <p:ext uri="{D42A27DB-BD31-4B8C-83A1-F6EECF244321}">
                <p14:modId xmlns:p14="http://schemas.microsoft.com/office/powerpoint/2010/main" val="2660628568"/>
              </p:ext>
            </p:extLst>
          </p:nvPr>
        </p:nvGraphicFramePr>
        <p:xfrm>
          <a:off x="525450" y="713551"/>
          <a:ext cx="6948777" cy="4180356"/>
        </p:xfrm>
        <a:graphic>
          <a:graphicData uri="http://schemas.openxmlformats.org/drawingml/2006/table">
            <a:tbl>
              <a:tblPr>
                <a:noFill/>
                <a:tableStyleId>{A6B56FE9-9935-4933-9EED-B9BDDED56D02}</a:tableStyleId>
              </a:tblPr>
              <a:tblGrid>
                <a:gridCol w="467394">
                  <a:extLst>
                    <a:ext uri="{9D8B030D-6E8A-4147-A177-3AD203B41FA5}">
                      <a16:colId xmlns:a16="http://schemas.microsoft.com/office/drawing/2014/main" val="20000"/>
                    </a:ext>
                  </a:extLst>
                </a:gridCol>
                <a:gridCol w="3212013">
                  <a:extLst>
                    <a:ext uri="{9D8B030D-6E8A-4147-A177-3AD203B41FA5}">
                      <a16:colId xmlns:a16="http://schemas.microsoft.com/office/drawing/2014/main" val="20001"/>
                    </a:ext>
                  </a:extLst>
                </a:gridCol>
                <a:gridCol w="1003763">
                  <a:extLst>
                    <a:ext uri="{9D8B030D-6E8A-4147-A177-3AD203B41FA5}">
                      <a16:colId xmlns:a16="http://schemas.microsoft.com/office/drawing/2014/main" val="20002"/>
                    </a:ext>
                  </a:extLst>
                </a:gridCol>
                <a:gridCol w="587893">
                  <a:extLst>
                    <a:ext uri="{9D8B030D-6E8A-4147-A177-3AD203B41FA5}">
                      <a16:colId xmlns:a16="http://schemas.microsoft.com/office/drawing/2014/main" val="20003"/>
                    </a:ext>
                  </a:extLst>
                </a:gridCol>
                <a:gridCol w="1677714">
                  <a:extLst>
                    <a:ext uri="{9D8B030D-6E8A-4147-A177-3AD203B41FA5}">
                      <a16:colId xmlns:a16="http://schemas.microsoft.com/office/drawing/2014/main" val="20004"/>
                    </a:ext>
                  </a:extLst>
                </a:gridCol>
              </a:tblGrid>
              <a:tr h="387223">
                <a:tc>
                  <a:txBody>
                    <a:bodyPr/>
                    <a:lstStyle/>
                    <a:p>
                      <a:pPr marL="0" lvl="0" indent="0" algn="l" rtl="0">
                        <a:lnSpc>
                          <a:spcPct val="115000"/>
                        </a:lnSpc>
                        <a:spcBef>
                          <a:spcPts val="0"/>
                        </a:spcBef>
                        <a:spcAft>
                          <a:spcPts val="0"/>
                        </a:spcAft>
                        <a:buNone/>
                      </a:pPr>
                      <a:r>
                        <a:rPr lang="en" sz="1000" b="1"/>
                        <a:t>ICD10 </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dirty="0"/>
                        <a:t>Description</a:t>
                      </a:r>
                      <a:endParaRPr sz="100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GBD Severity Index</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Deaths</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Share (of garbage codes)</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extLst>
                  <a:ext uri="{0D108BD9-81ED-4DB2-BD59-A6C34878D82A}">
                    <a16:rowId xmlns:a16="http://schemas.microsoft.com/office/drawing/2014/main" val="10000"/>
                  </a:ext>
                </a:extLst>
              </a:tr>
              <a:tr h="304304">
                <a:tc>
                  <a:txBody>
                    <a:bodyPr/>
                    <a:lstStyle/>
                    <a:p>
                      <a:pPr marL="0" lvl="0" indent="0" algn="l" rtl="0">
                        <a:lnSpc>
                          <a:spcPct val="115000"/>
                        </a:lnSpc>
                        <a:spcBef>
                          <a:spcPts val="0"/>
                        </a:spcBef>
                        <a:spcAft>
                          <a:spcPts val="0"/>
                        </a:spcAft>
                        <a:buNone/>
                      </a:pPr>
                      <a:r>
                        <a:rPr lang="en" sz="850" b="1"/>
                        <a:t>I64</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Stroke, not specified as </a:t>
                      </a:r>
                      <a:r>
                        <a:rPr lang="en" sz="800" dirty="0" err="1">
                          <a:solidFill>
                            <a:schemeClr val="dk1"/>
                          </a:solidFill>
                          <a:highlight>
                            <a:srgbClr val="FFFFFF"/>
                          </a:highlight>
                        </a:rPr>
                        <a:t>haemorrhage</a:t>
                      </a:r>
                      <a:r>
                        <a:rPr lang="en" sz="800" dirty="0">
                          <a:solidFill>
                            <a:schemeClr val="dk1"/>
                          </a:solidFill>
                          <a:highlight>
                            <a:srgbClr val="FFFFFF"/>
                          </a:highlight>
                        </a:rPr>
                        <a:t> or infarction</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4</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61818</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27.5%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6467">
                <a:tc>
                  <a:txBody>
                    <a:bodyPr/>
                    <a:lstStyle/>
                    <a:p>
                      <a:pPr marL="0" lvl="0" indent="0" algn="l" rtl="0">
                        <a:lnSpc>
                          <a:spcPct val="115000"/>
                        </a:lnSpc>
                        <a:spcBef>
                          <a:spcPts val="0"/>
                        </a:spcBef>
                        <a:spcAft>
                          <a:spcPts val="0"/>
                        </a:spcAft>
                        <a:buNone/>
                      </a:pPr>
                      <a:r>
                        <a:rPr lang="en" sz="850" b="1"/>
                        <a:t>C80</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Malignant neoplasm without specification of site</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27845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12.4%</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24109">
                <a:tc>
                  <a:txBody>
                    <a:bodyPr/>
                    <a:lstStyle/>
                    <a:p>
                      <a:pPr marL="0" lvl="0" indent="0" algn="l" rtl="0">
                        <a:lnSpc>
                          <a:spcPct val="115000"/>
                        </a:lnSpc>
                        <a:spcBef>
                          <a:spcPts val="0"/>
                        </a:spcBef>
                        <a:spcAft>
                          <a:spcPts val="0"/>
                        </a:spcAft>
                        <a:buNone/>
                      </a:pPr>
                      <a:r>
                        <a:rPr lang="en" sz="850" b="1"/>
                        <a:t>X42</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Accidental poisoning by and exposure to narcotics and psychodysleptics [hallucinogens], not elsewhere classified</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26195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11.7%</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4109">
                <a:tc>
                  <a:txBody>
                    <a:bodyPr/>
                    <a:lstStyle/>
                    <a:p>
                      <a:pPr marL="0" lvl="0" indent="0" algn="l" rtl="0">
                        <a:lnSpc>
                          <a:spcPct val="115000"/>
                        </a:lnSpc>
                        <a:spcBef>
                          <a:spcPts val="0"/>
                        </a:spcBef>
                        <a:spcAft>
                          <a:spcPts val="0"/>
                        </a:spcAft>
                        <a:buNone/>
                      </a:pPr>
                      <a:r>
                        <a:rPr lang="en" sz="850" b="1" dirty="0"/>
                        <a:t>X44</a:t>
                      </a:r>
                      <a:endParaRPr sz="85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Accidental poisoning by and exposure to other and unspecified drugs, medicaments and biological substances</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23980</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10.7%</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4304">
                <a:tc>
                  <a:txBody>
                    <a:bodyPr/>
                    <a:lstStyle/>
                    <a:p>
                      <a:pPr marL="0" lvl="0" indent="0" algn="l" rtl="0">
                        <a:lnSpc>
                          <a:spcPct val="115000"/>
                        </a:lnSpc>
                        <a:spcBef>
                          <a:spcPts val="0"/>
                        </a:spcBef>
                        <a:spcAft>
                          <a:spcPts val="0"/>
                        </a:spcAft>
                        <a:buNone/>
                      </a:pPr>
                      <a:r>
                        <a:rPr lang="en" sz="850" b="1"/>
                        <a:t>I10</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Essential (primary) hypertension</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21308</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9.5%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04304">
                <a:tc>
                  <a:txBody>
                    <a:bodyPr/>
                    <a:lstStyle/>
                    <a:p>
                      <a:pPr marL="0" lvl="0" indent="0" algn="l" rtl="0">
                        <a:lnSpc>
                          <a:spcPct val="115000"/>
                        </a:lnSpc>
                        <a:spcBef>
                          <a:spcPts val="0"/>
                        </a:spcBef>
                        <a:spcAft>
                          <a:spcPts val="0"/>
                        </a:spcAft>
                        <a:buNone/>
                      </a:pPr>
                      <a:r>
                        <a:rPr lang="en" sz="850" b="1"/>
                        <a:t>R99</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Ill-defined and unknown cause of mortality</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13381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6.0%</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04304">
                <a:tc>
                  <a:txBody>
                    <a:bodyPr/>
                    <a:lstStyle/>
                    <a:p>
                      <a:pPr marL="0" lvl="0" indent="0" algn="l" rtl="0">
                        <a:lnSpc>
                          <a:spcPct val="115000"/>
                        </a:lnSpc>
                        <a:spcBef>
                          <a:spcPts val="0"/>
                        </a:spcBef>
                        <a:spcAft>
                          <a:spcPts val="0"/>
                        </a:spcAft>
                        <a:buNone/>
                      </a:pPr>
                      <a:r>
                        <a:rPr lang="en" sz="850" b="1"/>
                        <a:t>N19</a:t>
                      </a:r>
                      <a:endParaRPr sz="850" b="1"/>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Unspecified kidney failure</a:t>
                      </a:r>
                      <a:endParaRPr sz="80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8832</a:t>
                      </a:r>
                      <a:endParaRPr sz="85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0.3.9%</a:t>
                      </a:r>
                      <a:endParaRPr sz="850" dirty="0"/>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04304">
                <a:tc>
                  <a:txBody>
                    <a:bodyPr/>
                    <a:lstStyle/>
                    <a:p>
                      <a:pPr marL="0" lvl="0" indent="0" algn="l" rtl="0">
                        <a:lnSpc>
                          <a:spcPct val="115000"/>
                        </a:lnSpc>
                        <a:spcBef>
                          <a:spcPts val="0"/>
                        </a:spcBef>
                        <a:spcAft>
                          <a:spcPts val="0"/>
                        </a:spcAft>
                        <a:buNone/>
                      </a:pPr>
                      <a:r>
                        <a:rPr lang="en" sz="850" b="1"/>
                        <a:t>C55</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Malignant neoplasm of uterus, part unspecified</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5329</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2.4%</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04304">
                <a:tc>
                  <a:txBody>
                    <a:bodyPr/>
                    <a:lstStyle/>
                    <a:p>
                      <a:pPr marL="0" lvl="0" indent="0" algn="l" rtl="0">
                        <a:lnSpc>
                          <a:spcPct val="115000"/>
                        </a:lnSpc>
                        <a:spcBef>
                          <a:spcPts val="0"/>
                        </a:spcBef>
                        <a:spcAft>
                          <a:spcPts val="0"/>
                        </a:spcAft>
                        <a:buNone/>
                      </a:pPr>
                      <a:r>
                        <a:rPr lang="en" sz="850" b="1"/>
                        <a:t>C97</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Malignant neoplasms of independent (primary) multiple sites</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4852</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24109">
                <a:tc>
                  <a:txBody>
                    <a:bodyPr/>
                    <a:lstStyle/>
                    <a:p>
                      <a:pPr marL="0" lvl="0" indent="0" algn="l" rtl="0">
                        <a:lnSpc>
                          <a:spcPct val="115000"/>
                        </a:lnSpc>
                        <a:spcBef>
                          <a:spcPts val="0"/>
                        </a:spcBef>
                        <a:spcAft>
                          <a:spcPts val="0"/>
                        </a:spcAft>
                        <a:buNone/>
                      </a:pPr>
                      <a:r>
                        <a:rPr lang="en" sz="850" b="1" dirty="0"/>
                        <a:t>X41</a:t>
                      </a:r>
                      <a:endParaRPr sz="85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Accidental poisoning by and exposure to antiepileptic, sedative-hypnotic, </a:t>
                      </a:r>
                      <a:r>
                        <a:rPr lang="en" sz="800" dirty="0" err="1">
                          <a:solidFill>
                            <a:schemeClr val="dk1"/>
                          </a:solidFill>
                          <a:highlight>
                            <a:srgbClr val="FFFFFF"/>
                          </a:highlight>
                        </a:rPr>
                        <a:t>antiparkinsonism</a:t>
                      </a:r>
                      <a:r>
                        <a:rPr lang="en" sz="800" dirty="0">
                          <a:solidFill>
                            <a:schemeClr val="dk1"/>
                          </a:solidFill>
                          <a:highlight>
                            <a:srgbClr val="FFFFFF"/>
                          </a:highlight>
                        </a:rPr>
                        <a:t> and psychotropic drugs, not elsewhere classified</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4621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2.0%</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312025">
                <a:tc>
                  <a:txBody>
                    <a:bodyPr/>
                    <a:lstStyle/>
                    <a:p>
                      <a:pPr>
                        <a:buNone/>
                      </a:pPr>
                      <a:r>
                        <a:rPr lang="en-CA" sz="1000" dirty="0">
                          <a:effectLst/>
                        </a:rPr>
                        <a:t>R54</a:t>
                      </a:r>
                    </a:p>
                  </a:txBody>
                  <a:tcPr marL="47625" marR="47625" marT="38100" marB="381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a:buNone/>
                      </a:pPr>
                      <a:r>
                        <a:rPr lang="en-CA" sz="1000">
                          <a:effectLst/>
                        </a:rPr>
                        <a:t>Age-related physical debility</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a:effectLst/>
                        </a:rPr>
                        <a:t>1</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a:effectLst/>
                        </a:rPr>
                        <a:t>4228</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dirty="0">
                          <a:effectLst/>
                        </a:rPr>
                        <a:t>1.9%</a:t>
                      </a:r>
                    </a:p>
                  </a:txBody>
                  <a:tcPr marL="47625" marR="47625" marT="38100" marB="381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391189857"/>
                  </a:ext>
                </a:extLst>
              </a:tr>
            </a:tbl>
          </a:graphicData>
        </a:graphic>
      </p:graphicFrame>
      <p:sp>
        <p:nvSpPr>
          <p:cNvPr id="2" name="TextBox 1">
            <a:extLst>
              <a:ext uri="{FF2B5EF4-FFF2-40B4-BE49-F238E27FC236}">
                <a16:creationId xmlns:a16="http://schemas.microsoft.com/office/drawing/2014/main" id="{2AA3068A-FE75-ED4D-0EEC-85BD113F07DD}"/>
              </a:ext>
            </a:extLst>
          </p:cNvPr>
          <p:cNvSpPr txBox="1"/>
          <p:nvPr/>
        </p:nvSpPr>
        <p:spPr>
          <a:xfrm>
            <a:off x="5881222" y="249593"/>
            <a:ext cx="2756652" cy="369332"/>
          </a:xfrm>
          <a:prstGeom prst="rect">
            <a:avLst/>
          </a:prstGeom>
          <a:noFill/>
        </p:spPr>
        <p:txBody>
          <a:bodyPr wrap="none" rtlCol="0">
            <a:spAutoFit/>
          </a:bodyPr>
          <a:lstStyle/>
          <a:p>
            <a:r>
              <a:rPr lang="en" dirty="0">
                <a:solidFill>
                  <a:schemeClr val="dk1"/>
                </a:solidFill>
              </a:rPr>
              <a:t>(underlying cause of </a:t>
            </a:r>
            <a:r>
              <a:rPr lang="en-CA" dirty="0">
                <a:solidFill>
                  <a:schemeClr val="dk1"/>
                </a:solidFill>
              </a:rPr>
              <a:t>death)</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C8C98D65-13EF-BC5C-AE40-E5FB2ACBFA2C}"/>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A01CF6C9-6700-1D7C-804E-B9A63D313545}"/>
              </a:ext>
            </a:extLst>
          </p:cNvPr>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170" dirty="0"/>
              <a:t>COD detail</a:t>
            </a:r>
            <a:endParaRPr sz="3170" dirty="0"/>
          </a:p>
        </p:txBody>
      </p:sp>
      <p:sp>
        <p:nvSpPr>
          <p:cNvPr id="60" name="Google Shape;60;p14">
            <a:extLst>
              <a:ext uri="{FF2B5EF4-FFF2-40B4-BE49-F238E27FC236}">
                <a16:creationId xmlns:a16="http://schemas.microsoft.com/office/drawing/2014/main" id="{77A2A6B9-D962-C09E-9073-AE954CCA2B20}"/>
              </a:ext>
            </a:extLst>
          </p:cNvPr>
          <p:cNvSpPr txBox="1"/>
          <p:nvPr/>
        </p:nvSpPr>
        <p:spPr>
          <a:xfrm>
            <a:off x="722532" y="1438487"/>
            <a:ext cx="7467312" cy="3250449"/>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In ANACONDA this is simply the fraction of all possible underlying cause of death codes (according the IHME) that are used in the death registry. I get a COD detail only 33% for the United States in 2016, which seems very small so I’m wondering if this is wrong – will return to it. </a:t>
            </a:r>
          </a:p>
          <a:p>
            <a:pPr lvl="0"/>
            <a:endParaRPr lang="en-CA" dirty="0">
              <a:solidFill>
                <a:schemeClr val="dk2"/>
              </a:solidFill>
            </a:endParaRPr>
          </a:p>
          <a:p>
            <a:pPr lvl="0"/>
            <a:r>
              <a:rPr lang="en-CA" dirty="0">
                <a:solidFill>
                  <a:schemeClr val="dk2"/>
                </a:solidFill>
              </a:rPr>
              <a:t>How useful is this metric?</a:t>
            </a:r>
          </a:p>
        </p:txBody>
      </p:sp>
    </p:spTree>
    <p:extLst>
      <p:ext uri="{BB962C8B-B14F-4D97-AF65-F5344CB8AC3E}">
        <p14:creationId xmlns:p14="http://schemas.microsoft.com/office/powerpoint/2010/main" val="3251671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7881B526-5BD4-81EF-3559-7E3B32C7EDF0}"/>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0DFDA5A6-9171-1213-8212-806C66B1EBDA}"/>
              </a:ext>
            </a:extLst>
          </p:cNvPr>
          <p:cNvSpPr txBox="1">
            <a:spLocks noGrp="1"/>
          </p:cNvSpPr>
          <p:nvPr>
            <p:ph type="ctrTitle"/>
          </p:nvPr>
        </p:nvSpPr>
        <p:spPr>
          <a:xfrm>
            <a:off x="311700" y="196149"/>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Number of Secondary Factors</a:t>
            </a:r>
            <a:endParaRPr sz="2800" dirty="0"/>
          </a:p>
        </p:txBody>
      </p:sp>
      <p:sp>
        <p:nvSpPr>
          <p:cNvPr id="60" name="Google Shape;60;p14">
            <a:extLst>
              <a:ext uri="{FF2B5EF4-FFF2-40B4-BE49-F238E27FC236}">
                <a16:creationId xmlns:a16="http://schemas.microsoft.com/office/drawing/2014/main" id="{C3E9D45D-9884-867A-E3DD-86856D8EB0AB}"/>
              </a:ext>
            </a:extLst>
          </p:cNvPr>
          <p:cNvSpPr txBox="1"/>
          <p:nvPr/>
        </p:nvSpPr>
        <p:spPr>
          <a:xfrm>
            <a:off x="557940" y="823449"/>
            <a:ext cx="7467312" cy="627300"/>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The average number of listed secondary factors was 1.99</a:t>
            </a:r>
          </a:p>
        </p:txBody>
      </p:sp>
      <p:graphicFrame>
        <p:nvGraphicFramePr>
          <p:cNvPr id="2" name="Table 1">
            <a:extLst>
              <a:ext uri="{FF2B5EF4-FFF2-40B4-BE49-F238E27FC236}">
                <a16:creationId xmlns:a16="http://schemas.microsoft.com/office/drawing/2014/main" id="{BE27A06C-2D71-3C16-C2E0-41B74C59E014}"/>
              </a:ext>
            </a:extLst>
          </p:cNvPr>
          <p:cNvGraphicFramePr>
            <a:graphicFrameLocks noGrp="1"/>
          </p:cNvGraphicFramePr>
          <p:nvPr>
            <p:extLst>
              <p:ext uri="{D42A27DB-BD31-4B8C-83A1-F6EECF244321}">
                <p14:modId xmlns:p14="http://schemas.microsoft.com/office/powerpoint/2010/main" val="2633036807"/>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Average # of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1.99</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1.95</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2.33</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1.97</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CCA4EF6D-1698-C79B-B0C0-E5552344904C}"/>
              </a:ext>
            </a:extLst>
          </p:cNvPr>
          <p:cNvGraphicFramePr>
            <a:graphicFrameLocks noGrp="1"/>
          </p:cNvGraphicFramePr>
          <p:nvPr>
            <p:extLst>
              <p:ext uri="{D42A27DB-BD31-4B8C-83A1-F6EECF244321}">
                <p14:modId xmlns:p14="http://schemas.microsoft.com/office/powerpoint/2010/main" val="293045831"/>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1.92</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2.06</a:t>
                      </a:r>
                    </a:p>
                  </a:txBody>
                  <a:tcPr/>
                </a:tc>
                <a:extLst>
                  <a:ext uri="{0D108BD9-81ED-4DB2-BD59-A6C34878D82A}">
                    <a16:rowId xmlns:a16="http://schemas.microsoft.com/office/drawing/2014/main" val="3998251909"/>
                  </a:ext>
                </a:extLst>
              </a:tr>
            </a:tbl>
          </a:graphicData>
        </a:graphic>
      </p:graphicFrame>
    </p:spTree>
    <p:extLst>
      <p:ext uri="{BB962C8B-B14F-4D97-AF65-F5344CB8AC3E}">
        <p14:creationId xmlns:p14="http://schemas.microsoft.com/office/powerpoint/2010/main" val="3236014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DB34692-B5D9-9F9B-0F79-5E11C42770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FB4F26-7B61-1D73-7F97-F829B6AADE9F}"/>
              </a:ext>
            </a:extLst>
          </p:cNvPr>
          <p:cNvSpPr txBox="1"/>
          <p:nvPr/>
        </p:nvSpPr>
        <p:spPr>
          <a:xfrm>
            <a:off x="250253" y="144581"/>
            <a:ext cx="8643494" cy="338554"/>
          </a:xfrm>
          <a:prstGeom prst="rect">
            <a:avLst/>
          </a:prstGeom>
          <a:noFill/>
        </p:spPr>
        <p:txBody>
          <a:bodyPr wrap="square" rtlCol="0">
            <a:spAutoFit/>
          </a:bodyPr>
          <a:lstStyle/>
          <a:p>
            <a:r>
              <a:rPr lang="en-US" sz="1600" dirty="0"/>
              <a:t>Average Number of Secondary Factors by Cause of Death</a:t>
            </a:r>
          </a:p>
        </p:txBody>
      </p:sp>
      <p:graphicFrame>
        <p:nvGraphicFramePr>
          <p:cNvPr id="2" name="Table 1">
            <a:extLst>
              <a:ext uri="{FF2B5EF4-FFF2-40B4-BE49-F238E27FC236}">
                <a16:creationId xmlns:a16="http://schemas.microsoft.com/office/drawing/2014/main" id="{4C81C55C-77B6-34CD-9DB5-7E21EB41D325}"/>
              </a:ext>
            </a:extLst>
          </p:cNvPr>
          <p:cNvGraphicFramePr>
            <a:graphicFrameLocks noGrp="1"/>
          </p:cNvGraphicFramePr>
          <p:nvPr>
            <p:extLst>
              <p:ext uri="{D42A27DB-BD31-4B8C-83A1-F6EECF244321}">
                <p14:modId xmlns:p14="http://schemas.microsoft.com/office/powerpoint/2010/main" val="2453506179"/>
              </p:ext>
            </p:extLst>
          </p:nvPr>
        </p:nvGraphicFramePr>
        <p:xfrm>
          <a:off x="1549078" y="636607"/>
          <a:ext cx="5606006" cy="4277176"/>
        </p:xfrm>
        <a:graphic>
          <a:graphicData uri="http://schemas.openxmlformats.org/drawingml/2006/table">
            <a:tbl>
              <a:tblPr firstRow="1" bandRow="1">
                <a:tableStyleId>{BFA11F67-8BD6-47EC-9F71-6CD8F6C066F8}</a:tableStyleId>
              </a:tblPr>
              <a:tblGrid>
                <a:gridCol w="2803003">
                  <a:extLst>
                    <a:ext uri="{9D8B030D-6E8A-4147-A177-3AD203B41FA5}">
                      <a16:colId xmlns:a16="http://schemas.microsoft.com/office/drawing/2014/main" val="2365492209"/>
                    </a:ext>
                  </a:extLst>
                </a:gridCol>
                <a:gridCol w="2803003">
                  <a:extLst>
                    <a:ext uri="{9D8B030D-6E8A-4147-A177-3AD203B41FA5}">
                      <a16:colId xmlns:a16="http://schemas.microsoft.com/office/drawing/2014/main" val="3920690375"/>
                    </a:ext>
                  </a:extLst>
                </a:gridCol>
              </a:tblGrid>
              <a:tr h="344147">
                <a:tc>
                  <a:txBody>
                    <a:bodyPr/>
                    <a:lstStyle/>
                    <a:p>
                      <a:r>
                        <a:rPr lang="en-US" dirty="0"/>
                        <a:t>Top 10 Causes of Death in order (of 39 codes)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Average # of Secondary Factors Listed</a:t>
                      </a:r>
                    </a:p>
                  </a:txBody>
                  <a:tcPr/>
                </a:tc>
                <a:extLst>
                  <a:ext uri="{0D108BD9-81ED-4DB2-BD59-A6C34878D82A}">
                    <a16:rowId xmlns:a16="http://schemas.microsoft.com/office/drawing/2014/main" val="1535419698"/>
                  </a:ext>
                </a:extLst>
              </a:tr>
              <a:tr h="344147">
                <a:tc>
                  <a:txBody>
                    <a:bodyPr/>
                    <a:lstStyle/>
                    <a:p>
                      <a:r>
                        <a:rPr lang="en-CA" sz="1350" b="0" i="0" u="none" strike="noStrike" kern="1200" dirty="0">
                          <a:solidFill>
                            <a:srgbClr val="000000"/>
                          </a:solidFill>
                          <a:effectLst/>
                          <a:latin typeface="Arial"/>
                          <a:ea typeface="Arial"/>
                          <a:cs typeface="Arial"/>
                        </a:rPr>
                        <a:t>Assault (homicide)</a:t>
                      </a:r>
                      <a:endParaRPr lang="en-US" dirty="0"/>
                    </a:p>
                  </a:txBody>
                  <a:tcPr>
                    <a:solidFill>
                      <a:schemeClr val="bg2"/>
                    </a:solidFill>
                  </a:tcPr>
                </a:tc>
                <a:tc>
                  <a:txBody>
                    <a:bodyPr/>
                    <a:lstStyle/>
                    <a:p>
                      <a:r>
                        <a:rPr lang="en-US" dirty="0"/>
                        <a:t>2.25</a:t>
                      </a:r>
                    </a:p>
                  </a:txBody>
                  <a:tcPr>
                    <a:solidFill>
                      <a:schemeClr val="bg2"/>
                    </a:solidFill>
                  </a:tcPr>
                </a:tc>
                <a:extLst>
                  <a:ext uri="{0D108BD9-81ED-4DB2-BD59-A6C34878D82A}">
                    <a16:rowId xmlns:a16="http://schemas.microsoft.com/office/drawing/2014/main" val="1724677763"/>
                  </a:ext>
                </a:extLst>
              </a:tr>
              <a:tr h="344147">
                <a:tc>
                  <a:txBody>
                    <a:bodyPr/>
                    <a:lstStyle/>
                    <a:p>
                      <a:r>
                        <a:rPr lang="en-US" dirty="0"/>
                        <a:t>Cerebrovascular diseases</a:t>
                      </a:r>
                    </a:p>
                  </a:txBody>
                  <a:tcPr>
                    <a:solidFill>
                      <a:schemeClr val="bg2"/>
                    </a:solidFill>
                  </a:tcPr>
                </a:tc>
                <a:tc>
                  <a:txBody>
                    <a:bodyPr/>
                    <a:lstStyle/>
                    <a:p>
                      <a:r>
                        <a:rPr lang="en-US" dirty="0"/>
                        <a:t>2.24</a:t>
                      </a:r>
                    </a:p>
                  </a:txBody>
                  <a:tcPr>
                    <a:solidFill>
                      <a:schemeClr val="bg2"/>
                    </a:solidFill>
                  </a:tcPr>
                </a:tc>
                <a:extLst>
                  <a:ext uri="{0D108BD9-81ED-4DB2-BD59-A6C34878D82A}">
                    <a16:rowId xmlns:a16="http://schemas.microsoft.com/office/drawing/2014/main" val="1281924514"/>
                  </a:ext>
                </a:extLst>
              </a:tr>
              <a:tr h="344147">
                <a:tc>
                  <a:txBody>
                    <a:bodyPr/>
                    <a:lstStyle/>
                    <a:p>
                      <a:r>
                        <a:rPr lang="en-US" dirty="0"/>
                        <a:t>Atherosclerosis</a:t>
                      </a:r>
                    </a:p>
                  </a:txBody>
                  <a:tcPr>
                    <a:solidFill>
                      <a:schemeClr val="bg2"/>
                    </a:solidFill>
                  </a:tcPr>
                </a:tc>
                <a:tc>
                  <a:txBody>
                    <a:bodyPr/>
                    <a:lstStyle/>
                    <a:p>
                      <a:r>
                        <a:rPr lang="en-US" dirty="0"/>
                        <a:t>1.77</a:t>
                      </a:r>
                    </a:p>
                  </a:txBody>
                  <a:tcPr>
                    <a:solidFill>
                      <a:schemeClr val="bg2"/>
                    </a:solidFill>
                  </a:tcPr>
                </a:tc>
                <a:extLst>
                  <a:ext uri="{0D108BD9-81ED-4DB2-BD59-A6C34878D82A}">
                    <a16:rowId xmlns:a16="http://schemas.microsoft.com/office/drawing/2014/main" val="3308630520"/>
                  </a:ext>
                </a:extLst>
              </a:tr>
              <a:tr h="344147">
                <a:tc>
                  <a:txBody>
                    <a:bodyPr/>
                    <a:lstStyle/>
                    <a:p>
                      <a:r>
                        <a:rPr lang="en-US" dirty="0"/>
                        <a:t>Diabetes mellitus</a:t>
                      </a:r>
                    </a:p>
                  </a:txBody>
                  <a:tcPr>
                    <a:solidFill>
                      <a:schemeClr val="bg2"/>
                    </a:solidFill>
                  </a:tcPr>
                </a:tc>
                <a:tc>
                  <a:txBody>
                    <a:bodyPr/>
                    <a:lstStyle/>
                    <a:p>
                      <a:r>
                        <a:rPr lang="en-US" dirty="0"/>
                        <a:t>1.54</a:t>
                      </a:r>
                    </a:p>
                  </a:txBody>
                  <a:tcPr>
                    <a:solidFill>
                      <a:schemeClr val="bg2"/>
                    </a:solidFill>
                  </a:tcPr>
                </a:tc>
                <a:extLst>
                  <a:ext uri="{0D108BD9-81ED-4DB2-BD59-A6C34878D82A}">
                    <a16:rowId xmlns:a16="http://schemas.microsoft.com/office/drawing/2014/main" val="251128190"/>
                  </a:ext>
                </a:extLst>
              </a:tr>
              <a:tr h="344147">
                <a:tc>
                  <a:txBody>
                    <a:bodyPr/>
                    <a:lstStyle/>
                    <a:p>
                      <a:r>
                        <a:rPr lang="en-CA" sz="1350" b="0" i="0" u="none" strike="noStrike" kern="1200" dirty="0">
                          <a:solidFill>
                            <a:srgbClr val="000000"/>
                          </a:solidFill>
                          <a:effectLst/>
                          <a:latin typeface="Arial"/>
                          <a:ea typeface="Arial"/>
                          <a:cs typeface="Arial"/>
                        </a:rPr>
                        <a:t>Nephritis, nephrotic syndrome, and nephrosis</a:t>
                      </a:r>
                      <a:endParaRPr lang="en-US" dirty="0"/>
                    </a:p>
                  </a:txBody>
                  <a:tcPr>
                    <a:solidFill>
                      <a:schemeClr val="bg2"/>
                    </a:solidFill>
                  </a:tcPr>
                </a:tc>
                <a:tc>
                  <a:txBody>
                    <a:bodyPr/>
                    <a:lstStyle/>
                    <a:p>
                      <a:r>
                        <a:rPr lang="en-US" dirty="0"/>
                        <a:t>2.35</a:t>
                      </a:r>
                    </a:p>
                  </a:txBody>
                  <a:tcPr>
                    <a:solidFill>
                      <a:schemeClr val="bg2"/>
                    </a:solidFill>
                  </a:tcPr>
                </a:tc>
                <a:extLst>
                  <a:ext uri="{0D108BD9-81ED-4DB2-BD59-A6C34878D82A}">
                    <a16:rowId xmlns:a16="http://schemas.microsoft.com/office/drawing/2014/main" val="1553063001"/>
                  </a:ext>
                </a:extLst>
              </a:tr>
              <a:tr h="344147">
                <a:tc>
                  <a:txBody>
                    <a:bodyPr/>
                    <a:lstStyle/>
                    <a:p>
                      <a:r>
                        <a:rPr lang="en-CA" sz="1350" b="0" i="0" u="none" strike="noStrike" kern="1200" dirty="0">
                          <a:solidFill>
                            <a:srgbClr val="000000"/>
                          </a:solidFill>
                          <a:effectLst/>
                          <a:latin typeface="Arial"/>
                          <a:ea typeface="Arial"/>
                          <a:cs typeface="Arial"/>
                        </a:rPr>
                        <a:t>Malignant neoplasm of breast</a:t>
                      </a:r>
                      <a:endParaRPr lang="en-US" dirty="0"/>
                    </a:p>
                  </a:txBody>
                  <a:tcPr>
                    <a:solidFill>
                      <a:schemeClr val="bg2"/>
                    </a:solidFill>
                  </a:tcPr>
                </a:tc>
                <a:tc>
                  <a:txBody>
                    <a:bodyPr/>
                    <a:lstStyle/>
                    <a:p>
                      <a:r>
                        <a:rPr lang="en-US" dirty="0"/>
                        <a:t>1.73</a:t>
                      </a:r>
                    </a:p>
                  </a:txBody>
                  <a:tcPr>
                    <a:solidFill>
                      <a:schemeClr val="bg2"/>
                    </a:solidFill>
                  </a:tcPr>
                </a:tc>
                <a:extLst>
                  <a:ext uri="{0D108BD9-81ED-4DB2-BD59-A6C34878D82A}">
                    <a16:rowId xmlns:a16="http://schemas.microsoft.com/office/drawing/2014/main" val="449575273"/>
                  </a:ext>
                </a:extLst>
              </a:tr>
              <a:tr h="344147">
                <a:tc>
                  <a:txBody>
                    <a:bodyPr/>
                    <a:lstStyle/>
                    <a:p>
                      <a:r>
                        <a:rPr lang="en-CA" sz="1350" b="0" i="0" u="none" strike="noStrike" kern="1200" dirty="0">
                          <a:solidFill>
                            <a:srgbClr val="000000"/>
                          </a:solidFill>
                          <a:effectLst/>
                          <a:latin typeface="Arial"/>
                          <a:ea typeface="Arial"/>
                          <a:cs typeface="Arial"/>
                        </a:rPr>
                        <a:t>Influenza and pneumonia</a:t>
                      </a:r>
                      <a:endParaRPr lang="en-US" dirty="0"/>
                    </a:p>
                  </a:txBody>
                  <a:tcPr>
                    <a:solidFill>
                      <a:schemeClr val="bg2"/>
                    </a:solidFill>
                  </a:tcPr>
                </a:tc>
                <a:tc>
                  <a:txBody>
                    <a:bodyPr/>
                    <a:lstStyle/>
                    <a:p>
                      <a:r>
                        <a:rPr lang="en-US" dirty="0"/>
                        <a:t>1.82</a:t>
                      </a:r>
                    </a:p>
                  </a:txBody>
                  <a:tcPr>
                    <a:solidFill>
                      <a:schemeClr val="bg2"/>
                    </a:solidFill>
                  </a:tcPr>
                </a:tc>
                <a:extLst>
                  <a:ext uri="{0D108BD9-81ED-4DB2-BD59-A6C34878D82A}">
                    <a16:rowId xmlns:a16="http://schemas.microsoft.com/office/drawing/2014/main" val="256817086"/>
                  </a:ext>
                </a:extLst>
              </a:tr>
              <a:tr h="344147">
                <a:tc>
                  <a:txBody>
                    <a:bodyPr/>
                    <a:lstStyle/>
                    <a:p>
                      <a:r>
                        <a:rPr lang="en-US" dirty="0"/>
                        <a:t>Certain conditions originating in the perinatal period</a:t>
                      </a:r>
                    </a:p>
                  </a:txBody>
                  <a:tcPr>
                    <a:solidFill>
                      <a:schemeClr val="bg2"/>
                    </a:solidFill>
                  </a:tcPr>
                </a:tc>
                <a:tc>
                  <a:txBody>
                    <a:bodyPr/>
                    <a:lstStyle/>
                    <a:p>
                      <a:r>
                        <a:rPr lang="en-US" dirty="0"/>
                        <a:t>3.20</a:t>
                      </a:r>
                    </a:p>
                  </a:txBody>
                  <a:tcPr>
                    <a:solidFill>
                      <a:schemeClr val="bg2"/>
                    </a:solidFill>
                  </a:tcPr>
                </a:tc>
                <a:extLst>
                  <a:ext uri="{0D108BD9-81ED-4DB2-BD59-A6C34878D82A}">
                    <a16:rowId xmlns:a16="http://schemas.microsoft.com/office/drawing/2014/main" val="760517413"/>
                  </a:ext>
                </a:extLst>
              </a:tr>
              <a:tr h="344147">
                <a:tc>
                  <a:txBody>
                    <a:bodyPr/>
                    <a:lstStyle/>
                    <a:p>
                      <a:r>
                        <a:rPr lang="en-CA" sz="1350" b="0" i="0" u="none" strike="noStrike" kern="1200" dirty="0">
                          <a:solidFill>
                            <a:srgbClr val="000000"/>
                          </a:solidFill>
                          <a:effectLst/>
                          <a:latin typeface="Arial"/>
                          <a:ea typeface="Arial"/>
                          <a:cs typeface="Arial"/>
                        </a:rPr>
                        <a:t>Major cardiovascular diseases</a:t>
                      </a:r>
                      <a:endParaRPr lang="en-US" dirty="0"/>
                    </a:p>
                  </a:txBody>
                  <a:tcPr>
                    <a:solidFill>
                      <a:schemeClr val="bg2"/>
                    </a:solidFill>
                  </a:tcPr>
                </a:tc>
                <a:tc>
                  <a:txBody>
                    <a:bodyPr/>
                    <a:lstStyle/>
                    <a:p>
                      <a:r>
                        <a:rPr lang="en-US" dirty="0"/>
                        <a:t>1.35</a:t>
                      </a:r>
                    </a:p>
                  </a:txBody>
                  <a:tcPr>
                    <a:solidFill>
                      <a:schemeClr val="bg2"/>
                    </a:solidFill>
                  </a:tcPr>
                </a:tc>
                <a:extLst>
                  <a:ext uri="{0D108BD9-81ED-4DB2-BD59-A6C34878D82A}">
                    <a16:rowId xmlns:a16="http://schemas.microsoft.com/office/drawing/2014/main" val="1175876226"/>
                  </a:ext>
                </a:extLst>
              </a:tr>
              <a:tr h="344147">
                <a:tc>
                  <a:txBody>
                    <a:bodyPr/>
                    <a:lstStyle/>
                    <a:p>
                      <a:r>
                        <a:rPr lang="en-CA" sz="1350" b="0" i="0" u="none" strike="noStrike" kern="1200" dirty="0">
                          <a:solidFill>
                            <a:srgbClr val="000000"/>
                          </a:solidFill>
                          <a:effectLst/>
                          <a:latin typeface="Arial"/>
                          <a:ea typeface="Arial"/>
                          <a:cs typeface="Arial"/>
                        </a:rPr>
                        <a:t>Alzheimer’s disease</a:t>
                      </a:r>
                      <a:endParaRPr lang="en-US" dirty="0"/>
                    </a:p>
                  </a:txBody>
                  <a:tcPr>
                    <a:solidFill>
                      <a:schemeClr val="bg2"/>
                    </a:solidFill>
                  </a:tcPr>
                </a:tc>
                <a:tc>
                  <a:txBody>
                    <a:bodyPr/>
                    <a:lstStyle/>
                    <a:p>
                      <a:r>
                        <a:rPr lang="en-US" dirty="0"/>
                        <a:t>2.84</a:t>
                      </a:r>
                    </a:p>
                  </a:txBody>
                  <a:tcPr>
                    <a:solidFill>
                      <a:schemeClr val="bg2"/>
                    </a:solidFill>
                  </a:tcPr>
                </a:tc>
                <a:extLst>
                  <a:ext uri="{0D108BD9-81ED-4DB2-BD59-A6C34878D82A}">
                    <a16:rowId xmlns:a16="http://schemas.microsoft.com/office/drawing/2014/main" val="4294917516"/>
                  </a:ext>
                </a:extLst>
              </a:tr>
            </a:tbl>
          </a:graphicData>
        </a:graphic>
      </p:graphicFrame>
    </p:spTree>
    <p:extLst>
      <p:ext uri="{BB962C8B-B14F-4D97-AF65-F5344CB8AC3E}">
        <p14:creationId xmlns:p14="http://schemas.microsoft.com/office/powerpoint/2010/main" val="1245375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4EC2AC0-326D-AEBA-F3CD-47F296EB232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F014C2B-9291-818E-9207-1D5ABCBD3252}"/>
              </a:ext>
            </a:extLst>
          </p:cNvPr>
          <p:cNvGraphicFramePr>
            <a:graphicFrameLocks noGrp="1"/>
          </p:cNvGraphicFramePr>
          <p:nvPr>
            <p:extLst>
              <p:ext uri="{D42A27DB-BD31-4B8C-83A1-F6EECF244321}">
                <p14:modId xmlns:p14="http://schemas.microsoft.com/office/powerpoint/2010/main" val="2322607160"/>
              </p:ext>
            </p:extLst>
          </p:nvPr>
        </p:nvGraphicFramePr>
        <p:xfrm>
          <a:off x="219456" y="489966"/>
          <a:ext cx="3979884" cy="3925435"/>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Education Status</a:t>
                      </a:r>
                    </a:p>
                  </a:txBody>
                  <a:tcPr/>
                </a:tc>
                <a:tc>
                  <a:txBody>
                    <a:bodyPr/>
                    <a:lstStyle/>
                    <a:p>
                      <a:r>
                        <a:rPr lang="en-US" sz="1200" dirty="0"/>
                        <a:t>Average # of Secondary Factors Listed</a:t>
                      </a:r>
                    </a:p>
                  </a:txBody>
                  <a:tcPr/>
                </a:tc>
                <a:extLst>
                  <a:ext uri="{0D108BD9-81ED-4DB2-BD59-A6C34878D82A}">
                    <a16:rowId xmlns:a16="http://schemas.microsoft.com/office/drawing/2014/main" val="3441494424"/>
                  </a:ext>
                </a:extLst>
              </a:tr>
              <a:tr h="327887">
                <a:tc>
                  <a:txBody>
                    <a:bodyPr/>
                    <a:lstStyle/>
                    <a:p>
                      <a:r>
                        <a:rPr lang="en-US" sz="1200" dirty="0"/>
                        <a:t>8</a:t>
                      </a:r>
                      <a:r>
                        <a:rPr lang="en-US" sz="1200" baseline="30000" dirty="0"/>
                        <a:t>th</a:t>
                      </a:r>
                      <a:r>
                        <a:rPr lang="en-US" sz="1200" dirty="0"/>
                        <a:t> grade or less</a:t>
                      </a:r>
                    </a:p>
                  </a:txBody>
                  <a:tcPr>
                    <a:solidFill>
                      <a:schemeClr val="bg2"/>
                    </a:solidFill>
                  </a:tcPr>
                </a:tc>
                <a:tc>
                  <a:txBody>
                    <a:bodyPr/>
                    <a:lstStyle/>
                    <a:p>
                      <a:r>
                        <a:rPr lang="en-US" sz="1200" dirty="0"/>
                        <a:t>1.97</a:t>
                      </a:r>
                    </a:p>
                  </a:txBody>
                  <a:tcPr>
                    <a:solidFill>
                      <a:schemeClr val="bg2"/>
                    </a:solidFill>
                  </a:tcPr>
                </a:tc>
                <a:extLst>
                  <a:ext uri="{0D108BD9-81ED-4DB2-BD59-A6C34878D82A}">
                    <a16:rowId xmlns:a16="http://schemas.microsoft.com/office/drawing/2014/main" val="1978091271"/>
                  </a:ext>
                </a:extLst>
              </a:tr>
              <a:tr h="327887">
                <a:tc>
                  <a:txBody>
                    <a:bodyPr/>
                    <a:lstStyle/>
                    <a:p>
                      <a:r>
                        <a:rPr lang="en-US" sz="1200" dirty="0"/>
                        <a:t>9</a:t>
                      </a:r>
                      <a:r>
                        <a:rPr lang="en-US" sz="1200" baseline="30000" dirty="0"/>
                        <a:t>th</a:t>
                      </a:r>
                      <a:r>
                        <a:rPr lang="en-US" sz="1200" dirty="0"/>
                        <a:t> - 12</a:t>
                      </a:r>
                      <a:r>
                        <a:rPr lang="en-US" sz="1200" baseline="30000" dirty="0"/>
                        <a:t>th</a:t>
                      </a:r>
                      <a:r>
                        <a:rPr lang="en-US" sz="1200" dirty="0"/>
                        <a:t> grade, no diploma</a:t>
                      </a:r>
                    </a:p>
                  </a:txBody>
                  <a:tcPr>
                    <a:solidFill>
                      <a:schemeClr val="bg2"/>
                    </a:solidFill>
                  </a:tcPr>
                </a:tc>
                <a:tc>
                  <a:txBody>
                    <a:bodyPr/>
                    <a:lstStyle/>
                    <a:p>
                      <a:r>
                        <a:rPr lang="en-US" sz="1200" dirty="0"/>
                        <a:t>2.07</a:t>
                      </a:r>
                    </a:p>
                  </a:txBody>
                  <a:tcPr>
                    <a:solidFill>
                      <a:schemeClr val="bg2"/>
                    </a:solidFill>
                  </a:tcPr>
                </a:tc>
                <a:extLst>
                  <a:ext uri="{0D108BD9-81ED-4DB2-BD59-A6C34878D82A}">
                    <a16:rowId xmlns:a16="http://schemas.microsoft.com/office/drawing/2014/main" val="446706471"/>
                  </a:ext>
                </a:extLst>
              </a:tr>
              <a:tr h="444668">
                <a:tc>
                  <a:txBody>
                    <a:bodyPr/>
                    <a:lstStyle/>
                    <a:p>
                      <a:r>
                        <a:rPr lang="en-US" sz="1200" dirty="0"/>
                        <a:t>High school graduate or GED completed</a:t>
                      </a:r>
                    </a:p>
                  </a:txBody>
                  <a:tcPr>
                    <a:solidFill>
                      <a:schemeClr val="bg2"/>
                    </a:solidFill>
                  </a:tcPr>
                </a:tc>
                <a:tc>
                  <a:txBody>
                    <a:bodyPr/>
                    <a:lstStyle/>
                    <a:p>
                      <a:r>
                        <a:rPr lang="en-US" sz="1200" dirty="0"/>
                        <a:t>2.01</a:t>
                      </a:r>
                    </a:p>
                  </a:txBody>
                  <a:tcPr>
                    <a:solidFill>
                      <a:schemeClr val="bg2"/>
                    </a:solidFill>
                  </a:tcPr>
                </a:tc>
                <a:extLst>
                  <a:ext uri="{0D108BD9-81ED-4DB2-BD59-A6C34878D82A}">
                    <a16:rowId xmlns:a16="http://schemas.microsoft.com/office/drawing/2014/main" val="3537160196"/>
                  </a:ext>
                </a:extLst>
              </a:tr>
              <a:tr h="444668">
                <a:tc>
                  <a:txBody>
                    <a:bodyPr/>
                    <a:lstStyle/>
                    <a:p>
                      <a:r>
                        <a:rPr lang="en-US" sz="1200" dirty="0"/>
                        <a:t>Some college credit, but no degree</a:t>
                      </a:r>
                    </a:p>
                  </a:txBody>
                  <a:tcPr>
                    <a:solidFill>
                      <a:schemeClr val="bg2"/>
                    </a:solidFill>
                  </a:tcPr>
                </a:tc>
                <a:tc>
                  <a:txBody>
                    <a:bodyPr/>
                    <a:lstStyle/>
                    <a:p>
                      <a:r>
                        <a:rPr lang="en-US" sz="1200" dirty="0"/>
                        <a:t>2.03</a:t>
                      </a:r>
                    </a:p>
                  </a:txBody>
                  <a:tcPr>
                    <a:solidFill>
                      <a:schemeClr val="bg2"/>
                    </a:solidFill>
                  </a:tcPr>
                </a:tc>
                <a:extLst>
                  <a:ext uri="{0D108BD9-81ED-4DB2-BD59-A6C34878D82A}">
                    <a16:rowId xmlns:a16="http://schemas.microsoft.com/office/drawing/2014/main" val="2050751449"/>
                  </a:ext>
                </a:extLst>
              </a:tr>
              <a:tr h="327887">
                <a:tc>
                  <a:txBody>
                    <a:bodyPr/>
                    <a:lstStyle/>
                    <a:p>
                      <a:r>
                        <a:rPr lang="en-US" sz="1200" dirty="0"/>
                        <a:t>Associate degree</a:t>
                      </a:r>
                    </a:p>
                  </a:txBody>
                  <a:tcPr>
                    <a:solidFill>
                      <a:schemeClr val="bg2"/>
                    </a:solidFill>
                  </a:tcPr>
                </a:tc>
                <a:tc>
                  <a:txBody>
                    <a:bodyPr/>
                    <a:lstStyle/>
                    <a:p>
                      <a:r>
                        <a:rPr lang="en-US" sz="1200" dirty="0"/>
                        <a:t>1.98</a:t>
                      </a:r>
                    </a:p>
                  </a:txBody>
                  <a:tcPr>
                    <a:solidFill>
                      <a:schemeClr val="bg2"/>
                    </a:solidFill>
                  </a:tcPr>
                </a:tc>
                <a:extLst>
                  <a:ext uri="{0D108BD9-81ED-4DB2-BD59-A6C34878D82A}">
                    <a16:rowId xmlns:a16="http://schemas.microsoft.com/office/drawing/2014/main" val="3600230402"/>
                  </a:ext>
                </a:extLst>
              </a:tr>
              <a:tr h="327887">
                <a:tc>
                  <a:txBody>
                    <a:bodyPr/>
                    <a:lstStyle/>
                    <a:p>
                      <a:r>
                        <a:rPr lang="en-US" sz="1200" dirty="0"/>
                        <a:t>Bachelor’s degree</a:t>
                      </a:r>
                    </a:p>
                  </a:txBody>
                  <a:tcPr>
                    <a:solidFill>
                      <a:schemeClr val="bg2"/>
                    </a:solidFill>
                  </a:tcPr>
                </a:tc>
                <a:tc>
                  <a:txBody>
                    <a:bodyPr/>
                    <a:lstStyle/>
                    <a:p>
                      <a:r>
                        <a:rPr lang="en-US" sz="1200" dirty="0"/>
                        <a:t>1.89</a:t>
                      </a:r>
                    </a:p>
                  </a:txBody>
                  <a:tcPr>
                    <a:solidFill>
                      <a:schemeClr val="bg2"/>
                    </a:solidFill>
                  </a:tcPr>
                </a:tc>
                <a:extLst>
                  <a:ext uri="{0D108BD9-81ED-4DB2-BD59-A6C34878D82A}">
                    <a16:rowId xmlns:a16="http://schemas.microsoft.com/office/drawing/2014/main" val="2302135002"/>
                  </a:ext>
                </a:extLst>
              </a:tr>
              <a:tr h="327887">
                <a:tc>
                  <a:txBody>
                    <a:bodyPr/>
                    <a:lstStyle/>
                    <a:p>
                      <a:r>
                        <a:rPr lang="en-US" sz="1200" dirty="0"/>
                        <a:t>Master’s degree</a:t>
                      </a:r>
                    </a:p>
                  </a:txBody>
                  <a:tcPr>
                    <a:solidFill>
                      <a:schemeClr val="bg2"/>
                    </a:solidFill>
                  </a:tcPr>
                </a:tc>
                <a:tc>
                  <a:txBody>
                    <a:bodyPr/>
                    <a:lstStyle/>
                    <a:p>
                      <a:r>
                        <a:rPr lang="en-US" sz="1200" dirty="0"/>
                        <a:t>1.83</a:t>
                      </a:r>
                    </a:p>
                  </a:txBody>
                  <a:tcPr>
                    <a:solidFill>
                      <a:schemeClr val="bg2"/>
                    </a:solidFill>
                  </a:tcPr>
                </a:tc>
                <a:extLst>
                  <a:ext uri="{0D108BD9-81ED-4DB2-BD59-A6C34878D82A}">
                    <a16:rowId xmlns:a16="http://schemas.microsoft.com/office/drawing/2014/main" val="1840912725"/>
                  </a:ext>
                </a:extLst>
              </a:tr>
              <a:tr h="444668">
                <a:tc>
                  <a:txBody>
                    <a:bodyPr/>
                    <a:lstStyle/>
                    <a:p>
                      <a:r>
                        <a:rPr lang="en-US" sz="1200" dirty="0"/>
                        <a:t>Doctorate or professional degree</a:t>
                      </a:r>
                    </a:p>
                  </a:txBody>
                  <a:tcPr>
                    <a:solidFill>
                      <a:schemeClr val="bg2"/>
                    </a:solidFill>
                  </a:tcPr>
                </a:tc>
                <a:tc>
                  <a:txBody>
                    <a:bodyPr/>
                    <a:lstStyle/>
                    <a:p>
                      <a:r>
                        <a:rPr lang="en-US" sz="1200" dirty="0"/>
                        <a:t>1.85</a:t>
                      </a:r>
                    </a:p>
                  </a:txBody>
                  <a:tcPr>
                    <a:solidFill>
                      <a:schemeClr val="bg2"/>
                    </a:solidFill>
                  </a:tcPr>
                </a:tc>
                <a:extLst>
                  <a:ext uri="{0D108BD9-81ED-4DB2-BD59-A6C34878D82A}">
                    <a16:rowId xmlns:a16="http://schemas.microsoft.com/office/drawing/2014/main" val="1468553211"/>
                  </a:ext>
                </a:extLst>
              </a:tr>
              <a:tr h="327887">
                <a:tc>
                  <a:txBody>
                    <a:bodyPr/>
                    <a:lstStyle/>
                    <a:p>
                      <a:r>
                        <a:rPr lang="en-US" sz="1200" dirty="0"/>
                        <a:t>Unknown</a:t>
                      </a:r>
                    </a:p>
                  </a:txBody>
                  <a:tcPr>
                    <a:solidFill>
                      <a:schemeClr val="bg2"/>
                    </a:solidFill>
                  </a:tcPr>
                </a:tc>
                <a:tc>
                  <a:txBody>
                    <a:bodyPr/>
                    <a:lstStyle/>
                    <a:p>
                      <a:r>
                        <a:rPr lang="en-US" sz="1200" dirty="0"/>
                        <a:t>2.02</a:t>
                      </a:r>
                    </a:p>
                  </a:txBody>
                  <a:tcPr>
                    <a:solidFill>
                      <a:schemeClr val="bg2"/>
                    </a:solidFill>
                  </a:tcPr>
                </a:tc>
                <a:extLst>
                  <a:ext uri="{0D108BD9-81ED-4DB2-BD59-A6C34878D82A}">
                    <a16:rowId xmlns:a16="http://schemas.microsoft.com/office/drawing/2014/main" val="3446963874"/>
                  </a:ext>
                </a:extLst>
              </a:tr>
            </a:tbl>
          </a:graphicData>
        </a:graphic>
      </p:graphicFrame>
      <p:pic>
        <p:nvPicPr>
          <p:cNvPr id="10" name="Picture 9" descr="A graph of red and white bars&#10;&#10;AI-generated content may be incorrect.">
            <a:extLst>
              <a:ext uri="{FF2B5EF4-FFF2-40B4-BE49-F238E27FC236}">
                <a16:creationId xmlns:a16="http://schemas.microsoft.com/office/drawing/2014/main" id="{45EAC857-EB79-6715-4DF8-375260D60D00}"/>
              </a:ext>
            </a:extLst>
          </p:cNvPr>
          <p:cNvPicPr>
            <a:picLocks noChangeAspect="1"/>
          </p:cNvPicPr>
          <p:nvPr/>
        </p:nvPicPr>
        <p:blipFill>
          <a:blip r:embed="rId3"/>
          <a:stretch>
            <a:fillRect/>
          </a:stretch>
        </p:blipFill>
        <p:spPr>
          <a:xfrm>
            <a:off x="4687747" y="573159"/>
            <a:ext cx="3997182" cy="1998591"/>
          </a:xfrm>
          <a:prstGeom prst="rect">
            <a:avLst/>
          </a:prstGeom>
        </p:spPr>
      </p:pic>
    </p:spTree>
    <p:extLst>
      <p:ext uri="{BB962C8B-B14F-4D97-AF65-F5344CB8AC3E}">
        <p14:creationId xmlns:p14="http://schemas.microsoft.com/office/powerpoint/2010/main" val="2305418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22FDCEE-BE03-3E19-7A98-9DE0DDF902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003DA3-B07D-C5A3-18C2-7F36869061E0}"/>
              </a:ext>
            </a:extLst>
          </p:cNvPr>
          <p:cNvSpPr txBox="1"/>
          <p:nvPr/>
        </p:nvSpPr>
        <p:spPr>
          <a:xfrm>
            <a:off x="130116" y="3327618"/>
            <a:ext cx="8643494" cy="1292662"/>
          </a:xfrm>
          <a:prstGeom prst="rect">
            <a:avLst/>
          </a:prstGeom>
          <a:noFill/>
        </p:spPr>
        <p:txBody>
          <a:bodyPr wrap="square" rtlCol="0">
            <a:spAutoFit/>
          </a:bodyPr>
          <a:lstStyle/>
          <a:p>
            <a:r>
              <a:rPr lang="en-US" sz="1300" dirty="0"/>
              <a:t>The bulk of people have just a couple secondary factors listed and many have none. </a:t>
            </a:r>
          </a:p>
          <a:p>
            <a:endParaRPr lang="en-US" sz="1300" dirty="0"/>
          </a:p>
          <a:p>
            <a:r>
              <a:rPr lang="en-US" sz="1300" dirty="0"/>
              <a:t>Perhaps the higher number of secondary factors among men and negligible differences reflects a trade-off where some lower-income people receive worst care so less factors are listed but also have more secondary conditions which obscures a pattern in summary statistics. Rather than look at the average number of secondary factors maybe we should be looking at the frequency of 0 or 1 secondary factors. </a:t>
            </a:r>
          </a:p>
        </p:txBody>
      </p:sp>
      <p:pic>
        <p:nvPicPr>
          <p:cNvPr id="7" name="Picture 6" descr="A graph with a blue and black grid&#10;&#10;AI-generated content may be incorrect.">
            <a:extLst>
              <a:ext uri="{FF2B5EF4-FFF2-40B4-BE49-F238E27FC236}">
                <a16:creationId xmlns:a16="http://schemas.microsoft.com/office/drawing/2014/main" id="{93A2EC51-F103-F55E-6542-53F39429497D}"/>
              </a:ext>
            </a:extLst>
          </p:cNvPr>
          <p:cNvPicPr>
            <a:picLocks noChangeAspect="1"/>
          </p:cNvPicPr>
          <p:nvPr/>
        </p:nvPicPr>
        <p:blipFill>
          <a:blip r:embed="rId3"/>
          <a:stretch>
            <a:fillRect/>
          </a:stretch>
        </p:blipFill>
        <p:spPr>
          <a:xfrm>
            <a:off x="1018571" y="230150"/>
            <a:ext cx="5127586" cy="2930049"/>
          </a:xfrm>
          <a:prstGeom prst="rect">
            <a:avLst/>
          </a:prstGeom>
        </p:spPr>
      </p:pic>
    </p:spTree>
    <p:extLst>
      <p:ext uri="{BB962C8B-B14F-4D97-AF65-F5344CB8AC3E}">
        <p14:creationId xmlns:p14="http://schemas.microsoft.com/office/powerpoint/2010/main" val="142675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FFC30841-0E9E-802C-2CE9-CFD6337DE10F}"/>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94F891AC-586A-AE03-F8EA-9E107ED95BD1}"/>
              </a:ext>
            </a:extLst>
          </p:cNvPr>
          <p:cNvSpPr txBox="1"/>
          <p:nvPr/>
        </p:nvSpPr>
        <p:spPr>
          <a:xfrm>
            <a:off x="557940" y="823449"/>
            <a:ext cx="7467312" cy="627300"/>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The average number of listed secondary factors was 1.99</a:t>
            </a:r>
          </a:p>
        </p:txBody>
      </p:sp>
      <p:graphicFrame>
        <p:nvGraphicFramePr>
          <p:cNvPr id="2" name="Table 1">
            <a:extLst>
              <a:ext uri="{FF2B5EF4-FFF2-40B4-BE49-F238E27FC236}">
                <a16:creationId xmlns:a16="http://schemas.microsoft.com/office/drawing/2014/main" id="{91592132-B11E-B81F-4A46-C8DE3D6C5C1F}"/>
              </a:ext>
            </a:extLst>
          </p:cNvPr>
          <p:cNvGraphicFramePr>
            <a:graphicFrameLocks noGrp="1"/>
          </p:cNvGraphicFramePr>
          <p:nvPr>
            <p:extLst>
              <p:ext uri="{D42A27DB-BD31-4B8C-83A1-F6EECF244321}">
                <p14:modId xmlns:p14="http://schemas.microsoft.com/office/powerpoint/2010/main" val="482413192"/>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Percentage with 0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23.3%</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23.6%</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16.5%</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22.0%</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555B5884-7BB1-5CCA-FC00-C2DDD2CCA13C}"/>
              </a:ext>
            </a:extLst>
          </p:cNvPr>
          <p:cNvGraphicFramePr>
            <a:graphicFrameLocks noGrp="1"/>
          </p:cNvGraphicFramePr>
          <p:nvPr>
            <p:extLst>
              <p:ext uri="{D42A27DB-BD31-4B8C-83A1-F6EECF244321}">
                <p14:modId xmlns:p14="http://schemas.microsoft.com/office/powerpoint/2010/main" val="795770034"/>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25.3%</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21.3%</a:t>
                      </a:r>
                    </a:p>
                  </a:txBody>
                  <a:tcPr/>
                </a:tc>
                <a:extLst>
                  <a:ext uri="{0D108BD9-81ED-4DB2-BD59-A6C34878D82A}">
                    <a16:rowId xmlns:a16="http://schemas.microsoft.com/office/drawing/2014/main" val="3998251909"/>
                  </a:ext>
                </a:extLst>
              </a:tr>
            </a:tbl>
          </a:graphicData>
        </a:graphic>
      </p:graphicFrame>
      <p:sp>
        <p:nvSpPr>
          <p:cNvPr id="6" name="Google Shape;59;p14">
            <a:extLst>
              <a:ext uri="{FF2B5EF4-FFF2-40B4-BE49-F238E27FC236}">
                <a16:creationId xmlns:a16="http://schemas.microsoft.com/office/drawing/2014/main" id="{0F6E46C3-C1A3-507D-82C6-68F61AF12395}"/>
              </a:ext>
            </a:extLst>
          </p:cNvPr>
          <p:cNvSpPr txBox="1">
            <a:spLocks/>
          </p:cNvSpPr>
          <p:nvPr/>
        </p:nvSpPr>
        <p:spPr>
          <a:xfrm>
            <a:off x="311700" y="196149"/>
            <a:ext cx="8520600" cy="627300"/>
          </a:xfrm>
          <a:prstGeom prst="rect">
            <a:avLst/>
          </a:prstGeom>
        </p:spPr>
        <p:txBody>
          <a:bodyPr spcFirstLastPara="1" vert="horz" wrap="square" lIns="91425" tIns="91425" rIns="91425" bIns="91425"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SzPts val="990"/>
            </a:pPr>
            <a:r>
              <a:rPr lang="en-CA" sz="2800" dirty="0"/>
              <a:t>Proportion with 0 secondary factors listed</a:t>
            </a:r>
          </a:p>
        </p:txBody>
      </p:sp>
      <p:pic>
        <p:nvPicPr>
          <p:cNvPr id="8" name="Picture 7" descr="A graph with red bars&#10;&#10;AI-generated content may be incorrect.">
            <a:extLst>
              <a:ext uri="{FF2B5EF4-FFF2-40B4-BE49-F238E27FC236}">
                <a16:creationId xmlns:a16="http://schemas.microsoft.com/office/drawing/2014/main" id="{B67B7EC8-55EA-D4E4-68FC-CA45107192DE}"/>
              </a:ext>
            </a:extLst>
          </p:cNvPr>
          <p:cNvPicPr>
            <a:picLocks noChangeAspect="1"/>
          </p:cNvPicPr>
          <p:nvPr/>
        </p:nvPicPr>
        <p:blipFill>
          <a:blip r:embed="rId3"/>
          <a:stretch>
            <a:fillRect/>
          </a:stretch>
        </p:blipFill>
        <p:spPr>
          <a:xfrm>
            <a:off x="5472077" y="3287427"/>
            <a:ext cx="3503365" cy="1751683"/>
          </a:xfrm>
          <a:prstGeom prst="rect">
            <a:avLst/>
          </a:prstGeom>
        </p:spPr>
      </p:pic>
      <p:sp>
        <p:nvSpPr>
          <p:cNvPr id="9" name="Google Shape;60;p14">
            <a:extLst>
              <a:ext uri="{FF2B5EF4-FFF2-40B4-BE49-F238E27FC236}">
                <a16:creationId xmlns:a16="http://schemas.microsoft.com/office/drawing/2014/main" id="{9E175F52-1C8D-E6DB-38B2-9062CCFE6F1F}"/>
              </a:ext>
            </a:extLst>
          </p:cNvPr>
          <p:cNvSpPr txBox="1"/>
          <p:nvPr/>
        </p:nvSpPr>
        <p:spPr>
          <a:xfrm>
            <a:off x="311700" y="3762118"/>
            <a:ext cx="4814936" cy="1185233"/>
          </a:xfrm>
          <a:prstGeom prst="rect">
            <a:avLst/>
          </a:prstGeom>
          <a:noFill/>
          <a:ln>
            <a:noFill/>
          </a:ln>
        </p:spPr>
        <p:txBody>
          <a:bodyPr spcFirstLastPara="1" wrap="square" lIns="91425" tIns="91425" rIns="91425" bIns="91425" anchor="t" anchorCtr="0">
            <a:noAutofit/>
          </a:bodyPr>
          <a:lstStyle/>
          <a:p>
            <a:pPr lvl="0"/>
            <a:r>
              <a:rPr lang="en-CA" sz="1400" b="1" dirty="0">
                <a:solidFill>
                  <a:schemeClr val="dk2"/>
                </a:solidFill>
              </a:rPr>
              <a:t>Women are about 4% more likely to have 0 secondary factors listed. This drops to 1.5% when age and underlying cause of death are controlled for. </a:t>
            </a:r>
          </a:p>
        </p:txBody>
      </p:sp>
    </p:spTree>
    <p:extLst>
      <p:ext uri="{BB962C8B-B14F-4D97-AF65-F5344CB8AC3E}">
        <p14:creationId xmlns:p14="http://schemas.microsoft.com/office/powerpoint/2010/main" val="497847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D4F842-9D29-84F8-5FCB-4052AEEE327C}"/>
              </a:ext>
            </a:extLst>
          </p:cNvPr>
          <p:cNvSpPr>
            <a:spLocks noGrp="1"/>
          </p:cNvSpPr>
          <p:nvPr>
            <p:ph type="title"/>
          </p:nvPr>
        </p:nvSpPr>
        <p:spPr>
          <a:xfrm>
            <a:off x="1143002" y="1499711"/>
            <a:ext cx="6858000" cy="2073021"/>
          </a:xfrm>
        </p:spPr>
        <p:txBody>
          <a:bodyPr vert="horz" lIns="91440" tIns="45720" rIns="91440" bIns="45720" rtlCol="0" anchor="ctr">
            <a:normAutofit/>
          </a:bodyPr>
          <a:lstStyle/>
          <a:p>
            <a:pPr algn="ctr" defTabSz="914400"/>
            <a:r>
              <a:rPr lang="en-US" sz="5400" kern="1200" dirty="0">
                <a:solidFill>
                  <a:schemeClr val="tx1"/>
                </a:solidFill>
                <a:latin typeface="+mj-lt"/>
                <a:ea typeface="+mj-ea"/>
                <a:cs typeface="+mj-cs"/>
              </a:rPr>
              <a:t>Autopsies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4143589"/>
            <a:ext cx="3566160" cy="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576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8B67-F4DB-7672-3BF0-F1E353A6A10B}"/>
            </a:ext>
          </a:extLst>
        </p:cNvPr>
        <p:cNvGrpSpPr/>
        <p:nvPr/>
      </p:nvGrpSpPr>
      <p:grpSpPr>
        <a:xfrm>
          <a:off x="0" y="0"/>
          <a:ext cx="0" cy="0"/>
          <a:chOff x="0" y="0"/>
          <a:chExt cx="0" cy="0"/>
        </a:xfrm>
      </p:grpSpPr>
      <p:pic>
        <p:nvPicPr>
          <p:cNvPr id="10" name="Picture 9" descr="A group of red and blue bars&#10;&#10;AI-generated content may be incorrect.">
            <a:extLst>
              <a:ext uri="{FF2B5EF4-FFF2-40B4-BE49-F238E27FC236}">
                <a16:creationId xmlns:a16="http://schemas.microsoft.com/office/drawing/2014/main" id="{5974EFA1-C4DC-74FC-689B-0E18096B3B99}"/>
              </a:ext>
            </a:extLst>
          </p:cNvPr>
          <p:cNvPicPr>
            <a:picLocks noChangeAspect="1"/>
          </p:cNvPicPr>
          <p:nvPr/>
        </p:nvPicPr>
        <p:blipFill>
          <a:blip r:embed="rId2"/>
          <a:srcRect b="23990"/>
          <a:stretch>
            <a:fillRect/>
          </a:stretch>
        </p:blipFill>
        <p:spPr>
          <a:xfrm>
            <a:off x="168621" y="188595"/>
            <a:ext cx="8879910" cy="4821174"/>
          </a:xfrm>
          <a:prstGeom prst="rect">
            <a:avLst/>
          </a:prstGeom>
        </p:spPr>
      </p:pic>
    </p:spTree>
    <p:extLst>
      <p:ext uri="{BB962C8B-B14F-4D97-AF65-F5344CB8AC3E}">
        <p14:creationId xmlns:p14="http://schemas.microsoft.com/office/powerpoint/2010/main" val="3878297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6363-ECF6-E281-DC74-68504A5C96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014D9A-AC98-24D3-BFA9-8E5E2DCC97C9}"/>
              </a:ext>
            </a:extLst>
          </p:cNvPr>
          <p:cNvSpPr txBox="1"/>
          <p:nvPr/>
        </p:nvSpPr>
        <p:spPr>
          <a:xfrm>
            <a:off x="1007033" y="898498"/>
            <a:ext cx="7277431" cy="2585323"/>
          </a:xfrm>
          <a:prstGeom prst="rect">
            <a:avLst/>
          </a:prstGeom>
          <a:noFill/>
        </p:spPr>
        <p:txBody>
          <a:bodyPr wrap="square" rtlCol="0">
            <a:spAutoFit/>
          </a:bodyPr>
          <a:lstStyle/>
          <a:p>
            <a:r>
              <a:rPr lang="en-US" b="1" dirty="0"/>
              <a:t>Men were more than twice as likely as women to be autopsied (11.6% </a:t>
            </a:r>
            <a:r>
              <a:rPr lang="en-US" b="1" dirty="0" err="1"/>
              <a:t>v.s</a:t>
            </a:r>
            <a:r>
              <a:rPr lang="en-US" b="1" dirty="0"/>
              <a:t>. 5.4%).</a:t>
            </a:r>
          </a:p>
          <a:p>
            <a:endParaRPr lang="en-US" dirty="0"/>
          </a:p>
          <a:p>
            <a:r>
              <a:rPr lang="en-US" dirty="0"/>
              <a:t>Some of this is explained by men dying younger and likely also that they die less “natural” CODs which are more likely autopsied (see the extra charts at the end with the frequency of autopsy for each 113 types of CODs). </a:t>
            </a:r>
          </a:p>
          <a:p>
            <a:endParaRPr lang="en-US" dirty="0"/>
          </a:p>
          <a:p>
            <a:r>
              <a:rPr lang="en-US" dirty="0"/>
              <a:t>After controlling for age of death, there remains a 3% difference in the likelihood of men </a:t>
            </a:r>
            <a:r>
              <a:rPr lang="en-US" dirty="0" err="1"/>
              <a:t>v.s</a:t>
            </a:r>
            <a:r>
              <a:rPr lang="en-US" dirty="0"/>
              <a:t>. women getting an autopsy. </a:t>
            </a:r>
          </a:p>
        </p:txBody>
      </p:sp>
    </p:spTree>
    <p:extLst>
      <p:ext uri="{BB962C8B-B14F-4D97-AF65-F5344CB8AC3E}">
        <p14:creationId xmlns:p14="http://schemas.microsoft.com/office/powerpoint/2010/main" val="790870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7964F-3755-D205-B98C-C9DD4E068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1D9A2-F5ED-01B0-4E27-11B6F22CAD0D}"/>
              </a:ext>
            </a:extLst>
          </p:cNvPr>
          <p:cNvSpPr>
            <a:spLocks noGrp="1"/>
          </p:cNvSpPr>
          <p:nvPr>
            <p:ph type="title"/>
          </p:nvPr>
        </p:nvSpPr>
        <p:spPr>
          <a:xfrm>
            <a:off x="989726" y="242705"/>
            <a:ext cx="7164547" cy="880877"/>
          </a:xfrm>
        </p:spPr>
        <p:txBody>
          <a:bodyPr vert="horz" lIns="91440" tIns="45720" rIns="91440" bIns="45720" rtlCol="0" anchor="ctr">
            <a:normAutofit/>
          </a:bodyPr>
          <a:lstStyle/>
          <a:p>
            <a:pPr algn="ctr" defTabSz="914400"/>
            <a:r>
              <a:rPr lang="en-US" sz="2800" kern="1200" dirty="0">
                <a:solidFill>
                  <a:schemeClr val="tx1"/>
                </a:solidFill>
                <a:latin typeface="+mj-lt"/>
                <a:ea typeface="+mj-ea"/>
                <a:cs typeface="+mj-cs"/>
              </a:rPr>
              <a:t>How correlated are the various indices?</a:t>
            </a:r>
          </a:p>
        </p:txBody>
      </p:sp>
      <p:graphicFrame>
        <p:nvGraphicFramePr>
          <p:cNvPr id="3" name="Table 2">
            <a:extLst>
              <a:ext uri="{FF2B5EF4-FFF2-40B4-BE49-F238E27FC236}">
                <a16:creationId xmlns:a16="http://schemas.microsoft.com/office/drawing/2014/main" id="{C3293098-34D3-5354-2E18-83CDA499244F}"/>
              </a:ext>
            </a:extLst>
          </p:cNvPr>
          <p:cNvGraphicFramePr>
            <a:graphicFrameLocks noGrp="1"/>
          </p:cNvGraphicFramePr>
          <p:nvPr>
            <p:extLst>
              <p:ext uri="{D42A27DB-BD31-4B8C-83A1-F6EECF244321}">
                <p14:modId xmlns:p14="http://schemas.microsoft.com/office/powerpoint/2010/main" val="953901795"/>
              </p:ext>
            </p:extLst>
          </p:nvPr>
        </p:nvGraphicFramePr>
        <p:xfrm>
          <a:off x="1523999" y="1564987"/>
          <a:ext cx="6096000" cy="2867660"/>
        </p:xfrm>
        <a:graphic>
          <a:graphicData uri="http://schemas.openxmlformats.org/drawingml/2006/table">
            <a:tbl>
              <a:tblPr firstRow="1" bandRow="1">
                <a:tableStyleId>{BFA11F67-8BD6-47EC-9F71-6CD8F6C066F8}</a:tableStyleId>
              </a:tblPr>
              <a:tblGrid>
                <a:gridCol w="1219200">
                  <a:extLst>
                    <a:ext uri="{9D8B030D-6E8A-4147-A177-3AD203B41FA5}">
                      <a16:colId xmlns:a16="http://schemas.microsoft.com/office/drawing/2014/main" val="2572032102"/>
                    </a:ext>
                  </a:extLst>
                </a:gridCol>
                <a:gridCol w="1219200">
                  <a:extLst>
                    <a:ext uri="{9D8B030D-6E8A-4147-A177-3AD203B41FA5}">
                      <a16:colId xmlns:a16="http://schemas.microsoft.com/office/drawing/2014/main" val="2250459716"/>
                    </a:ext>
                  </a:extLst>
                </a:gridCol>
                <a:gridCol w="1219200">
                  <a:extLst>
                    <a:ext uri="{9D8B030D-6E8A-4147-A177-3AD203B41FA5}">
                      <a16:colId xmlns:a16="http://schemas.microsoft.com/office/drawing/2014/main" val="1316372145"/>
                    </a:ext>
                  </a:extLst>
                </a:gridCol>
                <a:gridCol w="1219200">
                  <a:extLst>
                    <a:ext uri="{9D8B030D-6E8A-4147-A177-3AD203B41FA5}">
                      <a16:colId xmlns:a16="http://schemas.microsoft.com/office/drawing/2014/main" val="801414885"/>
                    </a:ext>
                  </a:extLst>
                </a:gridCol>
                <a:gridCol w="1219200">
                  <a:extLst>
                    <a:ext uri="{9D8B030D-6E8A-4147-A177-3AD203B41FA5}">
                      <a16:colId xmlns:a16="http://schemas.microsoft.com/office/drawing/2014/main" val="1213647871"/>
                    </a:ext>
                  </a:extLst>
                </a:gridCol>
              </a:tblGrid>
              <a:tr h="370840">
                <a:tc>
                  <a:txBody>
                    <a:bodyPr/>
                    <a:lstStyle/>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Has factor</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Number of Secondary factors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Proportion Garbage Codes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Has autopsy</a:t>
                      </a:r>
                    </a:p>
                  </a:txBody>
                  <a:tcPr/>
                </a:tc>
                <a:extLst>
                  <a:ext uri="{0D108BD9-81ED-4DB2-BD59-A6C34878D82A}">
                    <a16:rowId xmlns:a16="http://schemas.microsoft.com/office/drawing/2014/main" val="3377668949"/>
                  </a:ext>
                </a:extLst>
              </a:tr>
              <a:tr h="370840">
                <a:tc>
                  <a:txBody>
                    <a:bodyPr/>
                    <a:lstStyle/>
                    <a:p>
                      <a:r>
                        <a:rPr lang="en-US" dirty="0"/>
                        <a:t>Has factor</a:t>
                      </a:r>
                    </a:p>
                  </a:txBody>
                  <a:tcPr/>
                </a:tc>
                <a:tc>
                  <a:txBody>
                    <a:bodyPr/>
                    <a:lstStyle/>
                    <a:p>
                      <a:r>
                        <a:rPr lang="en-US" dirty="0"/>
                        <a:t>1</a:t>
                      </a:r>
                    </a:p>
                  </a:txBody>
                  <a:tcPr/>
                </a:tc>
                <a:tc>
                  <a:txBody>
                    <a:bodyPr/>
                    <a:lstStyle/>
                    <a:p>
                      <a:r>
                        <a:rPr lang="en-US" dirty="0"/>
                        <a:t>-0.75</a:t>
                      </a:r>
                    </a:p>
                  </a:txBody>
                  <a:tcPr/>
                </a:tc>
                <a:tc>
                  <a:txBody>
                    <a:bodyPr/>
                    <a:lstStyle/>
                    <a:p>
                      <a:r>
                        <a:rPr lang="en-US" dirty="0"/>
                        <a:t>-0.01</a:t>
                      </a:r>
                    </a:p>
                  </a:txBody>
                  <a:tcPr/>
                </a:tc>
                <a:tc>
                  <a:txBody>
                    <a:bodyPr/>
                    <a:lstStyle/>
                    <a:p>
                      <a:r>
                        <a:rPr lang="en-US" dirty="0"/>
                        <a:t>-0.08</a:t>
                      </a:r>
                    </a:p>
                  </a:txBody>
                  <a:tcPr/>
                </a:tc>
                <a:extLst>
                  <a:ext uri="{0D108BD9-81ED-4DB2-BD59-A6C34878D82A}">
                    <a16:rowId xmlns:a16="http://schemas.microsoft.com/office/drawing/2014/main" val="1246191932"/>
                  </a:ext>
                </a:extLst>
              </a:tr>
              <a:tr h="370840">
                <a:tc>
                  <a:txBody>
                    <a:bodyPr/>
                    <a:lstStyle/>
                    <a:p>
                      <a:r>
                        <a:rPr lang="en-US" dirty="0"/>
                        <a:t>Number of Secondary factors</a:t>
                      </a:r>
                    </a:p>
                  </a:txBody>
                  <a:tcPr/>
                </a:tc>
                <a:tc>
                  <a:txBody>
                    <a:bodyPr/>
                    <a:lstStyle/>
                    <a:p>
                      <a:r>
                        <a:rPr lang="en-US" dirty="0"/>
                        <a:t>-0.75</a:t>
                      </a:r>
                    </a:p>
                  </a:txBody>
                  <a:tcPr/>
                </a:tc>
                <a:tc>
                  <a:txBody>
                    <a:bodyPr/>
                    <a:lstStyle/>
                    <a:p>
                      <a:r>
                        <a:rPr lang="en-US" dirty="0"/>
                        <a:t>1</a:t>
                      </a:r>
                    </a:p>
                  </a:txBody>
                  <a:tcPr/>
                </a:tc>
                <a:tc>
                  <a:txBody>
                    <a:bodyPr/>
                    <a:lstStyle/>
                    <a:p>
                      <a:r>
                        <a:rPr lang="en-US" dirty="0"/>
                        <a:t>0.04</a:t>
                      </a:r>
                    </a:p>
                  </a:txBody>
                  <a:tcPr/>
                </a:tc>
                <a:tc>
                  <a:txBody>
                    <a:bodyPr/>
                    <a:lstStyle/>
                    <a:p>
                      <a:r>
                        <a:rPr lang="en-US" dirty="0"/>
                        <a:t>0.04</a:t>
                      </a:r>
                    </a:p>
                  </a:txBody>
                  <a:tcPr/>
                </a:tc>
                <a:extLst>
                  <a:ext uri="{0D108BD9-81ED-4DB2-BD59-A6C34878D82A}">
                    <a16:rowId xmlns:a16="http://schemas.microsoft.com/office/drawing/2014/main" val="1366650135"/>
                  </a:ext>
                </a:extLst>
              </a:tr>
              <a:tr h="370840">
                <a:tc>
                  <a:txBody>
                    <a:bodyPr/>
                    <a:lstStyle/>
                    <a:p>
                      <a:r>
                        <a:rPr lang="en-US" dirty="0"/>
                        <a:t>Proportion Garbage Codes</a:t>
                      </a:r>
                    </a:p>
                  </a:txBody>
                  <a:tcPr>
                    <a:solidFill>
                      <a:schemeClr val="bg2">
                        <a:lumMod val="90000"/>
                      </a:schemeClr>
                    </a:solidFill>
                  </a:tcPr>
                </a:tc>
                <a:tc>
                  <a:txBody>
                    <a:bodyPr/>
                    <a:lstStyle/>
                    <a:p>
                      <a:r>
                        <a:rPr lang="en-US" dirty="0"/>
                        <a:t>-0.01</a:t>
                      </a:r>
                    </a:p>
                  </a:txBody>
                  <a:tcPr>
                    <a:solidFill>
                      <a:schemeClr val="bg2">
                        <a:lumMod val="90000"/>
                      </a:schemeClr>
                    </a:solidFill>
                  </a:tcPr>
                </a:tc>
                <a:tc>
                  <a:txBody>
                    <a:bodyPr/>
                    <a:lstStyle/>
                    <a:p>
                      <a:r>
                        <a:rPr lang="en-US" dirty="0"/>
                        <a:t>0.04</a:t>
                      </a:r>
                    </a:p>
                  </a:txBody>
                  <a:tcPr>
                    <a:solidFill>
                      <a:schemeClr val="bg2">
                        <a:lumMod val="90000"/>
                      </a:schemeClr>
                    </a:solidFill>
                  </a:tcPr>
                </a:tc>
                <a:tc>
                  <a:txBody>
                    <a:bodyPr/>
                    <a:lstStyle/>
                    <a:p>
                      <a:r>
                        <a:rPr lang="en-US" dirty="0"/>
                        <a:t>1</a:t>
                      </a:r>
                    </a:p>
                  </a:txBody>
                  <a:tcPr>
                    <a:solidFill>
                      <a:schemeClr val="bg2">
                        <a:lumMod val="90000"/>
                      </a:schemeClr>
                    </a:solidFill>
                  </a:tcPr>
                </a:tc>
                <a:tc>
                  <a:txBody>
                    <a:bodyPr/>
                    <a:lstStyle/>
                    <a:p>
                      <a:r>
                        <a:rPr lang="en-US" dirty="0"/>
                        <a:t>0.2</a:t>
                      </a:r>
                    </a:p>
                  </a:txBody>
                  <a:tcPr>
                    <a:solidFill>
                      <a:schemeClr val="bg2">
                        <a:lumMod val="90000"/>
                      </a:schemeClr>
                    </a:solidFill>
                  </a:tcPr>
                </a:tc>
                <a:extLst>
                  <a:ext uri="{0D108BD9-81ED-4DB2-BD59-A6C34878D82A}">
                    <a16:rowId xmlns:a16="http://schemas.microsoft.com/office/drawing/2014/main" val="1068586889"/>
                  </a:ext>
                </a:extLst>
              </a:tr>
              <a:tr h="370840">
                <a:tc>
                  <a:txBody>
                    <a:bodyPr/>
                    <a:lstStyle/>
                    <a:p>
                      <a:r>
                        <a:rPr lang="en-US" dirty="0"/>
                        <a:t>Has autopsy</a:t>
                      </a:r>
                    </a:p>
                  </a:txBody>
                  <a:tcPr/>
                </a:tc>
                <a:tc>
                  <a:txBody>
                    <a:bodyPr/>
                    <a:lstStyle/>
                    <a:p>
                      <a:r>
                        <a:rPr lang="en-US" dirty="0"/>
                        <a:t>-0.08</a:t>
                      </a:r>
                    </a:p>
                  </a:txBody>
                  <a:tcPr/>
                </a:tc>
                <a:tc>
                  <a:txBody>
                    <a:bodyPr/>
                    <a:lstStyle/>
                    <a:p>
                      <a:r>
                        <a:rPr lang="en-US" dirty="0"/>
                        <a:t>0.04</a:t>
                      </a:r>
                    </a:p>
                  </a:txBody>
                  <a:tcPr/>
                </a:tc>
                <a:tc>
                  <a:txBody>
                    <a:bodyPr/>
                    <a:lstStyle/>
                    <a:p>
                      <a:r>
                        <a:rPr lang="en-US" dirty="0"/>
                        <a:t>0.2</a:t>
                      </a:r>
                    </a:p>
                  </a:txBody>
                  <a:tcPr/>
                </a:tc>
                <a:tc>
                  <a:txBody>
                    <a:bodyPr/>
                    <a:lstStyle/>
                    <a:p>
                      <a:r>
                        <a:rPr lang="en-US" dirty="0"/>
                        <a:t>1</a:t>
                      </a:r>
                    </a:p>
                  </a:txBody>
                  <a:tcPr/>
                </a:tc>
                <a:extLst>
                  <a:ext uri="{0D108BD9-81ED-4DB2-BD59-A6C34878D82A}">
                    <a16:rowId xmlns:a16="http://schemas.microsoft.com/office/drawing/2014/main" val="1656283439"/>
                  </a:ext>
                </a:extLst>
              </a:tr>
            </a:tbl>
          </a:graphicData>
        </a:graphic>
      </p:graphicFrame>
      <p:sp>
        <p:nvSpPr>
          <p:cNvPr id="4" name="Title 1">
            <a:extLst>
              <a:ext uri="{FF2B5EF4-FFF2-40B4-BE49-F238E27FC236}">
                <a16:creationId xmlns:a16="http://schemas.microsoft.com/office/drawing/2014/main" id="{2B432554-F866-36E1-FC28-D41B47C44075}"/>
              </a:ext>
            </a:extLst>
          </p:cNvPr>
          <p:cNvSpPr txBox="1">
            <a:spLocks/>
          </p:cNvSpPr>
          <p:nvPr/>
        </p:nvSpPr>
        <p:spPr>
          <a:xfrm>
            <a:off x="712636" y="821690"/>
            <a:ext cx="7164547" cy="88087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defTabSz="914400"/>
            <a:r>
              <a:rPr lang="en-US" sz="1600" dirty="0">
                <a:latin typeface="+mn-lt"/>
              </a:rPr>
              <a:t>The correlation matrix of 4 of the indices. </a:t>
            </a:r>
          </a:p>
        </p:txBody>
      </p:sp>
    </p:spTree>
    <p:extLst>
      <p:ext uri="{BB962C8B-B14F-4D97-AF65-F5344CB8AC3E}">
        <p14:creationId xmlns:p14="http://schemas.microsoft.com/office/powerpoint/2010/main" val="323026282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2106</TotalTime>
  <Words>1700</Words>
  <Application>Microsoft Macintosh PowerPoint</Application>
  <PresentationFormat>On-screen Show (16:9)</PresentationFormat>
  <Paragraphs>330</Paragraphs>
  <Slides>22</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inherit</vt:lpstr>
      <vt:lpstr>Office 2013 - 2022 Theme</vt:lpstr>
      <vt:lpstr>Quality of 2016 US Mortality Data</vt:lpstr>
      <vt:lpstr>ANACONDA Index</vt:lpstr>
      <vt:lpstr>Summary of Things I Looked At</vt:lpstr>
      <vt:lpstr>Data is complete (or very close)</vt:lpstr>
      <vt:lpstr>Biologically Implausible Codes</vt:lpstr>
      <vt:lpstr>Fraction of Garbage Codes and GBD Severity Profile</vt:lpstr>
      <vt:lpstr>Demographics and Percentage Garbage Codes</vt:lpstr>
      <vt:lpstr>PowerPoint Presentation</vt:lpstr>
      <vt:lpstr>PowerPoint Presentation</vt:lpstr>
      <vt:lpstr>PowerPoint Presentation</vt:lpstr>
      <vt:lpstr>What are GBD severities?</vt:lpstr>
      <vt:lpstr>Top 11 Garbage Codes in 2016</vt:lpstr>
      <vt:lpstr>COD detail</vt:lpstr>
      <vt:lpstr>Number of Secondary Factors</vt:lpstr>
      <vt:lpstr>PowerPoint Presentation</vt:lpstr>
      <vt:lpstr>PowerPoint Presentation</vt:lpstr>
      <vt:lpstr>PowerPoint Presentation</vt:lpstr>
      <vt:lpstr>PowerPoint Presentation</vt:lpstr>
      <vt:lpstr>Autopsies</vt:lpstr>
      <vt:lpstr>PowerPoint Presentation</vt:lpstr>
      <vt:lpstr>PowerPoint Presentation</vt:lpstr>
      <vt:lpstr>How correlated are the various indices?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Amy Mann</cp:lastModifiedBy>
  <cp:revision>51</cp:revision>
  <dcterms:modified xsi:type="dcterms:W3CDTF">2025-05-18T02:03:24Z</dcterms:modified>
</cp:coreProperties>
</file>