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829" r:id="rId1"/>
  </p:sldMasterIdLst>
  <p:notesMasterIdLst>
    <p:notesMasterId r:id="rId46"/>
  </p:notesMasterIdLst>
  <p:sldIdLst>
    <p:sldId id="256" r:id="rId2"/>
    <p:sldId id="260" r:id="rId3"/>
    <p:sldId id="261" r:id="rId4"/>
    <p:sldId id="257" r:id="rId5"/>
    <p:sldId id="275" r:id="rId6"/>
    <p:sldId id="258" r:id="rId7"/>
    <p:sldId id="279" r:id="rId8"/>
    <p:sldId id="280" r:id="rId9"/>
    <p:sldId id="282" r:id="rId10"/>
    <p:sldId id="283" r:id="rId11"/>
    <p:sldId id="276" r:id="rId12"/>
    <p:sldId id="259" r:id="rId13"/>
    <p:sldId id="262" r:id="rId14"/>
    <p:sldId id="268" r:id="rId15"/>
    <p:sldId id="273" r:id="rId16"/>
    <p:sldId id="269" r:id="rId17"/>
    <p:sldId id="272" r:id="rId18"/>
    <p:sldId id="274" r:id="rId19"/>
    <p:sldId id="284" r:id="rId20"/>
    <p:sldId id="263" r:id="rId21"/>
    <p:sldId id="264" r:id="rId22"/>
    <p:sldId id="265" r:id="rId23"/>
    <p:sldId id="277" r:id="rId24"/>
    <p:sldId id="285" r:id="rId25"/>
    <p:sldId id="286" r:id="rId26"/>
    <p:sldId id="287" r:id="rId27"/>
    <p:sldId id="288" r:id="rId28"/>
    <p:sldId id="289" r:id="rId29"/>
    <p:sldId id="290" r:id="rId30"/>
    <p:sldId id="291" r:id="rId31"/>
    <p:sldId id="292" r:id="rId32"/>
    <p:sldId id="293" r:id="rId33"/>
    <p:sldId id="294" r:id="rId34"/>
    <p:sldId id="295" r:id="rId35"/>
    <p:sldId id="296" r:id="rId36"/>
    <p:sldId id="308" r:id="rId37"/>
    <p:sldId id="297" r:id="rId38"/>
    <p:sldId id="299" r:id="rId39"/>
    <p:sldId id="301" r:id="rId40"/>
    <p:sldId id="302" r:id="rId41"/>
    <p:sldId id="303" r:id="rId42"/>
    <p:sldId id="305" r:id="rId43"/>
    <p:sldId id="306" r:id="rId44"/>
    <p:sldId id="307" r:id="rId45"/>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FA11F67-8BD6-47EC-9F71-6CD8F6C066F8}">
  <a:tblStyle styleId="{BFA11F67-8BD6-47EC-9F71-6CD8F6C066F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6B56FE9-9935-4933-9EED-B9BDDED56D02}"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757"/>
    <p:restoredTop sz="94694"/>
  </p:normalViewPr>
  <p:slideViewPr>
    <p:cSldViewPr snapToGrid="0">
      <p:cViewPr>
        <p:scale>
          <a:sx n="99" d="100"/>
          <a:sy n="99" d="100"/>
        </p:scale>
        <p:origin x="144" y="11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5D3CEE35-D2F9-55D8-32E2-FAAE4DDB832C}"/>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34075D38-E58C-0855-F6C6-0F037975C8B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9C459F08-4EB3-2E96-C8A4-6898D3A48D6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38432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A9CBAA3B-BC5F-D038-4641-D1B17B2EECFC}"/>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0BDD33B3-32D6-3E68-16C3-A515DE44D6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DFD355AC-1C77-A215-83EF-94DB596E5E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869445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3592c9a7694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DCA5748E-216F-2807-9E65-8808B1251EA2}"/>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C6F0659D-83C2-094F-9D7F-5D5E727DF3D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A88FD501-3564-5E85-66C2-F4E970A002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01424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592c9a7694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592c9a7694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53294316-F55E-2CBC-41C6-F1A7D1E03E32}"/>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DE2B881F-E9F9-8F7D-8A7C-B1DFD563F9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0832D381-84EE-40D8-3E14-3AF8214C70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80449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71E976EB-4363-7977-7A93-24F9F50A239B}"/>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B6454DF5-3BEF-6A69-34DF-7A8DC0AACF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628554B8-21F5-D484-6A8B-DC55FEA9CB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5491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615FE4CC-952F-4DDD-D2A0-54D12462C01F}"/>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3B9D4B7A-26BC-F847-FFC2-597108C054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4F5F0A57-B8CB-A6C1-B42D-0C9A465C84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98267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4F2C59CC-568E-E757-8FCB-00BFB22FD972}"/>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80DCE55C-1233-1842-F4B9-F7E4CC1A99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7EC5FCC5-1781-88EF-A05E-3A925E48E21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47931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4E9BBBA8-B764-1E0C-0897-0525F2D712F5}"/>
            </a:ext>
          </a:extLst>
        </p:cNvPr>
        <p:cNvGrpSpPr/>
        <p:nvPr/>
      </p:nvGrpSpPr>
      <p:grpSpPr>
        <a:xfrm>
          <a:off x="0" y="0"/>
          <a:ext cx="0" cy="0"/>
          <a:chOff x="0" y="0"/>
          <a:chExt cx="0" cy="0"/>
        </a:xfrm>
      </p:grpSpPr>
      <p:sp>
        <p:nvSpPr>
          <p:cNvPr id="62" name="Google Shape;62;g3592c9a7694_0_24:notes">
            <a:extLst>
              <a:ext uri="{FF2B5EF4-FFF2-40B4-BE49-F238E27FC236}">
                <a16:creationId xmlns:a16="http://schemas.microsoft.com/office/drawing/2014/main" id="{90637652-7E29-4C38-6023-1D57AF4CCA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592c9a7694_0_24:notes">
            <a:extLst>
              <a:ext uri="{FF2B5EF4-FFF2-40B4-BE49-F238E27FC236}">
                <a16:creationId xmlns:a16="http://schemas.microsoft.com/office/drawing/2014/main" id="{17B2AC50-5A9D-A5D5-DBA5-72BE583835C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387154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592c9a7694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592c9a7694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9F1EDCD3-32F4-5529-1524-0C14B5A382B8}"/>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BEFE4A4E-9B02-6946-1040-3C962CEEFFE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1199C69B-6469-1F53-F2D1-C65D48975F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912137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11728E4C-4999-666D-EE4A-DE8763DE031C}"/>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C40A4B8E-0FCB-C0B0-73D0-306910C510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CDF57DBB-184B-E98E-AC44-5DF901260D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8745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E1E8B79C-9B79-0AD3-9C40-7A36BD2C5D82}"/>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A692D763-B89D-74C9-F6BF-8BB26D919A0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400C203F-D927-77D1-01FC-48B3819B07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641337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3D50A799-80AC-57E7-561F-74540E3A8736}"/>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BF2AA01E-2B66-42C9-97E6-C89A6F9CB4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5DD611D5-FEDE-F5EB-2DA2-C2E3CA6EDC4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16461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C3B77F0F-7113-86A6-3371-7F8BC5EB95F8}"/>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62E2AC2A-B326-47A0-802C-9930FB5C839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0E3620F8-04AA-27B4-8DA6-028D87162A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324267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8E6A231E-7096-9681-CCD3-CD4EBF3F891D}"/>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8F3B9A9A-143B-9FC4-A931-C7ADE93556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04A4A7D1-4C87-CD4A-78AE-8BA597C348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56880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2C49463D-E285-1726-B9F3-49AD7CE08D50}"/>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C1153858-6892-36E3-0EF4-C3162154AA9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077DDE41-5DA0-F1A9-BA9E-9977EAB63C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861218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84FA9475-E3D9-B833-9007-2253A7EFA56B}"/>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B9FD0CD7-519E-C055-F579-52BF41C167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2ED9C08B-2EEB-6762-44AD-7498FEB810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194022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29BC55C4-F69C-221D-3078-ABC33F558105}"/>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57090546-4CDD-DA7F-35E2-8197C2C182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64E3E675-0D77-1B8C-51B0-9200F9405D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831362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BDB13363-7CBC-FFEF-51CA-A81850E99D5F}"/>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0C9ED55A-BBD0-BC0B-5A70-5EE3E3C00DB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CDABAC4E-E92A-8A8E-B09A-05F0D28851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39075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BE7AB5C6-5232-3BAC-3B3D-BA7766323FDE}"/>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BCA0812F-5254-ADC7-B142-3CEFEC45C52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89BFFA34-468F-7EDA-3B9B-856A420BD1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1182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09B3A8B0-0416-648D-F5DE-E4DCE41956A0}"/>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E33D9414-8E35-6163-BB20-92CF832BEA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B084405B-7BC7-2765-C56C-D0BE5B6B18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704422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9CE6B6EA-F772-F2AB-6E39-3D60920C3A6B}"/>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62820767-A371-CBA4-5F8C-6314852C3B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E5B18915-8589-0DAF-2C0E-F720B52F887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49037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2EA780D2-68BF-D0D6-44F4-987802F96D9C}"/>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089CD3CC-C25F-575E-5F80-76761C5C5BA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9AEC105A-6360-A396-96EA-5C343F18B50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44810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69B73855-72F0-6FA8-65E6-9C39503A117F}"/>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0540F10C-6E1E-F9A7-849D-59383A8FF87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017E76F0-CE12-F374-0EE8-4916D4DC93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96716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a:extLst>
            <a:ext uri="{FF2B5EF4-FFF2-40B4-BE49-F238E27FC236}">
              <a16:creationId xmlns:a16="http://schemas.microsoft.com/office/drawing/2014/main" id="{4EC467A3-A2A2-FD34-1E65-22A1024BB22C}"/>
            </a:ext>
          </a:extLst>
        </p:cNvPr>
        <p:cNvGrpSpPr/>
        <p:nvPr/>
      </p:nvGrpSpPr>
      <p:grpSpPr>
        <a:xfrm>
          <a:off x="0" y="0"/>
          <a:ext cx="0" cy="0"/>
          <a:chOff x="0" y="0"/>
          <a:chExt cx="0" cy="0"/>
        </a:xfrm>
      </p:grpSpPr>
      <p:sp>
        <p:nvSpPr>
          <p:cNvPr id="62" name="Google Shape;62;g3592c9a7694_0_24:notes">
            <a:extLst>
              <a:ext uri="{FF2B5EF4-FFF2-40B4-BE49-F238E27FC236}">
                <a16:creationId xmlns:a16="http://schemas.microsoft.com/office/drawing/2014/main" id="{A9BCD6DD-A507-392F-C5CB-6E0379A3863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592c9a7694_0_24:notes">
            <a:extLst>
              <a:ext uri="{FF2B5EF4-FFF2-40B4-BE49-F238E27FC236}">
                <a16:creationId xmlns:a16="http://schemas.microsoft.com/office/drawing/2014/main" id="{7D0F4065-7F24-1110-ADEA-E94355F969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28486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CE111BBE-8307-70F9-5709-DBC2C33D312C}"/>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6FB2C3C4-A494-9A85-497B-EEE89D6CDD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FB802591-E817-C68E-4B54-1D07A2C2DD3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047304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2D2FCDC5-4AFA-4D56-B026-4E4F3DF94ADC}"/>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D5E17AD6-6543-585E-439F-8FADD25B6AB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FD60FB76-090B-D0B2-FE89-6F0BCAAF96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763976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DD7B71F7-2B8D-20C5-5914-B8DAFFD02D52}"/>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F0B470DE-3391-BC75-A195-211B90BD87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28328BB1-EEF9-4D19-3403-C946CA10B4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25022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9FF907CE-2A30-FC87-0EF5-4F9F8F6E6C70}"/>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696D6B25-DB62-30AE-3AF9-C9E69F7205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74B0FA27-F5F7-CF3B-0C41-33A2E1BD78A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39084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11E681B6-D659-82F4-F398-F7AFC0F1928B}"/>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3AF8AD7C-2E46-AA4C-9B3D-B1F37B0E88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C6BB8B4E-F6AC-DEC0-5219-CD516C8D8D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354243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a:extLst>
            <a:ext uri="{FF2B5EF4-FFF2-40B4-BE49-F238E27FC236}">
              <a16:creationId xmlns:a16="http://schemas.microsoft.com/office/drawing/2014/main" id="{76F67029-CB30-BA9E-4806-46A075F42D1B}"/>
            </a:ext>
          </a:extLst>
        </p:cNvPr>
        <p:cNvGrpSpPr/>
        <p:nvPr/>
      </p:nvGrpSpPr>
      <p:grpSpPr>
        <a:xfrm>
          <a:off x="0" y="0"/>
          <a:ext cx="0" cy="0"/>
          <a:chOff x="0" y="0"/>
          <a:chExt cx="0" cy="0"/>
        </a:xfrm>
      </p:grpSpPr>
      <p:sp>
        <p:nvSpPr>
          <p:cNvPr id="69" name="Google Shape;69;g3592c9a7694_0_12:notes">
            <a:extLst>
              <a:ext uri="{FF2B5EF4-FFF2-40B4-BE49-F238E27FC236}">
                <a16:creationId xmlns:a16="http://schemas.microsoft.com/office/drawing/2014/main" id="{39604232-A34B-4484-FCAB-A1D1CB71280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592c9a7694_0_12:notes">
            <a:extLst>
              <a:ext uri="{FF2B5EF4-FFF2-40B4-BE49-F238E27FC236}">
                <a16:creationId xmlns:a16="http://schemas.microsoft.com/office/drawing/2014/main" id="{AA72D5BC-108F-7E36-9C1D-39F2EB8292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3105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23E390F1-082A-CEC6-0400-CEA9F0ECC1EA}"/>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6A50FA40-2895-4289-1FE0-6894983A8F4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862170BF-6482-EC1C-4020-23628E0D03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62436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20A12163-847F-F4ED-DFD9-0E402D8804D1}"/>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8313D16C-7F9C-DE87-0383-3510C087CA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9925605C-64C0-AF2F-0F52-86BDA74037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004028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7E2C9066-B8A6-D688-10AC-774AF907A789}"/>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CA34A98A-1583-4F1F-5642-AC61238FEC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00850041-13E3-4A81-7BF4-E5F790055B4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18113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C3643055-D2B9-BD10-AF50-0B7994E2A674}"/>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0006BEB4-6E99-E68A-48C8-E3D1F75EBCD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4DBCDDDB-85AF-CCC1-A261-6F0685935D6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549171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C146D9B1-C5AA-25EE-8C81-0546D7A3FBA9}"/>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91D542E4-CF71-AE1A-1C09-E37C3EBA33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6B493AA8-A954-79E6-4CFC-60F5A41678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352223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a:extLst>
            <a:ext uri="{FF2B5EF4-FFF2-40B4-BE49-F238E27FC236}">
              <a16:creationId xmlns:a16="http://schemas.microsoft.com/office/drawing/2014/main" id="{36A4335D-1116-23B6-754E-B6302D6FC408}"/>
            </a:ext>
          </a:extLst>
        </p:cNvPr>
        <p:cNvGrpSpPr/>
        <p:nvPr/>
      </p:nvGrpSpPr>
      <p:grpSpPr>
        <a:xfrm>
          <a:off x="0" y="0"/>
          <a:ext cx="0" cy="0"/>
          <a:chOff x="0" y="0"/>
          <a:chExt cx="0" cy="0"/>
        </a:xfrm>
      </p:grpSpPr>
      <p:sp>
        <p:nvSpPr>
          <p:cNvPr id="56" name="Google Shape;56;g3592c9a7694_0_34:notes">
            <a:extLst>
              <a:ext uri="{FF2B5EF4-FFF2-40B4-BE49-F238E27FC236}">
                <a16:creationId xmlns:a16="http://schemas.microsoft.com/office/drawing/2014/main" id="{7DF35CE4-4E1D-1FD7-9474-69E6C06831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3592c9a7694_0_34:notes">
            <a:extLst>
              <a:ext uri="{FF2B5EF4-FFF2-40B4-BE49-F238E27FC236}">
                <a16:creationId xmlns:a16="http://schemas.microsoft.com/office/drawing/2014/main" id="{2F23D865-3B28-5B78-B6D4-FB2D7438221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89949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52414195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75652391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7"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7"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36768015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8"/>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43065532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83867285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5780331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257682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294957330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401771284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54844306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3"/>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3"/>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96126224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629940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8"/>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5/20/25</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en" smtClean="0"/>
              <a:t>‹#›</a:t>
            </a:fld>
            <a:endParaRPr lang="en"/>
          </a:p>
        </p:txBody>
      </p:sp>
    </p:spTree>
    <p:extLst>
      <p:ext uri="{BB962C8B-B14F-4D97-AF65-F5344CB8AC3E}">
        <p14:creationId xmlns:p14="http://schemas.microsoft.com/office/powerpoint/2010/main" val="1617741031"/>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832" r:id="rId3"/>
    <p:sldLayoutId id="2147483833" r:id="rId4"/>
    <p:sldLayoutId id="2147483834" r:id="rId5"/>
    <p:sldLayoutId id="2147483835" r:id="rId6"/>
    <p:sldLayoutId id="2147483836" r:id="rId7"/>
    <p:sldLayoutId id="2147483837" r:id="rId8"/>
    <p:sldLayoutId id="2147483838" r:id="rId9"/>
    <p:sldLayoutId id="2147483839" r:id="rId10"/>
    <p:sldLayoutId id="2147483840" r:id="rId11"/>
    <p:sldLayoutId id="2147483841"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3"/>
        <p:cNvGrpSpPr/>
        <p:nvPr/>
      </p:nvGrpSpPr>
      <p:grpSpPr>
        <a:xfrm>
          <a:off x="0" y="0"/>
          <a:ext cx="0" cy="0"/>
          <a:chOff x="0" y="0"/>
          <a:chExt cx="0" cy="0"/>
        </a:xfrm>
      </p:grpSpPr>
      <p:sp useBgFill="1">
        <p:nvSpPr>
          <p:cNvPr id="59" name="Rectangle 58">
            <a:extLst>
              <a:ext uri="{FF2B5EF4-FFF2-40B4-BE49-F238E27FC236}">
                <a16:creationId xmlns:a16="http://schemas.microsoft.com/office/drawing/2014/main" id="{1ACA2EA0-FFD3-42EC-9406-B595015ED9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61" name="Rectangle 60">
            <a:extLst>
              <a:ext uri="{FF2B5EF4-FFF2-40B4-BE49-F238E27FC236}">
                <a16:creationId xmlns:a16="http://schemas.microsoft.com/office/drawing/2014/main" id="{D5288BCE-665C-472A-8C43-664BCFA31E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6571" y="935831"/>
            <a:ext cx="6858000" cy="2255585"/>
          </a:xfrm>
          <a:prstGeom prst="rect">
            <a:avLst/>
          </a:prstGeom>
          <a:solidFill>
            <a:schemeClr val="bg1"/>
          </a:solidFill>
          <a:ln w="12700">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54" name="Google Shape;54;p13"/>
          <p:cNvSpPr txBox="1">
            <a:spLocks noGrp="1"/>
          </p:cNvSpPr>
          <p:nvPr>
            <p:ph type="ctrTitle"/>
          </p:nvPr>
        </p:nvSpPr>
        <p:spPr>
          <a:xfrm>
            <a:off x="1353741" y="1081629"/>
            <a:ext cx="6436518" cy="1632996"/>
          </a:xfrm>
          <a:prstGeom prst="rect">
            <a:avLst/>
          </a:prstGeom>
        </p:spPr>
        <p:txBody>
          <a:bodyPr spcFirstLastPara="1" lIns="91425" tIns="91425" rIns="91425" bIns="91425" anchor="ctr" anchorCtr="0">
            <a:normAutofit/>
          </a:bodyPr>
          <a:lstStyle/>
          <a:p>
            <a:pPr marL="0" lvl="0" indent="0" rtl="0">
              <a:spcBef>
                <a:spcPts val="0"/>
              </a:spcBef>
              <a:spcAft>
                <a:spcPts val="0"/>
              </a:spcAft>
              <a:buNone/>
            </a:pPr>
            <a:r>
              <a:rPr lang="en-CA" sz="5000"/>
              <a:t>Quality of 2016 US Mortality Data</a:t>
            </a:r>
          </a:p>
        </p:txBody>
      </p:sp>
      <p:sp>
        <p:nvSpPr>
          <p:cNvPr id="63" name="Rectangle: Rounded Corners 62">
            <a:extLst>
              <a:ext uri="{FF2B5EF4-FFF2-40B4-BE49-F238E27FC236}">
                <a16:creationId xmlns:a16="http://schemas.microsoft.com/office/drawing/2014/main" id="{46C57131-53A7-4C1A-BEA8-25F06A06AD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5904" y="2934241"/>
            <a:ext cx="5419335" cy="51435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E74D520-C484-ED4B-5443-B7509633B915}"/>
              </a:ext>
            </a:extLst>
          </p:cNvPr>
          <p:cNvSpPr txBox="1"/>
          <p:nvPr/>
        </p:nvSpPr>
        <p:spPr>
          <a:xfrm>
            <a:off x="3511296" y="3008081"/>
            <a:ext cx="1628716" cy="369332"/>
          </a:xfrm>
          <a:prstGeom prst="rect">
            <a:avLst/>
          </a:prstGeom>
          <a:noFill/>
        </p:spPr>
        <p:txBody>
          <a:bodyPr wrap="none" rtlCol="0">
            <a:spAutoFit/>
          </a:bodyPr>
          <a:lstStyle/>
          <a:p>
            <a:r>
              <a:rPr lang="en-US" dirty="0"/>
              <a:t>Week 2 Update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8">
          <a:extLst>
            <a:ext uri="{FF2B5EF4-FFF2-40B4-BE49-F238E27FC236}">
              <a16:creationId xmlns:a16="http://schemas.microsoft.com/office/drawing/2014/main" id="{AF697BAF-B125-C33C-126A-7D6391A73DBB}"/>
            </a:ext>
          </a:extLst>
        </p:cNvPr>
        <p:cNvGrpSpPr/>
        <p:nvPr/>
      </p:nvGrpSpPr>
      <p:grpSpPr>
        <a:xfrm>
          <a:off x="0" y="0"/>
          <a:ext cx="0" cy="0"/>
          <a:chOff x="0" y="0"/>
          <a:chExt cx="0" cy="0"/>
        </a:xfrm>
      </p:grpSpPr>
      <p:sp useBgFill="1">
        <p:nvSpPr>
          <p:cNvPr id="65" name="Rectangle 64">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6" y="0"/>
            <a:ext cx="9141714"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66">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656521" y="0"/>
            <a:ext cx="851299" cy="358498"/>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9" name="Google Shape;59;p14">
            <a:extLst>
              <a:ext uri="{FF2B5EF4-FFF2-40B4-BE49-F238E27FC236}">
                <a16:creationId xmlns:a16="http://schemas.microsoft.com/office/drawing/2014/main" id="{477C8D8E-8B30-09AE-B9BD-C0E9B687E874}"/>
              </a:ext>
            </a:extLst>
          </p:cNvPr>
          <p:cNvSpPr txBox="1">
            <a:spLocks noGrp="1"/>
          </p:cNvSpPr>
          <p:nvPr>
            <p:ph type="ctrTitle"/>
          </p:nvPr>
        </p:nvSpPr>
        <p:spPr>
          <a:xfrm>
            <a:off x="1030986" y="199736"/>
            <a:ext cx="7886700" cy="994173"/>
          </a:xfrm>
          <a:prstGeom prst="rect">
            <a:avLst/>
          </a:prstGeom>
        </p:spPr>
        <p:txBody>
          <a:bodyPr spcFirstLastPara="1" vert="horz" lIns="91440" tIns="45720" rIns="91440" bIns="45720" rtlCol="0" anchor="ctr" anchorCtr="0">
            <a:normAutofit/>
          </a:bodyPr>
          <a:lstStyle/>
          <a:p>
            <a:pPr marL="0" lvl="0" indent="0" algn="l" defTabSz="914400">
              <a:spcAft>
                <a:spcPts val="0"/>
              </a:spcAft>
              <a:buSzPts val="990"/>
            </a:pPr>
            <a:r>
              <a:rPr lang="en-US" sz="3200" kern="1200" dirty="0">
                <a:solidFill>
                  <a:schemeClr val="tx1"/>
                </a:solidFill>
                <a:latin typeface="+mj-lt"/>
                <a:ea typeface="+mj-ea"/>
                <a:cs typeface="+mj-cs"/>
              </a:rPr>
              <a:t>ANACONDA Index</a:t>
            </a:r>
          </a:p>
        </p:txBody>
      </p:sp>
      <p:sp>
        <p:nvSpPr>
          <p:cNvPr id="69" name="Arc 68">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416783" y="1637417"/>
            <a:ext cx="3062575" cy="3062575"/>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60" name="Google Shape;60;p14">
            <a:extLst>
              <a:ext uri="{FF2B5EF4-FFF2-40B4-BE49-F238E27FC236}">
                <a16:creationId xmlns:a16="http://schemas.microsoft.com/office/drawing/2014/main" id="{76953108-8CB2-F7B3-9575-0F7EBEEE26EA}"/>
              </a:ext>
            </a:extLst>
          </p:cNvPr>
          <p:cNvSpPr txBox="1"/>
          <p:nvPr/>
        </p:nvSpPr>
        <p:spPr>
          <a:xfrm>
            <a:off x="942975" y="1122330"/>
            <a:ext cx="7886700" cy="3263504"/>
          </a:xfrm>
          <a:prstGeom prst="rect">
            <a:avLst/>
          </a:prstGeom>
        </p:spPr>
        <p:txBody>
          <a:bodyPr spcFirstLastPara="1" vert="horz" lIns="91440" tIns="45720" rIns="91440" bIns="45720" rtlCol="0" anchorCtr="0">
            <a:normAutofit/>
          </a:bodyPr>
          <a:lstStyle/>
          <a:p>
            <a:pPr lvl="0" defTabSz="914400">
              <a:lnSpc>
                <a:spcPct val="90000"/>
              </a:lnSpc>
              <a:spcAft>
                <a:spcPts val="600"/>
              </a:spcAft>
            </a:pPr>
            <a:r>
              <a:rPr lang="en-US" sz="1200" dirty="0"/>
              <a:t>1.* Completeness of death registration</a:t>
            </a:r>
          </a:p>
          <a:p>
            <a:pPr lvl="0" defTabSz="914400">
              <a:lnSpc>
                <a:spcPct val="90000"/>
              </a:lnSpc>
              <a:spcAft>
                <a:spcPts val="600"/>
              </a:spcAft>
            </a:pPr>
            <a:r>
              <a:rPr lang="en-US" sz="1200" dirty="0"/>
              <a:t>	- this is unimportant for our dataset</a:t>
            </a:r>
          </a:p>
          <a:p>
            <a:pPr lvl="0" defTabSz="914400">
              <a:lnSpc>
                <a:spcPct val="90000"/>
              </a:lnSpc>
              <a:spcAft>
                <a:spcPts val="600"/>
              </a:spcAft>
            </a:pPr>
            <a:r>
              <a:rPr lang="en-US" sz="1200" dirty="0"/>
              <a:t>2. Fraction of ‘garbage’ codes in the data</a:t>
            </a:r>
          </a:p>
          <a:p>
            <a:pPr lvl="0" defTabSz="914400">
              <a:lnSpc>
                <a:spcPct val="90000"/>
              </a:lnSpc>
              <a:spcAft>
                <a:spcPts val="600"/>
              </a:spcAft>
            </a:pPr>
            <a:r>
              <a:rPr lang="en-US" sz="1200" dirty="0"/>
              <a:t>3.* Amount of COD detail in the COD list used</a:t>
            </a:r>
          </a:p>
          <a:p>
            <a:pPr lvl="0" defTabSz="914400">
              <a:lnSpc>
                <a:spcPct val="90000"/>
              </a:lnSpc>
              <a:spcAft>
                <a:spcPts val="600"/>
              </a:spcAft>
            </a:pPr>
            <a:r>
              <a:rPr lang="en-US" sz="1200" dirty="0"/>
              <a:t>	- The ANACONDA model simply calculates the number of different categories used for underlying cause of death rather than looking at the number of secondary factors listed. I think both are interesting</a:t>
            </a:r>
          </a:p>
          <a:p>
            <a:pPr lvl="0" defTabSz="914400">
              <a:lnSpc>
                <a:spcPct val="90000"/>
              </a:lnSpc>
              <a:spcAft>
                <a:spcPts val="600"/>
              </a:spcAft>
            </a:pPr>
            <a:r>
              <a:rPr lang="en-US" sz="1200" dirty="0"/>
              <a:t>4.* Extent to which age and sex of deceased are not recorded</a:t>
            </a:r>
          </a:p>
          <a:p>
            <a:pPr lvl="0" defTabSz="914400">
              <a:lnSpc>
                <a:spcPct val="90000"/>
              </a:lnSpc>
              <a:spcAft>
                <a:spcPts val="600"/>
              </a:spcAft>
            </a:pPr>
            <a:r>
              <a:rPr lang="en-US" sz="1200" dirty="0"/>
              <a:t>5.* Number of biologically implausible causes found in the data (i.e. highly unlikely of impossible causes for a given age-sex category)</a:t>
            </a:r>
          </a:p>
          <a:p>
            <a:pPr lvl="0" indent="-228600" defTabSz="914400">
              <a:lnSpc>
                <a:spcPct val="90000"/>
              </a:lnSpc>
              <a:spcAft>
                <a:spcPts val="600"/>
              </a:spcAft>
              <a:buFont typeface="Arial" panose="020B0604020202020204" pitchFamily="34" charset="0"/>
              <a:buChar char="•"/>
            </a:pPr>
            <a:endParaRPr lang="en-US" sz="1200" dirty="0"/>
          </a:p>
          <a:p>
            <a:pPr lvl="0" defTabSz="914400">
              <a:lnSpc>
                <a:spcPct val="90000"/>
              </a:lnSpc>
              <a:spcAft>
                <a:spcPts val="600"/>
              </a:spcAft>
            </a:pPr>
            <a:r>
              <a:rPr lang="en-US" sz="1200" dirty="0"/>
              <a:t>I think only fraction of ‘garbage’ codes is useful in our case and maybe amount of </a:t>
            </a:r>
            <a:r>
              <a:rPr lang="en-US" sz="1200"/>
              <a:t>COD detail.</a:t>
            </a:r>
            <a:endParaRPr lang="en-US" sz="1200" dirty="0"/>
          </a:p>
          <a:p>
            <a:pPr lvl="0" indent="-228600" defTabSz="914400">
              <a:lnSpc>
                <a:spcPct val="90000"/>
              </a:lnSpc>
              <a:spcAft>
                <a:spcPts val="600"/>
              </a:spcAft>
              <a:buFont typeface="Arial" panose="020B0604020202020204" pitchFamily="34" charset="0"/>
              <a:buChar char="•"/>
            </a:pPr>
            <a:endParaRPr lang="en-US" sz="1200" dirty="0"/>
          </a:p>
          <a:p>
            <a:pPr lvl="0" defTabSz="914400">
              <a:lnSpc>
                <a:spcPct val="90000"/>
              </a:lnSpc>
              <a:spcAft>
                <a:spcPts val="600"/>
              </a:spcAft>
            </a:pPr>
            <a:r>
              <a:rPr lang="en-US" sz="1200" dirty="0"/>
              <a:t>The final index is calculated as:  </a:t>
            </a:r>
            <a:r>
              <a:rPr lang="en-US" sz="1200" dirty="0" err="1"/>
              <a:t>completeness_score</a:t>
            </a:r>
            <a:r>
              <a:rPr lang="en-US" sz="1200" dirty="0"/>
              <a:t>  * (1 - </a:t>
            </a:r>
            <a:r>
              <a:rPr lang="en-US" sz="1200" dirty="0" err="1"/>
              <a:t>garbage_fraction</a:t>
            </a:r>
            <a:r>
              <a:rPr lang="en-US" sz="1200" dirty="0"/>
              <a:t>) * </a:t>
            </a:r>
            <a:r>
              <a:rPr lang="en-US" sz="1200" dirty="0" err="1"/>
              <a:t>level_of_detail</a:t>
            </a:r>
            <a:r>
              <a:rPr lang="en-US" sz="1200" dirty="0"/>
              <a:t> *  (1 - </a:t>
            </a:r>
            <a:r>
              <a:rPr lang="en-US" sz="1200" dirty="0" err="1"/>
              <a:t>missing_age_sex</a:t>
            </a:r>
            <a:r>
              <a:rPr lang="en-US" sz="1200" dirty="0"/>
              <a:t>)   *  (1 - </a:t>
            </a:r>
            <a:r>
              <a:rPr lang="en-US" sz="1200" dirty="0" err="1"/>
              <a:t>implausible_codes</a:t>
            </a:r>
            <a:r>
              <a:rPr lang="en-US" sz="1200" dirty="0"/>
              <a:t>) </a:t>
            </a:r>
          </a:p>
        </p:txBody>
      </p:sp>
    </p:spTree>
    <p:extLst>
      <p:ext uri="{BB962C8B-B14F-4D97-AF65-F5344CB8AC3E}">
        <p14:creationId xmlns:p14="http://schemas.microsoft.com/office/powerpoint/2010/main" val="18875715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38B3BB1F-D969-941F-E8E0-221381E689DE}"/>
            </a:ext>
          </a:extLst>
        </p:cNvPr>
        <p:cNvGrpSpPr/>
        <p:nvPr/>
      </p:nvGrpSpPr>
      <p:grpSpPr>
        <a:xfrm>
          <a:off x="0" y="0"/>
          <a:ext cx="0" cy="0"/>
          <a:chOff x="0" y="0"/>
          <a:chExt cx="0" cy="0"/>
        </a:xfrm>
      </p:grpSpPr>
      <p:sp>
        <p:nvSpPr>
          <p:cNvPr id="59" name="Google Shape;59;p14">
            <a:extLst>
              <a:ext uri="{FF2B5EF4-FFF2-40B4-BE49-F238E27FC236}">
                <a16:creationId xmlns:a16="http://schemas.microsoft.com/office/drawing/2014/main" id="{13857AA7-B08C-538C-8991-F4E2368F1DD8}"/>
              </a:ext>
            </a:extLst>
          </p:cNvPr>
          <p:cNvSpPr txBox="1">
            <a:spLocks noGrp="1"/>
          </p:cNvSpPr>
          <p:nvPr>
            <p:ph type="ctrTitle"/>
          </p:nvPr>
        </p:nvSpPr>
        <p:spPr>
          <a:xfrm>
            <a:off x="311700" y="120087"/>
            <a:ext cx="8520600" cy="62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CA" sz="2400" dirty="0"/>
              <a:t>Summary of Things I Looked At</a:t>
            </a:r>
          </a:p>
        </p:txBody>
      </p:sp>
      <p:sp>
        <p:nvSpPr>
          <p:cNvPr id="60" name="Google Shape;60;p14">
            <a:extLst>
              <a:ext uri="{FF2B5EF4-FFF2-40B4-BE49-F238E27FC236}">
                <a16:creationId xmlns:a16="http://schemas.microsoft.com/office/drawing/2014/main" id="{67DB86F6-2136-A012-1DA0-86FA6A911DDD}"/>
              </a:ext>
            </a:extLst>
          </p:cNvPr>
          <p:cNvSpPr txBox="1"/>
          <p:nvPr/>
        </p:nvSpPr>
        <p:spPr>
          <a:xfrm>
            <a:off x="470643" y="747387"/>
            <a:ext cx="8202713" cy="4183637"/>
          </a:xfrm>
          <a:prstGeom prst="rect">
            <a:avLst/>
          </a:prstGeom>
          <a:noFill/>
          <a:ln>
            <a:noFill/>
          </a:ln>
        </p:spPr>
        <p:txBody>
          <a:bodyPr spcFirstLastPara="1" wrap="square" lIns="91425" tIns="91425" rIns="91425" bIns="91425" anchor="t" anchorCtr="0">
            <a:noAutofit/>
          </a:bodyPr>
          <a:lstStyle/>
          <a:p>
            <a:pPr lvl="0"/>
            <a:r>
              <a:rPr lang="en-CA" dirty="0">
                <a:solidFill>
                  <a:schemeClr val="dk2"/>
                </a:solidFill>
              </a:rPr>
              <a:t>1.* Completeness of death registration</a:t>
            </a:r>
          </a:p>
          <a:p>
            <a:pPr lvl="0"/>
            <a:r>
              <a:rPr lang="en-CA" dirty="0">
                <a:solidFill>
                  <a:schemeClr val="dk2"/>
                </a:solidFill>
              </a:rPr>
              <a:t>		- this is unimportant for our dataset</a:t>
            </a:r>
          </a:p>
          <a:p>
            <a:pPr lvl="0"/>
            <a:r>
              <a:rPr lang="en-CA" dirty="0">
                <a:solidFill>
                  <a:schemeClr val="dk2"/>
                </a:solidFill>
              </a:rPr>
              <a:t>2. Fraction of ‘garbage’ codes in the data</a:t>
            </a:r>
          </a:p>
          <a:p>
            <a:pPr lvl="0"/>
            <a:r>
              <a:rPr lang="en-CA" dirty="0">
                <a:solidFill>
                  <a:schemeClr val="dk2"/>
                </a:solidFill>
              </a:rPr>
              <a:t>3.* Amount of COD detail in the COD list used</a:t>
            </a:r>
          </a:p>
          <a:p>
            <a:pPr lvl="0"/>
            <a:r>
              <a:rPr lang="en-CA" dirty="0">
                <a:solidFill>
                  <a:schemeClr val="dk2"/>
                </a:solidFill>
              </a:rPr>
              <a:t>		- The ANACONDA model simply calculates the number of different codes used for underlying cause of death rather</a:t>
            </a:r>
          </a:p>
          <a:p>
            <a:pPr lvl="0"/>
            <a:r>
              <a:rPr lang="en-CA" dirty="0">
                <a:solidFill>
                  <a:schemeClr val="dk2"/>
                </a:solidFill>
              </a:rPr>
              <a:t>4. * Number of biologically implausible causes found in the data (i.e. highly unlikely of impossible causes for a given age-sex category)</a:t>
            </a:r>
          </a:p>
          <a:p>
            <a:pPr lvl="0"/>
            <a:r>
              <a:rPr lang="en-CA" dirty="0">
                <a:solidFill>
                  <a:srgbClr val="FF0000"/>
                </a:solidFill>
              </a:rPr>
              <a:t>5. Autopsy frequency </a:t>
            </a:r>
          </a:p>
          <a:p>
            <a:pPr lvl="0"/>
            <a:r>
              <a:rPr lang="en-CA" dirty="0">
                <a:solidFill>
                  <a:srgbClr val="FF0000"/>
                </a:solidFill>
              </a:rPr>
              <a:t>6. Average number secondary factors recorded. </a:t>
            </a:r>
          </a:p>
          <a:p>
            <a:pPr lvl="0"/>
            <a:r>
              <a:rPr lang="en-CA" dirty="0">
                <a:solidFill>
                  <a:srgbClr val="FF0000"/>
                </a:solidFill>
              </a:rPr>
              <a:t>7. Frequency that one or no secondary factors were recorded.</a:t>
            </a:r>
          </a:p>
          <a:p>
            <a:pPr lvl="0"/>
            <a:endParaRPr lang="en-CA" dirty="0">
              <a:solidFill>
                <a:schemeClr val="dk2"/>
              </a:solidFill>
            </a:endParaRPr>
          </a:p>
          <a:p>
            <a:pPr lvl="0"/>
            <a:r>
              <a:rPr lang="en-CA" sz="1400" dirty="0">
                <a:solidFill>
                  <a:srgbClr val="FF0000"/>
                </a:solidFill>
              </a:rPr>
              <a:t>Ones in red are not part of ANACONDA</a:t>
            </a:r>
          </a:p>
          <a:p>
            <a:pPr lvl="0"/>
            <a:r>
              <a:rPr lang="en-CA" sz="1400" dirty="0"/>
              <a:t>* Less relevant for United States</a:t>
            </a:r>
          </a:p>
          <a:p>
            <a:pPr lvl="0"/>
            <a:r>
              <a:rPr lang="en-CA" sz="1400" dirty="0">
                <a:solidFill>
                  <a:schemeClr val="dk2"/>
                </a:solidFill>
              </a:rPr>
              <a:t>Is there a way to evaluate if some secondary codes are better than others?</a:t>
            </a:r>
          </a:p>
        </p:txBody>
      </p:sp>
    </p:spTree>
    <p:extLst>
      <p:ext uri="{BB962C8B-B14F-4D97-AF65-F5344CB8AC3E}">
        <p14:creationId xmlns:p14="http://schemas.microsoft.com/office/powerpoint/2010/main" val="36065181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4"/>
          <p:cNvSpPr txBox="1">
            <a:spLocks noGrp="1"/>
          </p:cNvSpPr>
          <p:nvPr>
            <p:ph type="ctrTitle"/>
          </p:nvPr>
        </p:nvSpPr>
        <p:spPr>
          <a:xfrm>
            <a:off x="311700" y="526125"/>
            <a:ext cx="8520600" cy="62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2800" dirty="0"/>
              <a:t>Data is complete (or very close)</a:t>
            </a:r>
            <a:endParaRPr sz="2800" dirty="0"/>
          </a:p>
        </p:txBody>
      </p:sp>
      <p:sp>
        <p:nvSpPr>
          <p:cNvPr id="60" name="Google Shape;60;p14"/>
          <p:cNvSpPr txBox="1"/>
          <p:nvPr/>
        </p:nvSpPr>
        <p:spPr>
          <a:xfrm>
            <a:off x="1136000" y="1669075"/>
            <a:ext cx="6798600" cy="272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dirty="0">
                <a:solidFill>
                  <a:schemeClr val="dk2"/>
                </a:solidFill>
              </a:rPr>
              <a:t>The ANACONDA completeness model finds that the US mortality data is 98% complete which is within a standard error of 100% (the model has uncertainty of 3-5%).</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 sz="1800" dirty="0">
                <a:solidFill>
                  <a:schemeClr val="dk2"/>
                </a:solidFill>
              </a:rPr>
              <a:t>Measuring exactly how complete US mortality is would require a more precise model.</a:t>
            </a:r>
            <a:endParaRPr sz="1800" dirty="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DA974519-BF79-C04A-95F8-89E6CD55586D}"/>
            </a:ext>
          </a:extLst>
        </p:cNvPr>
        <p:cNvGrpSpPr/>
        <p:nvPr/>
      </p:nvGrpSpPr>
      <p:grpSpPr>
        <a:xfrm>
          <a:off x="0" y="0"/>
          <a:ext cx="0" cy="0"/>
          <a:chOff x="0" y="0"/>
          <a:chExt cx="0" cy="0"/>
        </a:xfrm>
      </p:grpSpPr>
      <p:sp>
        <p:nvSpPr>
          <p:cNvPr id="59" name="Google Shape;59;p14">
            <a:extLst>
              <a:ext uri="{FF2B5EF4-FFF2-40B4-BE49-F238E27FC236}">
                <a16:creationId xmlns:a16="http://schemas.microsoft.com/office/drawing/2014/main" id="{6C94330C-2143-2DB9-5286-F03104385AB3}"/>
              </a:ext>
            </a:extLst>
          </p:cNvPr>
          <p:cNvSpPr txBox="1">
            <a:spLocks noGrp="1"/>
          </p:cNvSpPr>
          <p:nvPr>
            <p:ph type="ctrTitle"/>
          </p:nvPr>
        </p:nvSpPr>
        <p:spPr>
          <a:xfrm>
            <a:off x="311700" y="526125"/>
            <a:ext cx="8520600" cy="62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2800" dirty="0"/>
              <a:t>Biologically Implausible Codes</a:t>
            </a:r>
            <a:endParaRPr sz="2800" dirty="0"/>
          </a:p>
        </p:txBody>
      </p:sp>
      <p:sp>
        <p:nvSpPr>
          <p:cNvPr id="60" name="Google Shape;60;p14">
            <a:extLst>
              <a:ext uri="{FF2B5EF4-FFF2-40B4-BE49-F238E27FC236}">
                <a16:creationId xmlns:a16="http://schemas.microsoft.com/office/drawing/2014/main" id="{D07044D1-24E4-CFF0-1D4F-95FA4F03E8B3}"/>
              </a:ext>
            </a:extLst>
          </p:cNvPr>
          <p:cNvSpPr txBox="1"/>
          <p:nvPr/>
        </p:nvSpPr>
        <p:spPr>
          <a:xfrm>
            <a:off x="1004341" y="1469036"/>
            <a:ext cx="6930259" cy="2926439"/>
          </a:xfrm>
          <a:prstGeom prst="rect">
            <a:avLst/>
          </a:prstGeom>
          <a:noFill/>
          <a:ln>
            <a:noFill/>
          </a:ln>
        </p:spPr>
        <p:txBody>
          <a:bodyPr spcFirstLastPara="1" wrap="square" lIns="91425" tIns="91425" rIns="91425" bIns="91425" anchor="t" anchorCtr="0">
            <a:noAutofit/>
          </a:bodyPr>
          <a:lstStyle/>
          <a:p>
            <a:r>
              <a:rPr lang="en" sz="1800" dirty="0">
                <a:solidFill>
                  <a:schemeClr val="dk2"/>
                </a:solidFill>
              </a:rPr>
              <a:t>The ANACONDA </a:t>
            </a:r>
            <a:r>
              <a:rPr lang="en-CA" sz="1800" dirty="0">
                <a:solidFill>
                  <a:schemeClr val="dk2"/>
                </a:solidFill>
              </a:rPr>
              <a:t>model looks at garbage codes as well as biologically implausible codes (age / sex combination). The Ellingsen paper on Norway assumes that the number of biologically implausible codes is incredibly small (&lt;3% according to ANACONDA model) so it ignores them. </a:t>
            </a:r>
            <a:endParaRPr sz="1800" dirty="0">
              <a:solidFill>
                <a:schemeClr val="dk2"/>
              </a:solidFill>
            </a:endParaRPr>
          </a:p>
          <a:p>
            <a:pPr marL="0" lvl="0" indent="0" algn="l" rtl="0">
              <a:spcBef>
                <a:spcPts val="0"/>
              </a:spcBef>
              <a:spcAft>
                <a:spcPts val="0"/>
              </a:spcAft>
              <a:buNone/>
            </a:pPr>
            <a:endParaRPr sz="1800" dirty="0">
              <a:solidFill>
                <a:schemeClr val="dk2"/>
              </a:solidFill>
            </a:endParaRPr>
          </a:p>
          <a:p>
            <a:pPr marL="0" lvl="0" indent="0" algn="l" rtl="0">
              <a:spcBef>
                <a:spcPts val="0"/>
              </a:spcBef>
              <a:spcAft>
                <a:spcPts val="0"/>
              </a:spcAft>
              <a:buNone/>
            </a:pPr>
            <a:r>
              <a:rPr lang="en" sz="1800" dirty="0">
                <a:solidFill>
                  <a:schemeClr val="dk2"/>
                </a:solidFill>
              </a:rPr>
              <a:t>I think the same assumption can be made about the United States data.</a:t>
            </a:r>
          </a:p>
          <a:p>
            <a:pPr marL="0" lvl="0" indent="0" algn="l" rtl="0">
              <a:spcBef>
                <a:spcPts val="0"/>
              </a:spcBef>
              <a:spcAft>
                <a:spcPts val="0"/>
              </a:spcAft>
              <a:buNone/>
            </a:pPr>
            <a:r>
              <a:rPr lang="en" dirty="0">
                <a:solidFill>
                  <a:schemeClr val="dk2"/>
                </a:solidFill>
              </a:rPr>
              <a:t>(Having difficulty finding a list of biologically implausible codes to test this.)</a:t>
            </a:r>
            <a:endParaRPr sz="1800" dirty="0">
              <a:solidFill>
                <a:schemeClr val="dk2"/>
              </a:solidFill>
            </a:endParaRPr>
          </a:p>
        </p:txBody>
      </p:sp>
    </p:spTree>
    <p:extLst>
      <p:ext uri="{BB962C8B-B14F-4D97-AF65-F5344CB8AC3E}">
        <p14:creationId xmlns:p14="http://schemas.microsoft.com/office/powerpoint/2010/main" val="13476005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5"/>
          <p:cNvSpPr txBox="1">
            <a:spLocks noGrp="1"/>
          </p:cNvSpPr>
          <p:nvPr>
            <p:ph type="title"/>
          </p:nvPr>
        </p:nvSpPr>
        <p:spPr>
          <a:xfrm>
            <a:off x="311700" y="4013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Fraction of Garbage Codes and GBD Severity Profile</a:t>
            </a:r>
            <a:endParaRPr dirty="0"/>
          </a:p>
        </p:txBody>
      </p:sp>
      <p:graphicFrame>
        <p:nvGraphicFramePr>
          <p:cNvPr id="66" name="Google Shape;66;p15"/>
          <p:cNvGraphicFramePr/>
          <p:nvPr/>
        </p:nvGraphicFramePr>
        <p:xfrm>
          <a:off x="493200" y="2038675"/>
          <a:ext cx="7239000" cy="1942950"/>
        </p:xfrm>
        <a:graphic>
          <a:graphicData uri="http://schemas.openxmlformats.org/drawingml/2006/table">
            <a:tbl>
              <a:tblPr>
                <a:noFill/>
                <a:tableStyleId>{BFA11F67-8BD6-47EC-9F71-6CD8F6C066F8}</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
                        <a:t>GBD Severity</a:t>
                      </a:r>
                      <a:endParaRPr/>
                    </a:p>
                  </a:txBody>
                  <a:tcPr marL="91425" marR="91425" marT="91425" marB="91425"/>
                </a:tc>
                <a:tc>
                  <a:txBody>
                    <a:bodyPr/>
                    <a:lstStyle/>
                    <a:p>
                      <a:pPr marL="0" lvl="0" indent="0" algn="l" rtl="0">
                        <a:spcBef>
                          <a:spcPts val="0"/>
                        </a:spcBef>
                        <a:spcAft>
                          <a:spcPts val="0"/>
                        </a:spcAft>
                        <a:buNone/>
                      </a:pPr>
                      <a:r>
                        <a:rPr lang="en"/>
                        <a:t>Deaths</a:t>
                      </a:r>
                      <a:endParaRPr/>
                    </a:p>
                  </a:txBody>
                  <a:tcPr marL="91425" marR="91425" marT="91425" marB="91425"/>
                </a:tc>
                <a:tc>
                  <a:txBody>
                    <a:bodyPr/>
                    <a:lstStyle/>
                    <a:p>
                      <a:pPr marL="0" lvl="0" indent="0" algn="l" rtl="0">
                        <a:spcBef>
                          <a:spcPts val="0"/>
                        </a:spcBef>
                        <a:spcAft>
                          <a:spcPts val="0"/>
                        </a:spcAft>
                        <a:buNone/>
                      </a:pPr>
                      <a:r>
                        <a:rPr lang="en"/>
                        <a:t>Share (of garbage codes)</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a:t>1</a:t>
                      </a:r>
                      <a:endParaRPr/>
                    </a:p>
                  </a:txBody>
                  <a:tcPr marL="91425" marR="91425" marT="91425" marB="91425"/>
                </a:tc>
                <a:tc>
                  <a:txBody>
                    <a:bodyPr/>
                    <a:lstStyle/>
                    <a:p>
                      <a:pPr marL="0" lvl="0" indent="0" algn="l" rtl="0">
                        <a:spcBef>
                          <a:spcPts val="0"/>
                        </a:spcBef>
                        <a:spcAft>
                          <a:spcPts val="0"/>
                        </a:spcAft>
                        <a:buNone/>
                      </a:pPr>
                      <a:r>
                        <a:rPr lang="en"/>
                        <a:t>92876</a:t>
                      </a:r>
                      <a:endParaRPr/>
                    </a:p>
                  </a:txBody>
                  <a:tcPr marL="91425" marR="91425" marT="91425" marB="91425"/>
                </a:tc>
                <a:tc>
                  <a:txBody>
                    <a:bodyPr/>
                    <a:lstStyle/>
                    <a:p>
                      <a:pPr marL="0" lvl="0" indent="0" algn="l" rtl="0">
                        <a:spcBef>
                          <a:spcPts val="0"/>
                        </a:spcBef>
                        <a:spcAft>
                          <a:spcPts val="0"/>
                        </a:spcAft>
                        <a:buNone/>
                      </a:pPr>
                      <a:r>
                        <a:rPr lang="en">
                          <a:solidFill>
                            <a:schemeClr val="dk1"/>
                          </a:solidFill>
                          <a:highlight>
                            <a:srgbClr val="FFFFFF"/>
                          </a:highlight>
                        </a:rPr>
                        <a:t>41.3%</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2</a:t>
                      </a:r>
                      <a:endParaRPr/>
                    </a:p>
                  </a:txBody>
                  <a:tcPr marL="91425" marR="91425" marT="91425" marB="91425"/>
                </a:tc>
                <a:tc>
                  <a:txBody>
                    <a:bodyPr/>
                    <a:lstStyle/>
                    <a:p>
                      <a:pPr marL="0" lvl="0" indent="0" algn="l" rtl="0">
                        <a:spcBef>
                          <a:spcPts val="0"/>
                        </a:spcBef>
                        <a:spcAft>
                          <a:spcPts val="0"/>
                        </a:spcAft>
                        <a:buNone/>
                      </a:pPr>
                      <a:r>
                        <a:rPr lang="en"/>
                        <a:t>27631</a:t>
                      </a:r>
                      <a:endParaRPr/>
                    </a:p>
                  </a:txBody>
                  <a:tcPr marL="91425" marR="91425" marT="91425" marB="91425"/>
                </a:tc>
                <a:tc>
                  <a:txBody>
                    <a:bodyPr/>
                    <a:lstStyle/>
                    <a:p>
                      <a:pPr marL="0" lvl="0" indent="0" algn="l" rtl="0">
                        <a:spcBef>
                          <a:spcPts val="0"/>
                        </a:spcBef>
                        <a:spcAft>
                          <a:spcPts val="0"/>
                        </a:spcAft>
                        <a:buNone/>
                      </a:pPr>
                      <a:r>
                        <a:rPr lang="en"/>
                        <a:t>12.2%</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3</a:t>
                      </a:r>
                      <a:endParaRPr/>
                    </a:p>
                  </a:txBody>
                  <a:tcPr marL="91425" marR="91425" marT="91425" marB="91425"/>
                </a:tc>
                <a:tc>
                  <a:txBody>
                    <a:bodyPr/>
                    <a:lstStyle/>
                    <a:p>
                      <a:pPr marL="0" lvl="0" indent="0" algn="l" rtl="0">
                        <a:spcBef>
                          <a:spcPts val="0"/>
                        </a:spcBef>
                        <a:spcAft>
                          <a:spcPts val="0"/>
                        </a:spcAft>
                        <a:buNone/>
                      </a:pPr>
                      <a:r>
                        <a:rPr lang="en"/>
                        <a:t>40578</a:t>
                      </a:r>
                      <a:endParaRPr/>
                    </a:p>
                  </a:txBody>
                  <a:tcPr marL="91425" marR="91425" marT="91425" marB="91425"/>
                </a:tc>
                <a:tc>
                  <a:txBody>
                    <a:bodyPr/>
                    <a:lstStyle/>
                    <a:p>
                      <a:pPr marL="0" lvl="0" indent="0" algn="l" rtl="0">
                        <a:spcBef>
                          <a:spcPts val="0"/>
                        </a:spcBef>
                        <a:spcAft>
                          <a:spcPts val="0"/>
                        </a:spcAft>
                        <a:buNone/>
                      </a:pPr>
                      <a:r>
                        <a:rPr lang="en"/>
                        <a:t>18.06%</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t>4</a:t>
                      </a:r>
                      <a:endParaRPr/>
                    </a:p>
                  </a:txBody>
                  <a:tcPr marL="91425" marR="91425" marT="91425" marB="91425"/>
                </a:tc>
                <a:tc>
                  <a:txBody>
                    <a:bodyPr/>
                    <a:lstStyle/>
                    <a:p>
                      <a:pPr marL="0" lvl="0" indent="0" algn="l" rtl="0">
                        <a:spcBef>
                          <a:spcPts val="0"/>
                        </a:spcBef>
                        <a:spcAft>
                          <a:spcPts val="0"/>
                        </a:spcAft>
                        <a:buNone/>
                      </a:pPr>
                      <a:r>
                        <a:rPr lang="en"/>
                        <a:t>63567</a:t>
                      </a:r>
                      <a:endParaRPr/>
                    </a:p>
                  </a:txBody>
                  <a:tcPr marL="91425" marR="91425" marT="91425" marB="91425"/>
                </a:tc>
                <a:tc>
                  <a:txBody>
                    <a:bodyPr/>
                    <a:lstStyle/>
                    <a:p>
                      <a:pPr marL="0" lvl="0" indent="0" algn="l" rtl="0">
                        <a:spcBef>
                          <a:spcPts val="0"/>
                        </a:spcBef>
                        <a:spcAft>
                          <a:spcPts val="0"/>
                        </a:spcAft>
                        <a:buNone/>
                      </a:pPr>
                      <a:r>
                        <a:rPr lang="en"/>
                        <a:t>28.3%</a:t>
                      </a:r>
                      <a:endParaRPr/>
                    </a:p>
                  </a:txBody>
                  <a:tcPr marL="91425" marR="91425" marT="91425" marB="91425"/>
                </a:tc>
                <a:extLst>
                  <a:ext uri="{0D108BD9-81ED-4DB2-BD59-A6C34878D82A}">
                    <a16:rowId xmlns:a16="http://schemas.microsoft.com/office/drawing/2014/main" val="10004"/>
                  </a:ext>
                </a:extLst>
              </a:tr>
            </a:tbl>
          </a:graphicData>
        </a:graphic>
      </p:graphicFrame>
      <p:sp>
        <p:nvSpPr>
          <p:cNvPr id="67" name="Google Shape;67;p15"/>
          <p:cNvSpPr txBox="1"/>
          <p:nvPr/>
        </p:nvSpPr>
        <p:spPr>
          <a:xfrm>
            <a:off x="493200" y="1262200"/>
            <a:ext cx="6162042" cy="430857"/>
          </a:xfrm>
          <a:prstGeom prst="rect">
            <a:avLst/>
          </a:prstGeom>
          <a:noFill/>
          <a:ln>
            <a:noFill/>
          </a:ln>
        </p:spPr>
        <p:txBody>
          <a:bodyPr spcFirstLastPara="1" wrap="square" lIns="91425" tIns="91425" rIns="91425" bIns="91425" anchor="t" anchorCtr="0">
            <a:spAutoFit/>
          </a:bodyPr>
          <a:lstStyle/>
          <a:p>
            <a:pPr lvl="0"/>
            <a:r>
              <a:rPr lang="en" sz="1600" dirty="0">
                <a:solidFill>
                  <a:schemeClr val="dk1"/>
                </a:solidFill>
              </a:rPr>
              <a:t>In 2016, 8.2% of codes were garbage (underlying cause of death)</a:t>
            </a:r>
            <a:endParaRPr sz="1600" dirty="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0DB523F5-A0CF-3924-D9E1-129E83970C44}"/>
            </a:ext>
          </a:extLst>
        </p:cNvPr>
        <p:cNvGrpSpPr/>
        <p:nvPr/>
      </p:nvGrpSpPr>
      <p:grpSpPr>
        <a:xfrm>
          <a:off x="0" y="0"/>
          <a:ext cx="0" cy="0"/>
          <a:chOff x="0" y="0"/>
          <a:chExt cx="0" cy="0"/>
        </a:xfrm>
      </p:grpSpPr>
      <p:sp>
        <p:nvSpPr>
          <p:cNvPr id="59" name="Google Shape;59;p14">
            <a:extLst>
              <a:ext uri="{FF2B5EF4-FFF2-40B4-BE49-F238E27FC236}">
                <a16:creationId xmlns:a16="http://schemas.microsoft.com/office/drawing/2014/main" id="{353A5942-4858-A52A-BFB7-3D9733F89B54}"/>
              </a:ext>
            </a:extLst>
          </p:cNvPr>
          <p:cNvSpPr txBox="1">
            <a:spLocks noGrp="1"/>
          </p:cNvSpPr>
          <p:nvPr>
            <p:ph type="ctrTitle"/>
          </p:nvPr>
        </p:nvSpPr>
        <p:spPr>
          <a:xfrm>
            <a:off x="311700" y="0"/>
            <a:ext cx="8520600" cy="627300"/>
          </a:xfrm>
          <a:prstGeom prst="rect">
            <a:avLst/>
          </a:prstGeom>
        </p:spPr>
        <p:txBody>
          <a:bodyPr spcFirstLastPara="1" wrap="square" lIns="91425" tIns="91425" rIns="91425" bIns="91425" anchor="b" anchorCtr="0">
            <a:noAutofit/>
          </a:bodyPr>
          <a:lstStyle/>
          <a:p>
            <a:pPr lvl="0">
              <a:spcBef>
                <a:spcPts val="0"/>
              </a:spcBef>
              <a:buSzPts val="990"/>
            </a:pPr>
            <a:r>
              <a:rPr lang="en" sz="2400" dirty="0"/>
              <a:t>Demographics and Percentage Garbage Codes</a:t>
            </a:r>
            <a:endParaRPr sz="2400" dirty="0"/>
          </a:p>
        </p:txBody>
      </p:sp>
      <p:graphicFrame>
        <p:nvGraphicFramePr>
          <p:cNvPr id="2" name="Table 1">
            <a:extLst>
              <a:ext uri="{FF2B5EF4-FFF2-40B4-BE49-F238E27FC236}">
                <a16:creationId xmlns:a16="http://schemas.microsoft.com/office/drawing/2014/main" id="{C4268D0B-A2FE-F44E-C5AA-9DE93BDFEFD6}"/>
              </a:ext>
            </a:extLst>
          </p:cNvPr>
          <p:cNvGraphicFramePr>
            <a:graphicFrameLocks noGrp="1"/>
          </p:cNvGraphicFramePr>
          <p:nvPr>
            <p:extLst>
              <p:ext uri="{D42A27DB-BD31-4B8C-83A1-F6EECF244321}">
                <p14:modId xmlns:p14="http://schemas.microsoft.com/office/powerpoint/2010/main" val="2529906363"/>
              </p:ext>
            </p:extLst>
          </p:nvPr>
        </p:nvGraphicFramePr>
        <p:xfrm>
          <a:off x="311700" y="727976"/>
          <a:ext cx="4973532" cy="1817388"/>
        </p:xfrm>
        <a:graphic>
          <a:graphicData uri="http://schemas.openxmlformats.org/drawingml/2006/table">
            <a:tbl>
              <a:tblPr firstRow="1" bandRow="1">
                <a:tableStyleId>{BFA11F67-8BD6-47EC-9F71-6CD8F6C066F8}</a:tableStyleId>
              </a:tblPr>
              <a:tblGrid>
                <a:gridCol w="2486766">
                  <a:extLst>
                    <a:ext uri="{9D8B030D-6E8A-4147-A177-3AD203B41FA5}">
                      <a16:colId xmlns:a16="http://schemas.microsoft.com/office/drawing/2014/main" val="3989279615"/>
                    </a:ext>
                  </a:extLst>
                </a:gridCol>
                <a:gridCol w="2486766">
                  <a:extLst>
                    <a:ext uri="{9D8B030D-6E8A-4147-A177-3AD203B41FA5}">
                      <a16:colId xmlns:a16="http://schemas.microsoft.com/office/drawing/2014/main" val="4010461188"/>
                    </a:ext>
                  </a:extLst>
                </a:gridCol>
              </a:tblGrid>
              <a:tr h="445659">
                <a:tc>
                  <a:txBody>
                    <a:bodyPr/>
                    <a:lstStyle/>
                    <a:p>
                      <a:r>
                        <a:rPr lang="en-US" dirty="0"/>
                        <a:t>Race</a:t>
                      </a:r>
                    </a:p>
                  </a:txBody>
                  <a:tcPr/>
                </a:tc>
                <a:tc>
                  <a:txBody>
                    <a:bodyPr/>
                    <a:lstStyle/>
                    <a:p>
                      <a:r>
                        <a:rPr lang="en-US" dirty="0"/>
                        <a:t>Percentage garbage codes (%)</a:t>
                      </a:r>
                    </a:p>
                  </a:txBody>
                  <a:tcPr/>
                </a:tc>
                <a:extLst>
                  <a:ext uri="{0D108BD9-81ED-4DB2-BD59-A6C34878D82A}">
                    <a16:rowId xmlns:a16="http://schemas.microsoft.com/office/drawing/2014/main" val="3441494424"/>
                  </a:ext>
                </a:extLst>
              </a:tr>
              <a:tr h="328617">
                <a:tc>
                  <a:txBody>
                    <a:bodyPr/>
                    <a:lstStyle/>
                    <a:p>
                      <a:r>
                        <a:rPr lang="en-US" dirty="0"/>
                        <a:t>White</a:t>
                      </a:r>
                    </a:p>
                  </a:txBody>
                  <a:tcPr>
                    <a:solidFill>
                      <a:schemeClr val="bg2"/>
                    </a:solidFill>
                  </a:tcPr>
                </a:tc>
                <a:tc>
                  <a:txBody>
                    <a:bodyPr/>
                    <a:lstStyle/>
                    <a:p>
                      <a:r>
                        <a:rPr lang="en-US" dirty="0"/>
                        <a:t>8.1</a:t>
                      </a:r>
                    </a:p>
                  </a:txBody>
                  <a:tcPr>
                    <a:solidFill>
                      <a:schemeClr val="bg2"/>
                    </a:solidFill>
                  </a:tcPr>
                </a:tc>
                <a:extLst>
                  <a:ext uri="{0D108BD9-81ED-4DB2-BD59-A6C34878D82A}">
                    <a16:rowId xmlns:a16="http://schemas.microsoft.com/office/drawing/2014/main" val="1978091271"/>
                  </a:ext>
                </a:extLst>
              </a:tr>
              <a:tr h="328617">
                <a:tc>
                  <a:txBody>
                    <a:bodyPr/>
                    <a:lstStyle/>
                    <a:p>
                      <a:r>
                        <a:rPr lang="en-US" dirty="0"/>
                        <a:t>Black</a:t>
                      </a:r>
                    </a:p>
                  </a:txBody>
                  <a:tcPr>
                    <a:solidFill>
                      <a:schemeClr val="bg2"/>
                    </a:solidFill>
                  </a:tcPr>
                </a:tc>
                <a:tc>
                  <a:txBody>
                    <a:bodyPr/>
                    <a:lstStyle/>
                    <a:p>
                      <a:r>
                        <a:rPr lang="en-US" dirty="0"/>
                        <a:t>8.8</a:t>
                      </a:r>
                    </a:p>
                  </a:txBody>
                  <a:tcPr>
                    <a:solidFill>
                      <a:schemeClr val="bg2"/>
                    </a:solidFill>
                  </a:tcPr>
                </a:tc>
                <a:extLst>
                  <a:ext uri="{0D108BD9-81ED-4DB2-BD59-A6C34878D82A}">
                    <a16:rowId xmlns:a16="http://schemas.microsoft.com/office/drawing/2014/main" val="446706471"/>
                  </a:ext>
                </a:extLst>
              </a:tr>
              <a:tr h="328617">
                <a:tc>
                  <a:txBody>
                    <a:bodyPr/>
                    <a:lstStyle/>
                    <a:p>
                      <a:r>
                        <a:rPr lang="en-US" dirty="0"/>
                        <a:t>Indigenous</a:t>
                      </a:r>
                    </a:p>
                  </a:txBody>
                  <a:tcPr>
                    <a:solidFill>
                      <a:schemeClr val="bg2"/>
                    </a:solidFill>
                  </a:tcPr>
                </a:tc>
                <a:tc>
                  <a:txBody>
                    <a:bodyPr/>
                    <a:lstStyle/>
                    <a:p>
                      <a:r>
                        <a:rPr lang="en-US" dirty="0"/>
                        <a:t>8.8</a:t>
                      </a:r>
                    </a:p>
                  </a:txBody>
                  <a:tcPr>
                    <a:solidFill>
                      <a:schemeClr val="bg2"/>
                    </a:solidFill>
                  </a:tcPr>
                </a:tc>
                <a:extLst>
                  <a:ext uri="{0D108BD9-81ED-4DB2-BD59-A6C34878D82A}">
                    <a16:rowId xmlns:a16="http://schemas.microsoft.com/office/drawing/2014/main" val="3537160196"/>
                  </a:ext>
                </a:extLst>
              </a:tr>
              <a:tr h="328617">
                <a:tc>
                  <a:txBody>
                    <a:bodyPr/>
                    <a:lstStyle/>
                    <a:p>
                      <a:r>
                        <a:rPr lang="en-US" dirty="0"/>
                        <a:t>Asian or Pacific Islander </a:t>
                      </a:r>
                    </a:p>
                  </a:txBody>
                  <a:tcPr>
                    <a:solidFill>
                      <a:schemeClr val="bg2"/>
                    </a:solidFill>
                  </a:tcPr>
                </a:tc>
                <a:tc>
                  <a:txBody>
                    <a:bodyPr/>
                    <a:lstStyle/>
                    <a:p>
                      <a:r>
                        <a:rPr lang="en-US" dirty="0"/>
                        <a:t>7.5</a:t>
                      </a:r>
                    </a:p>
                  </a:txBody>
                  <a:tcPr>
                    <a:solidFill>
                      <a:schemeClr val="bg2"/>
                    </a:solidFill>
                  </a:tcPr>
                </a:tc>
                <a:extLst>
                  <a:ext uri="{0D108BD9-81ED-4DB2-BD59-A6C34878D82A}">
                    <a16:rowId xmlns:a16="http://schemas.microsoft.com/office/drawing/2014/main" val="2050751449"/>
                  </a:ext>
                </a:extLst>
              </a:tr>
            </a:tbl>
          </a:graphicData>
        </a:graphic>
      </p:graphicFrame>
      <p:graphicFrame>
        <p:nvGraphicFramePr>
          <p:cNvPr id="4" name="Table 3">
            <a:extLst>
              <a:ext uri="{FF2B5EF4-FFF2-40B4-BE49-F238E27FC236}">
                <a16:creationId xmlns:a16="http://schemas.microsoft.com/office/drawing/2014/main" id="{61AEB430-48E5-3F2A-9A13-1EA7C27EA66A}"/>
              </a:ext>
            </a:extLst>
          </p:cNvPr>
          <p:cNvGraphicFramePr>
            <a:graphicFrameLocks noGrp="1"/>
          </p:cNvGraphicFramePr>
          <p:nvPr>
            <p:extLst>
              <p:ext uri="{D42A27DB-BD31-4B8C-83A1-F6EECF244321}">
                <p14:modId xmlns:p14="http://schemas.microsoft.com/office/powerpoint/2010/main" val="4025733878"/>
              </p:ext>
            </p:extLst>
          </p:nvPr>
        </p:nvGraphicFramePr>
        <p:xfrm>
          <a:off x="5517581" y="903261"/>
          <a:ext cx="2962656" cy="1466818"/>
        </p:xfrm>
        <a:graphic>
          <a:graphicData uri="http://schemas.openxmlformats.org/drawingml/2006/table">
            <a:tbl>
              <a:tblPr firstRow="1" bandRow="1">
                <a:tableStyleId>{BFA11F67-8BD6-47EC-9F71-6CD8F6C066F8}</a:tableStyleId>
              </a:tblPr>
              <a:tblGrid>
                <a:gridCol w="1078992">
                  <a:extLst>
                    <a:ext uri="{9D8B030D-6E8A-4147-A177-3AD203B41FA5}">
                      <a16:colId xmlns:a16="http://schemas.microsoft.com/office/drawing/2014/main" val="1142209065"/>
                    </a:ext>
                  </a:extLst>
                </a:gridCol>
                <a:gridCol w="1883664">
                  <a:extLst>
                    <a:ext uri="{9D8B030D-6E8A-4147-A177-3AD203B41FA5}">
                      <a16:colId xmlns:a16="http://schemas.microsoft.com/office/drawing/2014/main" val="2977386956"/>
                    </a:ext>
                  </a:extLst>
                </a:gridCol>
              </a:tblGrid>
              <a:tr h="527302">
                <a:tc>
                  <a:txBody>
                    <a:bodyPr/>
                    <a:lstStyle/>
                    <a:p>
                      <a:r>
                        <a:rPr lang="en-US" dirty="0"/>
                        <a:t>Sex</a:t>
                      </a:r>
                    </a:p>
                  </a:txBody>
                  <a:tcPr/>
                </a:tc>
                <a:tc>
                  <a:txBody>
                    <a:bodyPr/>
                    <a:lstStyle/>
                    <a:p>
                      <a:r>
                        <a:rPr lang="en-US" dirty="0"/>
                        <a:t>Percentage garbage codes (%)</a:t>
                      </a:r>
                    </a:p>
                  </a:txBody>
                  <a:tcPr/>
                </a:tc>
                <a:extLst>
                  <a:ext uri="{0D108BD9-81ED-4DB2-BD59-A6C34878D82A}">
                    <a16:rowId xmlns:a16="http://schemas.microsoft.com/office/drawing/2014/main" val="1392087711"/>
                  </a:ext>
                </a:extLst>
              </a:tr>
              <a:tr h="469758">
                <a:tc>
                  <a:txBody>
                    <a:bodyPr/>
                    <a:lstStyle/>
                    <a:p>
                      <a:r>
                        <a:rPr lang="en-US" dirty="0"/>
                        <a:t>Female</a:t>
                      </a:r>
                    </a:p>
                  </a:txBody>
                  <a:tcPr/>
                </a:tc>
                <a:tc>
                  <a:txBody>
                    <a:bodyPr/>
                    <a:lstStyle/>
                    <a:p>
                      <a:r>
                        <a:rPr lang="en-US" dirty="0"/>
                        <a:t>8.2</a:t>
                      </a:r>
                    </a:p>
                  </a:txBody>
                  <a:tcPr/>
                </a:tc>
                <a:extLst>
                  <a:ext uri="{0D108BD9-81ED-4DB2-BD59-A6C34878D82A}">
                    <a16:rowId xmlns:a16="http://schemas.microsoft.com/office/drawing/2014/main" val="30744591"/>
                  </a:ext>
                </a:extLst>
              </a:tr>
              <a:tr h="469758">
                <a:tc>
                  <a:txBody>
                    <a:bodyPr/>
                    <a:lstStyle/>
                    <a:p>
                      <a:r>
                        <a:rPr lang="en-US" dirty="0"/>
                        <a:t>Male</a:t>
                      </a:r>
                    </a:p>
                  </a:txBody>
                  <a:tcPr/>
                </a:tc>
                <a:tc>
                  <a:txBody>
                    <a:bodyPr/>
                    <a:lstStyle/>
                    <a:p>
                      <a:r>
                        <a:rPr lang="en-US" dirty="0"/>
                        <a:t>8.1</a:t>
                      </a:r>
                    </a:p>
                  </a:txBody>
                  <a:tcPr/>
                </a:tc>
                <a:extLst>
                  <a:ext uri="{0D108BD9-81ED-4DB2-BD59-A6C34878D82A}">
                    <a16:rowId xmlns:a16="http://schemas.microsoft.com/office/drawing/2014/main" val="3998251909"/>
                  </a:ext>
                </a:extLst>
              </a:tr>
            </a:tbl>
          </a:graphicData>
        </a:graphic>
      </p:graphicFrame>
      <p:graphicFrame>
        <p:nvGraphicFramePr>
          <p:cNvPr id="3" name="Table 2">
            <a:extLst>
              <a:ext uri="{FF2B5EF4-FFF2-40B4-BE49-F238E27FC236}">
                <a16:creationId xmlns:a16="http://schemas.microsoft.com/office/drawing/2014/main" id="{C43F566D-5C9E-00F6-1A16-0341333BA88B}"/>
              </a:ext>
            </a:extLst>
          </p:cNvPr>
          <p:cNvGraphicFramePr>
            <a:graphicFrameLocks noGrp="1"/>
          </p:cNvGraphicFramePr>
          <p:nvPr>
            <p:extLst>
              <p:ext uri="{D42A27DB-BD31-4B8C-83A1-F6EECF244321}">
                <p14:modId xmlns:p14="http://schemas.microsoft.com/office/powerpoint/2010/main" val="2773840174"/>
              </p:ext>
            </p:extLst>
          </p:nvPr>
        </p:nvGraphicFramePr>
        <p:xfrm>
          <a:off x="311700" y="2646040"/>
          <a:ext cx="4973532" cy="2346045"/>
        </p:xfrm>
        <a:graphic>
          <a:graphicData uri="http://schemas.openxmlformats.org/drawingml/2006/table">
            <a:tbl>
              <a:tblPr firstRow="1" bandRow="1">
                <a:tableStyleId>{BFA11F67-8BD6-47EC-9F71-6CD8F6C066F8}</a:tableStyleId>
              </a:tblPr>
              <a:tblGrid>
                <a:gridCol w="2486766">
                  <a:extLst>
                    <a:ext uri="{9D8B030D-6E8A-4147-A177-3AD203B41FA5}">
                      <a16:colId xmlns:a16="http://schemas.microsoft.com/office/drawing/2014/main" val="3989279615"/>
                    </a:ext>
                  </a:extLst>
                </a:gridCol>
                <a:gridCol w="2486766">
                  <a:extLst>
                    <a:ext uri="{9D8B030D-6E8A-4147-A177-3AD203B41FA5}">
                      <a16:colId xmlns:a16="http://schemas.microsoft.com/office/drawing/2014/main" val="4010461188"/>
                    </a:ext>
                  </a:extLst>
                </a:gridCol>
              </a:tblGrid>
              <a:tr h="499916">
                <a:tc>
                  <a:txBody>
                    <a:bodyPr/>
                    <a:lstStyle/>
                    <a:p>
                      <a:r>
                        <a:rPr lang="en-US" dirty="0"/>
                        <a:t>Marital Status</a:t>
                      </a:r>
                    </a:p>
                  </a:txBody>
                  <a:tcPr>
                    <a:solidFill>
                      <a:schemeClr val="accent6">
                        <a:lumMod val="40000"/>
                        <a:lumOff val="60000"/>
                      </a:schemeClr>
                    </a:solidFill>
                  </a:tcPr>
                </a:tc>
                <a:tc>
                  <a:txBody>
                    <a:bodyPr/>
                    <a:lstStyle/>
                    <a:p>
                      <a:r>
                        <a:rPr lang="en-US" dirty="0"/>
                        <a:t>Percentage garbage codes (%)</a:t>
                      </a:r>
                    </a:p>
                  </a:txBody>
                  <a:tcPr>
                    <a:solidFill>
                      <a:schemeClr val="accent6">
                        <a:lumMod val="40000"/>
                        <a:lumOff val="60000"/>
                      </a:schemeClr>
                    </a:solidFill>
                  </a:tcPr>
                </a:tc>
                <a:extLst>
                  <a:ext uri="{0D108BD9-81ED-4DB2-BD59-A6C34878D82A}">
                    <a16:rowId xmlns:a16="http://schemas.microsoft.com/office/drawing/2014/main" val="3441494424"/>
                  </a:ext>
                </a:extLst>
              </a:tr>
              <a:tr h="368625">
                <a:tc>
                  <a:txBody>
                    <a:bodyPr/>
                    <a:lstStyle/>
                    <a:p>
                      <a:r>
                        <a:rPr lang="en-US" dirty="0"/>
                        <a:t>Single</a:t>
                      </a:r>
                    </a:p>
                  </a:txBody>
                  <a:tcPr>
                    <a:solidFill>
                      <a:schemeClr val="accent6">
                        <a:lumMod val="40000"/>
                        <a:lumOff val="60000"/>
                      </a:schemeClr>
                    </a:solidFill>
                  </a:tcPr>
                </a:tc>
                <a:tc>
                  <a:txBody>
                    <a:bodyPr/>
                    <a:lstStyle/>
                    <a:p>
                      <a:r>
                        <a:rPr lang="en-US" dirty="0"/>
                        <a:t>13.7</a:t>
                      </a:r>
                    </a:p>
                  </a:txBody>
                  <a:tcPr>
                    <a:solidFill>
                      <a:schemeClr val="accent6">
                        <a:lumMod val="40000"/>
                        <a:lumOff val="60000"/>
                      </a:schemeClr>
                    </a:solidFill>
                  </a:tcPr>
                </a:tc>
                <a:extLst>
                  <a:ext uri="{0D108BD9-81ED-4DB2-BD59-A6C34878D82A}">
                    <a16:rowId xmlns:a16="http://schemas.microsoft.com/office/drawing/2014/main" val="1978091271"/>
                  </a:ext>
                </a:extLst>
              </a:tr>
              <a:tr h="368625">
                <a:tc>
                  <a:txBody>
                    <a:bodyPr/>
                    <a:lstStyle/>
                    <a:p>
                      <a:r>
                        <a:rPr lang="en-US" dirty="0"/>
                        <a:t>Unknown</a:t>
                      </a:r>
                    </a:p>
                  </a:txBody>
                  <a:tcPr>
                    <a:solidFill>
                      <a:schemeClr val="accent6">
                        <a:lumMod val="40000"/>
                        <a:lumOff val="60000"/>
                      </a:schemeClr>
                    </a:solidFill>
                  </a:tcPr>
                </a:tc>
                <a:tc>
                  <a:txBody>
                    <a:bodyPr/>
                    <a:lstStyle/>
                    <a:p>
                      <a:r>
                        <a:rPr lang="en-US" dirty="0"/>
                        <a:t>12.9</a:t>
                      </a:r>
                    </a:p>
                  </a:txBody>
                  <a:tcPr>
                    <a:solidFill>
                      <a:schemeClr val="accent6">
                        <a:lumMod val="40000"/>
                        <a:lumOff val="60000"/>
                      </a:schemeClr>
                    </a:solidFill>
                  </a:tcPr>
                </a:tc>
                <a:extLst>
                  <a:ext uri="{0D108BD9-81ED-4DB2-BD59-A6C34878D82A}">
                    <a16:rowId xmlns:a16="http://schemas.microsoft.com/office/drawing/2014/main" val="446706471"/>
                  </a:ext>
                </a:extLst>
              </a:tr>
              <a:tr h="368625">
                <a:tc>
                  <a:txBody>
                    <a:bodyPr/>
                    <a:lstStyle/>
                    <a:p>
                      <a:r>
                        <a:rPr lang="en-US" dirty="0"/>
                        <a:t>Divorced</a:t>
                      </a:r>
                    </a:p>
                  </a:txBody>
                  <a:tcPr>
                    <a:solidFill>
                      <a:schemeClr val="accent6">
                        <a:lumMod val="40000"/>
                        <a:lumOff val="60000"/>
                      </a:schemeClr>
                    </a:solidFill>
                  </a:tcPr>
                </a:tc>
                <a:tc>
                  <a:txBody>
                    <a:bodyPr/>
                    <a:lstStyle/>
                    <a:p>
                      <a:r>
                        <a:rPr lang="en-US" dirty="0"/>
                        <a:t>8.8</a:t>
                      </a:r>
                    </a:p>
                  </a:txBody>
                  <a:tcPr>
                    <a:solidFill>
                      <a:schemeClr val="accent6">
                        <a:lumMod val="40000"/>
                        <a:lumOff val="60000"/>
                      </a:schemeClr>
                    </a:solidFill>
                  </a:tcPr>
                </a:tc>
                <a:extLst>
                  <a:ext uri="{0D108BD9-81ED-4DB2-BD59-A6C34878D82A}">
                    <a16:rowId xmlns:a16="http://schemas.microsoft.com/office/drawing/2014/main" val="3537160196"/>
                  </a:ext>
                </a:extLst>
              </a:tr>
              <a:tr h="368625">
                <a:tc>
                  <a:txBody>
                    <a:bodyPr/>
                    <a:lstStyle/>
                    <a:p>
                      <a:r>
                        <a:rPr lang="en-US" dirty="0"/>
                        <a:t>Widowed</a:t>
                      </a:r>
                    </a:p>
                  </a:txBody>
                  <a:tcPr>
                    <a:solidFill>
                      <a:schemeClr val="accent6">
                        <a:lumMod val="40000"/>
                        <a:lumOff val="60000"/>
                      </a:schemeClr>
                    </a:solidFill>
                  </a:tcPr>
                </a:tc>
                <a:tc>
                  <a:txBody>
                    <a:bodyPr/>
                    <a:lstStyle/>
                    <a:p>
                      <a:r>
                        <a:rPr lang="en-US" dirty="0"/>
                        <a:t>7.1</a:t>
                      </a:r>
                    </a:p>
                  </a:txBody>
                  <a:tcPr>
                    <a:solidFill>
                      <a:schemeClr val="accent6">
                        <a:lumMod val="40000"/>
                        <a:lumOff val="60000"/>
                      </a:schemeClr>
                    </a:solidFill>
                  </a:tcPr>
                </a:tc>
                <a:extLst>
                  <a:ext uri="{0D108BD9-81ED-4DB2-BD59-A6C34878D82A}">
                    <a16:rowId xmlns:a16="http://schemas.microsoft.com/office/drawing/2014/main" val="2050751449"/>
                  </a:ext>
                </a:extLst>
              </a:tr>
              <a:tr h="368625">
                <a:tc>
                  <a:txBody>
                    <a:bodyPr/>
                    <a:lstStyle/>
                    <a:p>
                      <a:r>
                        <a:rPr lang="en-US" dirty="0"/>
                        <a:t>Married</a:t>
                      </a:r>
                    </a:p>
                  </a:txBody>
                  <a:tcPr>
                    <a:solidFill>
                      <a:schemeClr val="accent6">
                        <a:lumMod val="40000"/>
                        <a:lumOff val="60000"/>
                      </a:schemeClr>
                    </a:solidFill>
                  </a:tcPr>
                </a:tc>
                <a:tc>
                  <a:txBody>
                    <a:bodyPr/>
                    <a:lstStyle/>
                    <a:p>
                      <a:r>
                        <a:rPr lang="en-US" dirty="0"/>
                        <a:t>6.7</a:t>
                      </a:r>
                    </a:p>
                  </a:txBody>
                  <a:tcPr>
                    <a:solidFill>
                      <a:schemeClr val="accent6">
                        <a:lumMod val="40000"/>
                        <a:lumOff val="60000"/>
                      </a:schemeClr>
                    </a:solidFill>
                  </a:tcPr>
                </a:tc>
                <a:extLst>
                  <a:ext uri="{0D108BD9-81ED-4DB2-BD59-A6C34878D82A}">
                    <a16:rowId xmlns:a16="http://schemas.microsoft.com/office/drawing/2014/main" val="4210811717"/>
                  </a:ext>
                </a:extLst>
              </a:tr>
            </a:tbl>
          </a:graphicData>
        </a:graphic>
      </p:graphicFrame>
    </p:spTree>
    <p:extLst>
      <p:ext uri="{BB962C8B-B14F-4D97-AF65-F5344CB8AC3E}">
        <p14:creationId xmlns:p14="http://schemas.microsoft.com/office/powerpoint/2010/main" val="1924045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F76DF5F3-0246-F518-65A4-22AD6DC2D172}"/>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920D808-95AD-07AB-86AC-B5AFE075CAE1}"/>
              </a:ext>
            </a:extLst>
          </p:cNvPr>
          <p:cNvGraphicFramePr>
            <a:graphicFrameLocks noGrp="1"/>
          </p:cNvGraphicFramePr>
          <p:nvPr>
            <p:extLst>
              <p:ext uri="{D42A27DB-BD31-4B8C-83A1-F6EECF244321}">
                <p14:modId xmlns:p14="http://schemas.microsoft.com/office/powerpoint/2010/main" val="1350191622"/>
              </p:ext>
            </p:extLst>
          </p:nvPr>
        </p:nvGraphicFramePr>
        <p:xfrm>
          <a:off x="219456" y="489966"/>
          <a:ext cx="3979884" cy="3925435"/>
        </p:xfrm>
        <a:graphic>
          <a:graphicData uri="http://schemas.openxmlformats.org/drawingml/2006/table">
            <a:tbl>
              <a:tblPr firstRow="1" bandRow="1">
                <a:tableStyleId>{BFA11F67-8BD6-47EC-9F71-6CD8F6C066F8}</a:tableStyleId>
              </a:tblPr>
              <a:tblGrid>
                <a:gridCol w="1989942">
                  <a:extLst>
                    <a:ext uri="{9D8B030D-6E8A-4147-A177-3AD203B41FA5}">
                      <a16:colId xmlns:a16="http://schemas.microsoft.com/office/drawing/2014/main" val="3989279615"/>
                    </a:ext>
                  </a:extLst>
                </a:gridCol>
                <a:gridCol w="1989942">
                  <a:extLst>
                    <a:ext uri="{9D8B030D-6E8A-4147-A177-3AD203B41FA5}">
                      <a16:colId xmlns:a16="http://schemas.microsoft.com/office/drawing/2014/main" val="4010461188"/>
                    </a:ext>
                  </a:extLst>
                </a:gridCol>
              </a:tblGrid>
              <a:tr h="444668">
                <a:tc>
                  <a:txBody>
                    <a:bodyPr/>
                    <a:lstStyle/>
                    <a:p>
                      <a:r>
                        <a:rPr lang="en-US" sz="1200" dirty="0"/>
                        <a:t>Education Status</a:t>
                      </a:r>
                    </a:p>
                  </a:txBody>
                  <a:tcPr>
                    <a:solidFill>
                      <a:schemeClr val="accent6">
                        <a:lumMod val="40000"/>
                        <a:lumOff val="60000"/>
                      </a:schemeClr>
                    </a:solidFill>
                  </a:tcPr>
                </a:tc>
                <a:tc>
                  <a:txBody>
                    <a:bodyPr/>
                    <a:lstStyle/>
                    <a:p>
                      <a:r>
                        <a:rPr lang="en-US" sz="1200" dirty="0"/>
                        <a:t>Percentage garbage codes (%)</a:t>
                      </a:r>
                    </a:p>
                  </a:txBody>
                  <a:tcPr>
                    <a:solidFill>
                      <a:schemeClr val="accent6">
                        <a:lumMod val="40000"/>
                        <a:lumOff val="60000"/>
                      </a:schemeClr>
                    </a:solidFill>
                  </a:tcPr>
                </a:tc>
                <a:extLst>
                  <a:ext uri="{0D108BD9-81ED-4DB2-BD59-A6C34878D82A}">
                    <a16:rowId xmlns:a16="http://schemas.microsoft.com/office/drawing/2014/main" val="3441494424"/>
                  </a:ext>
                </a:extLst>
              </a:tr>
              <a:tr h="327887">
                <a:tc>
                  <a:txBody>
                    <a:bodyPr/>
                    <a:lstStyle/>
                    <a:p>
                      <a:r>
                        <a:rPr lang="en-US" sz="1200" dirty="0"/>
                        <a:t>8</a:t>
                      </a:r>
                      <a:r>
                        <a:rPr lang="en-US" sz="1200" baseline="30000" dirty="0"/>
                        <a:t>th</a:t>
                      </a:r>
                      <a:r>
                        <a:rPr lang="en-US" sz="1200" dirty="0"/>
                        <a:t> grade or less</a:t>
                      </a:r>
                    </a:p>
                  </a:txBody>
                  <a:tcPr>
                    <a:solidFill>
                      <a:schemeClr val="accent6">
                        <a:lumMod val="40000"/>
                        <a:lumOff val="60000"/>
                      </a:schemeClr>
                    </a:solidFill>
                  </a:tcPr>
                </a:tc>
                <a:tc>
                  <a:txBody>
                    <a:bodyPr/>
                    <a:lstStyle/>
                    <a:p>
                      <a:r>
                        <a:rPr lang="en-US" sz="1200" dirty="0"/>
                        <a:t>7.3</a:t>
                      </a:r>
                    </a:p>
                  </a:txBody>
                  <a:tcPr>
                    <a:solidFill>
                      <a:schemeClr val="accent6">
                        <a:lumMod val="40000"/>
                        <a:lumOff val="60000"/>
                      </a:schemeClr>
                    </a:solidFill>
                  </a:tcPr>
                </a:tc>
                <a:extLst>
                  <a:ext uri="{0D108BD9-81ED-4DB2-BD59-A6C34878D82A}">
                    <a16:rowId xmlns:a16="http://schemas.microsoft.com/office/drawing/2014/main" val="1978091271"/>
                  </a:ext>
                </a:extLst>
              </a:tr>
              <a:tr h="327887">
                <a:tc>
                  <a:txBody>
                    <a:bodyPr/>
                    <a:lstStyle/>
                    <a:p>
                      <a:r>
                        <a:rPr lang="en-US" sz="1200" dirty="0"/>
                        <a:t>9</a:t>
                      </a:r>
                      <a:r>
                        <a:rPr lang="en-US" sz="1200" baseline="30000" dirty="0"/>
                        <a:t>th</a:t>
                      </a:r>
                      <a:r>
                        <a:rPr lang="en-US" sz="1200" dirty="0"/>
                        <a:t> - 12</a:t>
                      </a:r>
                      <a:r>
                        <a:rPr lang="en-US" sz="1200" baseline="30000" dirty="0"/>
                        <a:t>th</a:t>
                      </a:r>
                      <a:r>
                        <a:rPr lang="en-US" sz="1200" dirty="0"/>
                        <a:t> grade, no diploma</a:t>
                      </a:r>
                    </a:p>
                  </a:txBody>
                  <a:tcPr>
                    <a:solidFill>
                      <a:schemeClr val="accent6">
                        <a:lumMod val="40000"/>
                        <a:lumOff val="60000"/>
                      </a:schemeClr>
                    </a:solidFill>
                  </a:tcPr>
                </a:tc>
                <a:tc>
                  <a:txBody>
                    <a:bodyPr/>
                    <a:lstStyle/>
                    <a:p>
                      <a:r>
                        <a:rPr lang="en-US" sz="1200" dirty="0"/>
                        <a:t>9.0</a:t>
                      </a:r>
                    </a:p>
                  </a:txBody>
                  <a:tcPr>
                    <a:solidFill>
                      <a:schemeClr val="accent6">
                        <a:lumMod val="40000"/>
                        <a:lumOff val="60000"/>
                      </a:schemeClr>
                    </a:solidFill>
                  </a:tcPr>
                </a:tc>
                <a:extLst>
                  <a:ext uri="{0D108BD9-81ED-4DB2-BD59-A6C34878D82A}">
                    <a16:rowId xmlns:a16="http://schemas.microsoft.com/office/drawing/2014/main" val="446706471"/>
                  </a:ext>
                </a:extLst>
              </a:tr>
              <a:tr h="444668">
                <a:tc>
                  <a:txBody>
                    <a:bodyPr/>
                    <a:lstStyle/>
                    <a:p>
                      <a:r>
                        <a:rPr lang="en-US" sz="1200" dirty="0"/>
                        <a:t>High school graduate or GED completed</a:t>
                      </a:r>
                    </a:p>
                  </a:txBody>
                  <a:tcPr>
                    <a:solidFill>
                      <a:schemeClr val="accent6">
                        <a:lumMod val="40000"/>
                        <a:lumOff val="60000"/>
                      </a:schemeClr>
                    </a:solidFill>
                  </a:tcPr>
                </a:tc>
                <a:tc>
                  <a:txBody>
                    <a:bodyPr/>
                    <a:lstStyle/>
                    <a:p>
                      <a:r>
                        <a:rPr lang="en-US" sz="1200" dirty="0"/>
                        <a:t>8.4</a:t>
                      </a:r>
                    </a:p>
                  </a:txBody>
                  <a:tcPr>
                    <a:solidFill>
                      <a:schemeClr val="accent6">
                        <a:lumMod val="40000"/>
                        <a:lumOff val="60000"/>
                      </a:schemeClr>
                    </a:solidFill>
                  </a:tcPr>
                </a:tc>
                <a:extLst>
                  <a:ext uri="{0D108BD9-81ED-4DB2-BD59-A6C34878D82A}">
                    <a16:rowId xmlns:a16="http://schemas.microsoft.com/office/drawing/2014/main" val="3537160196"/>
                  </a:ext>
                </a:extLst>
              </a:tr>
              <a:tr h="444668">
                <a:tc>
                  <a:txBody>
                    <a:bodyPr/>
                    <a:lstStyle/>
                    <a:p>
                      <a:r>
                        <a:rPr lang="en-US" sz="1200" dirty="0"/>
                        <a:t>Some college credit, but no degree</a:t>
                      </a:r>
                    </a:p>
                  </a:txBody>
                  <a:tcPr>
                    <a:solidFill>
                      <a:schemeClr val="accent6">
                        <a:lumMod val="40000"/>
                        <a:lumOff val="60000"/>
                      </a:schemeClr>
                    </a:solidFill>
                  </a:tcPr>
                </a:tc>
                <a:tc>
                  <a:txBody>
                    <a:bodyPr/>
                    <a:lstStyle/>
                    <a:p>
                      <a:r>
                        <a:rPr lang="en-US" sz="1200" dirty="0"/>
                        <a:t>8.5</a:t>
                      </a:r>
                    </a:p>
                  </a:txBody>
                  <a:tcPr>
                    <a:solidFill>
                      <a:schemeClr val="accent6">
                        <a:lumMod val="40000"/>
                        <a:lumOff val="60000"/>
                      </a:schemeClr>
                    </a:solidFill>
                  </a:tcPr>
                </a:tc>
                <a:extLst>
                  <a:ext uri="{0D108BD9-81ED-4DB2-BD59-A6C34878D82A}">
                    <a16:rowId xmlns:a16="http://schemas.microsoft.com/office/drawing/2014/main" val="2050751449"/>
                  </a:ext>
                </a:extLst>
              </a:tr>
              <a:tr h="327887">
                <a:tc>
                  <a:txBody>
                    <a:bodyPr/>
                    <a:lstStyle/>
                    <a:p>
                      <a:r>
                        <a:rPr lang="en-US" sz="1200" dirty="0"/>
                        <a:t>Associate degree</a:t>
                      </a:r>
                    </a:p>
                  </a:txBody>
                  <a:tcPr>
                    <a:solidFill>
                      <a:schemeClr val="accent6">
                        <a:lumMod val="40000"/>
                        <a:lumOff val="60000"/>
                      </a:schemeClr>
                    </a:solidFill>
                  </a:tcPr>
                </a:tc>
                <a:tc>
                  <a:txBody>
                    <a:bodyPr/>
                    <a:lstStyle/>
                    <a:p>
                      <a:r>
                        <a:rPr lang="en-US" sz="1200" dirty="0"/>
                        <a:t>8.0</a:t>
                      </a:r>
                    </a:p>
                  </a:txBody>
                  <a:tcPr>
                    <a:solidFill>
                      <a:schemeClr val="accent6">
                        <a:lumMod val="40000"/>
                        <a:lumOff val="60000"/>
                      </a:schemeClr>
                    </a:solidFill>
                  </a:tcPr>
                </a:tc>
                <a:extLst>
                  <a:ext uri="{0D108BD9-81ED-4DB2-BD59-A6C34878D82A}">
                    <a16:rowId xmlns:a16="http://schemas.microsoft.com/office/drawing/2014/main" val="3600230402"/>
                  </a:ext>
                </a:extLst>
              </a:tr>
              <a:tr h="327887">
                <a:tc>
                  <a:txBody>
                    <a:bodyPr/>
                    <a:lstStyle/>
                    <a:p>
                      <a:r>
                        <a:rPr lang="en-US" sz="1200" dirty="0"/>
                        <a:t>Bachelor’s degree</a:t>
                      </a:r>
                    </a:p>
                  </a:txBody>
                  <a:tcPr>
                    <a:solidFill>
                      <a:schemeClr val="accent6">
                        <a:lumMod val="40000"/>
                        <a:lumOff val="60000"/>
                      </a:schemeClr>
                    </a:solidFill>
                  </a:tcPr>
                </a:tc>
                <a:tc>
                  <a:txBody>
                    <a:bodyPr/>
                    <a:lstStyle/>
                    <a:p>
                      <a:r>
                        <a:rPr lang="en-US" sz="1200" dirty="0"/>
                        <a:t>7.1</a:t>
                      </a:r>
                    </a:p>
                  </a:txBody>
                  <a:tcPr>
                    <a:solidFill>
                      <a:schemeClr val="accent6">
                        <a:lumMod val="40000"/>
                        <a:lumOff val="60000"/>
                      </a:schemeClr>
                    </a:solidFill>
                  </a:tcPr>
                </a:tc>
                <a:extLst>
                  <a:ext uri="{0D108BD9-81ED-4DB2-BD59-A6C34878D82A}">
                    <a16:rowId xmlns:a16="http://schemas.microsoft.com/office/drawing/2014/main" val="2302135002"/>
                  </a:ext>
                </a:extLst>
              </a:tr>
              <a:tr h="327887">
                <a:tc>
                  <a:txBody>
                    <a:bodyPr/>
                    <a:lstStyle/>
                    <a:p>
                      <a:r>
                        <a:rPr lang="en-US" sz="1200" dirty="0"/>
                        <a:t>Master’s degree</a:t>
                      </a:r>
                    </a:p>
                  </a:txBody>
                  <a:tcPr>
                    <a:solidFill>
                      <a:schemeClr val="accent6">
                        <a:lumMod val="40000"/>
                        <a:lumOff val="60000"/>
                      </a:schemeClr>
                    </a:solidFill>
                  </a:tcPr>
                </a:tc>
                <a:tc>
                  <a:txBody>
                    <a:bodyPr/>
                    <a:lstStyle/>
                    <a:p>
                      <a:r>
                        <a:rPr lang="en-US" sz="1200" dirty="0"/>
                        <a:t>6.5</a:t>
                      </a:r>
                    </a:p>
                  </a:txBody>
                  <a:tcPr>
                    <a:solidFill>
                      <a:schemeClr val="accent6">
                        <a:lumMod val="40000"/>
                        <a:lumOff val="60000"/>
                      </a:schemeClr>
                    </a:solidFill>
                  </a:tcPr>
                </a:tc>
                <a:extLst>
                  <a:ext uri="{0D108BD9-81ED-4DB2-BD59-A6C34878D82A}">
                    <a16:rowId xmlns:a16="http://schemas.microsoft.com/office/drawing/2014/main" val="1840912725"/>
                  </a:ext>
                </a:extLst>
              </a:tr>
              <a:tr h="444668">
                <a:tc>
                  <a:txBody>
                    <a:bodyPr/>
                    <a:lstStyle/>
                    <a:p>
                      <a:r>
                        <a:rPr lang="en-US" sz="1200" dirty="0"/>
                        <a:t>Doctorate or professional degree</a:t>
                      </a:r>
                    </a:p>
                  </a:txBody>
                  <a:tcPr>
                    <a:solidFill>
                      <a:schemeClr val="accent6">
                        <a:lumMod val="40000"/>
                        <a:lumOff val="60000"/>
                      </a:schemeClr>
                    </a:solidFill>
                  </a:tcPr>
                </a:tc>
                <a:tc>
                  <a:txBody>
                    <a:bodyPr/>
                    <a:lstStyle/>
                    <a:p>
                      <a:r>
                        <a:rPr lang="en-US" sz="1200" dirty="0"/>
                        <a:t>6.3</a:t>
                      </a:r>
                    </a:p>
                  </a:txBody>
                  <a:tcPr>
                    <a:solidFill>
                      <a:schemeClr val="accent6">
                        <a:lumMod val="40000"/>
                        <a:lumOff val="60000"/>
                      </a:schemeClr>
                    </a:solidFill>
                  </a:tcPr>
                </a:tc>
                <a:extLst>
                  <a:ext uri="{0D108BD9-81ED-4DB2-BD59-A6C34878D82A}">
                    <a16:rowId xmlns:a16="http://schemas.microsoft.com/office/drawing/2014/main" val="1468553211"/>
                  </a:ext>
                </a:extLst>
              </a:tr>
              <a:tr h="327887">
                <a:tc>
                  <a:txBody>
                    <a:bodyPr/>
                    <a:lstStyle/>
                    <a:p>
                      <a:r>
                        <a:rPr lang="en-US" sz="1200" dirty="0"/>
                        <a:t>Unknown</a:t>
                      </a:r>
                    </a:p>
                  </a:txBody>
                  <a:tcPr>
                    <a:solidFill>
                      <a:schemeClr val="accent6">
                        <a:lumMod val="40000"/>
                        <a:lumOff val="60000"/>
                      </a:schemeClr>
                    </a:solidFill>
                  </a:tcPr>
                </a:tc>
                <a:tc>
                  <a:txBody>
                    <a:bodyPr/>
                    <a:lstStyle/>
                    <a:p>
                      <a:r>
                        <a:rPr lang="en-US" sz="1200" dirty="0"/>
                        <a:t>10.1</a:t>
                      </a:r>
                    </a:p>
                  </a:txBody>
                  <a:tcPr>
                    <a:solidFill>
                      <a:schemeClr val="accent6">
                        <a:lumMod val="40000"/>
                        <a:lumOff val="60000"/>
                      </a:schemeClr>
                    </a:solidFill>
                  </a:tcPr>
                </a:tc>
                <a:extLst>
                  <a:ext uri="{0D108BD9-81ED-4DB2-BD59-A6C34878D82A}">
                    <a16:rowId xmlns:a16="http://schemas.microsoft.com/office/drawing/2014/main" val="3446963874"/>
                  </a:ext>
                </a:extLst>
              </a:tr>
            </a:tbl>
          </a:graphicData>
        </a:graphic>
      </p:graphicFrame>
      <p:graphicFrame>
        <p:nvGraphicFramePr>
          <p:cNvPr id="2" name="Table 1">
            <a:extLst>
              <a:ext uri="{FF2B5EF4-FFF2-40B4-BE49-F238E27FC236}">
                <a16:creationId xmlns:a16="http://schemas.microsoft.com/office/drawing/2014/main" id="{665A6EB7-ED4E-CF6A-03D1-849901EF7FF5}"/>
              </a:ext>
            </a:extLst>
          </p:cNvPr>
          <p:cNvGraphicFramePr>
            <a:graphicFrameLocks noGrp="1"/>
          </p:cNvGraphicFramePr>
          <p:nvPr>
            <p:extLst>
              <p:ext uri="{D42A27DB-BD31-4B8C-83A1-F6EECF244321}">
                <p14:modId xmlns:p14="http://schemas.microsoft.com/office/powerpoint/2010/main" val="60162363"/>
              </p:ext>
            </p:extLst>
          </p:nvPr>
        </p:nvGraphicFramePr>
        <p:xfrm>
          <a:off x="4572000" y="489965"/>
          <a:ext cx="3979884" cy="3332527"/>
        </p:xfrm>
        <a:graphic>
          <a:graphicData uri="http://schemas.openxmlformats.org/drawingml/2006/table">
            <a:tbl>
              <a:tblPr firstRow="1" bandRow="1">
                <a:tableStyleId>{BFA11F67-8BD6-47EC-9F71-6CD8F6C066F8}</a:tableStyleId>
              </a:tblPr>
              <a:tblGrid>
                <a:gridCol w="1989942">
                  <a:extLst>
                    <a:ext uri="{9D8B030D-6E8A-4147-A177-3AD203B41FA5}">
                      <a16:colId xmlns:a16="http://schemas.microsoft.com/office/drawing/2014/main" val="3989279615"/>
                    </a:ext>
                  </a:extLst>
                </a:gridCol>
                <a:gridCol w="1989942">
                  <a:extLst>
                    <a:ext uri="{9D8B030D-6E8A-4147-A177-3AD203B41FA5}">
                      <a16:colId xmlns:a16="http://schemas.microsoft.com/office/drawing/2014/main" val="4010461188"/>
                    </a:ext>
                  </a:extLst>
                </a:gridCol>
              </a:tblGrid>
              <a:tr h="444668">
                <a:tc>
                  <a:txBody>
                    <a:bodyPr/>
                    <a:lstStyle/>
                    <a:p>
                      <a:r>
                        <a:rPr lang="en-US" sz="1200" dirty="0"/>
                        <a:t>Day of the Week</a:t>
                      </a:r>
                    </a:p>
                  </a:txBody>
                  <a:tcPr>
                    <a:solidFill>
                      <a:schemeClr val="accent6">
                        <a:lumMod val="40000"/>
                        <a:lumOff val="60000"/>
                      </a:schemeClr>
                    </a:solidFill>
                  </a:tcPr>
                </a:tc>
                <a:tc>
                  <a:txBody>
                    <a:bodyPr/>
                    <a:lstStyle/>
                    <a:p>
                      <a:r>
                        <a:rPr lang="en-US" sz="1200" dirty="0"/>
                        <a:t>Percentage garbage codes (%)</a:t>
                      </a:r>
                    </a:p>
                  </a:txBody>
                  <a:tcPr>
                    <a:solidFill>
                      <a:schemeClr val="accent6">
                        <a:lumMod val="40000"/>
                        <a:lumOff val="60000"/>
                      </a:schemeClr>
                    </a:solidFill>
                  </a:tcPr>
                </a:tc>
                <a:extLst>
                  <a:ext uri="{0D108BD9-81ED-4DB2-BD59-A6C34878D82A}">
                    <a16:rowId xmlns:a16="http://schemas.microsoft.com/office/drawing/2014/main" val="3441494424"/>
                  </a:ext>
                </a:extLst>
              </a:tr>
              <a:tr h="327887">
                <a:tc>
                  <a:txBody>
                    <a:bodyPr/>
                    <a:lstStyle/>
                    <a:p>
                      <a:r>
                        <a:rPr lang="en-US" sz="1200" dirty="0"/>
                        <a:t>Monday</a:t>
                      </a:r>
                    </a:p>
                  </a:txBody>
                  <a:tcPr>
                    <a:solidFill>
                      <a:schemeClr val="accent6">
                        <a:lumMod val="40000"/>
                        <a:lumOff val="60000"/>
                      </a:schemeClr>
                    </a:solidFill>
                  </a:tcPr>
                </a:tc>
                <a:tc>
                  <a:txBody>
                    <a:bodyPr/>
                    <a:lstStyle/>
                    <a:p>
                      <a:r>
                        <a:rPr lang="en-US" sz="1200" dirty="0"/>
                        <a:t>8.2</a:t>
                      </a:r>
                    </a:p>
                  </a:txBody>
                  <a:tcPr>
                    <a:solidFill>
                      <a:schemeClr val="accent6">
                        <a:lumMod val="40000"/>
                        <a:lumOff val="60000"/>
                      </a:schemeClr>
                    </a:solidFill>
                  </a:tcPr>
                </a:tc>
                <a:extLst>
                  <a:ext uri="{0D108BD9-81ED-4DB2-BD59-A6C34878D82A}">
                    <a16:rowId xmlns:a16="http://schemas.microsoft.com/office/drawing/2014/main" val="1978091271"/>
                  </a:ext>
                </a:extLst>
              </a:tr>
              <a:tr h="327887">
                <a:tc>
                  <a:txBody>
                    <a:bodyPr/>
                    <a:lstStyle/>
                    <a:p>
                      <a:r>
                        <a:rPr lang="en-US" sz="1200" dirty="0"/>
                        <a:t>Tuesday</a:t>
                      </a:r>
                    </a:p>
                  </a:txBody>
                  <a:tcPr>
                    <a:solidFill>
                      <a:schemeClr val="accent6">
                        <a:lumMod val="40000"/>
                        <a:lumOff val="60000"/>
                      </a:schemeClr>
                    </a:solidFill>
                  </a:tcPr>
                </a:tc>
                <a:tc>
                  <a:txBody>
                    <a:bodyPr/>
                    <a:lstStyle/>
                    <a:p>
                      <a:r>
                        <a:rPr lang="en-US" sz="1200" dirty="0"/>
                        <a:t>8.0</a:t>
                      </a:r>
                    </a:p>
                  </a:txBody>
                  <a:tcPr>
                    <a:solidFill>
                      <a:schemeClr val="accent6">
                        <a:lumMod val="40000"/>
                        <a:lumOff val="60000"/>
                      </a:schemeClr>
                    </a:solidFill>
                  </a:tcPr>
                </a:tc>
                <a:extLst>
                  <a:ext uri="{0D108BD9-81ED-4DB2-BD59-A6C34878D82A}">
                    <a16:rowId xmlns:a16="http://schemas.microsoft.com/office/drawing/2014/main" val="446706471"/>
                  </a:ext>
                </a:extLst>
              </a:tr>
              <a:tr h="444668">
                <a:tc>
                  <a:txBody>
                    <a:bodyPr/>
                    <a:lstStyle/>
                    <a:p>
                      <a:r>
                        <a:rPr lang="en-US" sz="1200" dirty="0"/>
                        <a:t>Wednesday</a:t>
                      </a:r>
                    </a:p>
                  </a:txBody>
                  <a:tcPr>
                    <a:solidFill>
                      <a:schemeClr val="accent6">
                        <a:lumMod val="40000"/>
                        <a:lumOff val="60000"/>
                      </a:schemeClr>
                    </a:solidFill>
                  </a:tcPr>
                </a:tc>
                <a:tc>
                  <a:txBody>
                    <a:bodyPr/>
                    <a:lstStyle/>
                    <a:p>
                      <a:r>
                        <a:rPr lang="en-US" sz="1200" dirty="0"/>
                        <a:t>8.0</a:t>
                      </a:r>
                    </a:p>
                  </a:txBody>
                  <a:tcPr>
                    <a:solidFill>
                      <a:schemeClr val="accent6">
                        <a:lumMod val="40000"/>
                        <a:lumOff val="60000"/>
                      </a:schemeClr>
                    </a:solidFill>
                  </a:tcPr>
                </a:tc>
                <a:extLst>
                  <a:ext uri="{0D108BD9-81ED-4DB2-BD59-A6C34878D82A}">
                    <a16:rowId xmlns:a16="http://schemas.microsoft.com/office/drawing/2014/main" val="3537160196"/>
                  </a:ext>
                </a:extLst>
              </a:tr>
              <a:tr h="444668">
                <a:tc>
                  <a:txBody>
                    <a:bodyPr/>
                    <a:lstStyle/>
                    <a:p>
                      <a:r>
                        <a:rPr lang="en-US" sz="1200" dirty="0"/>
                        <a:t>Thursday</a:t>
                      </a:r>
                    </a:p>
                  </a:txBody>
                  <a:tcPr>
                    <a:solidFill>
                      <a:schemeClr val="accent6">
                        <a:lumMod val="40000"/>
                        <a:lumOff val="60000"/>
                      </a:schemeClr>
                    </a:solidFill>
                  </a:tcPr>
                </a:tc>
                <a:tc>
                  <a:txBody>
                    <a:bodyPr/>
                    <a:lstStyle/>
                    <a:p>
                      <a:r>
                        <a:rPr lang="en-US" sz="1200" dirty="0"/>
                        <a:t>8.1</a:t>
                      </a:r>
                    </a:p>
                  </a:txBody>
                  <a:tcPr>
                    <a:solidFill>
                      <a:schemeClr val="accent6">
                        <a:lumMod val="40000"/>
                        <a:lumOff val="60000"/>
                      </a:schemeClr>
                    </a:solidFill>
                  </a:tcPr>
                </a:tc>
                <a:extLst>
                  <a:ext uri="{0D108BD9-81ED-4DB2-BD59-A6C34878D82A}">
                    <a16:rowId xmlns:a16="http://schemas.microsoft.com/office/drawing/2014/main" val="2050751449"/>
                  </a:ext>
                </a:extLst>
              </a:tr>
              <a:tr h="327887">
                <a:tc>
                  <a:txBody>
                    <a:bodyPr/>
                    <a:lstStyle/>
                    <a:p>
                      <a:r>
                        <a:rPr lang="en-US" sz="1200" dirty="0"/>
                        <a:t>Friday</a:t>
                      </a:r>
                    </a:p>
                  </a:txBody>
                  <a:tcPr>
                    <a:solidFill>
                      <a:schemeClr val="accent6">
                        <a:lumMod val="40000"/>
                        <a:lumOff val="60000"/>
                      </a:schemeClr>
                    </a:solidFill>
                  </a:tcPr>
                </a:tc>
                <a:tc>
                  <a:txBody>
                    <a:bodyPr/>
                    <a:lstStyle/>
                    <a:p>
                      <a:r>
                        <a:rPr lang="en-US" sz="1200" dirty="0"/>
                        <a:t>8.1</a:t>
                      </a:r>
                    </a:p>
                  </a:txBody>
                  <a:tcPr>
                    <a:solidFill>
                      <a:schemeClr val="accent6">
                        <a:lumMod val="40000"/>
                        <a:lumOff val="60000"/>
                      </a:schemeClr>
                    </a:solidFill>
                  </a:tcPr>
                </a:tc>
                <a:extLst>
                  <a:ext uri="{0D108BD9-81ED-4DB2-BD59-A6C34878D82A}">
                    <a16:rowId xmlns:a16="http://schemas.microsoft.com/office/drawing/2014/main" val="3600230402"/>
                  </a:ext>
                </a:extLst>
              </a:tr>
              <a:tr h="327887">
                <a:tc>
                  <a:txBody>
                    <a:bodyPr/>
                    <a:lstStyle/>
                    <a:p>
                      <a:r>
                        <a:rPr lang="en-US" sz="1200" dirty="0"/>
                        <a:t>Saturday</a:t>
                      </a:r>
                    </a:p>
                  </a:txBody>
                  <a:tcPr>
                    <a:solidFill>
                      <a:schemeClr val="accent6">
                        <a:lumMod val="40000"/>
                        <a:lumOff val="60000"/>
                      </a:schemeClr>
                    </a:solidFill>
                  </a:tcPr>
                </a:tc>
                <a:tc>
                  <a:txBody>
                    <a:bodyPr/>
                    <a:lstStyle/>
                    <a:p>
                      <a:r>
                        <a:rPr lang="en-US" sz="1200" dirty="0"/>
                        <a:t>8.4</a:t>
                      </a:r>
                    </a:p>
                  </a:txBody>
                  <a:tcPr>
                    <a:solidFill>
                      <a:schemeClr val="accent6">
                        <a:lumMod val="40000"/>
                        <a:lumOff val="60000"/>
                      </a:schemeClr>
                    </a:solidFill>
                  </a:tcPr>
                </a:tc>
                <a:extLst>
                  <a:ext uri="{0D108BD9-81ED-4DB2-BD59-A6C34878D82A}">
                    <a16:rowId xmlns:a16="http://schemas.microsoft.com/office/drawing/2014/main" val="2302135002"/>
                  </a:ext>
                </a:extLst>
              </a:tr>
              <a:tr h="327887">
                <a:tc>
                  <a:txBody>
                    <a:bodyPr/>
                    <a:lstStyle/>
                    <a:p>
                      <a:r>
                        <a:rPr lang="en-US" sz="1200" dirty="0"/>
                        <a:t>Sunday</a:t>
                      </a:r>
                    </a:p>
                  </a:txBody>
                  <a:tcPr>
                    <a:solidFill>
                      <a:schemeClr val="accent6">
                        <a:lumMod val="40000"/>
                        <a:lumOff val="60000"/>
                      </a:schemeClr>
                    </a:solidFill>
                  </a:tcPr>
                </a:tc>
                <a:tc>
                  <a:txBody>
                    <a:bodyPr/>
                    <a:lstStyle/>
                    <a:p>
                      <a:r>
                        <a:rPr lang="en-US" sz="1200" dirty="0"/>
                        <a:t>8.3</a:t>
                      </a:r>
                    </a:p>
                  </a:txBody>
                  <a:tcPr>
                    <a:solidFill>
                      <a:schemeClr val="accent6">
                        <a:lumMod val="40000"/>
                        <a:lumOff val="60000"/>
                      </a:schemeClr>
                    </a:solidFill>
                  </a:tcPr>
                </a:tc>
                <a:extLst>
                  <a:ext uri="{0D108BD9-81ED-4DB2-BD59-A6C34878D82A}">
                    <a16:rowId xmlns:a16="http://schemas.microsoft.com/office/drawing/2014/main" val="1840912725"/>
                  </a:ext>
                </a:extLst>
              </a:tr>
              <a:tr h="346556">
                <a:tc>
                  <a:txBody>
                    <a:bodyPr/>
                    <a:lstStyle/>
                    <a:p>
                      <a:r>
                        <a:rPr lang="en-US" sz="1200" dirty="0"/>
                        <a:t>Unknown</a:t>
                      </a:r>
                    </a:p>
                  </a:txBody>
                  <a:tcPr>
                    <a:solidFill>
                      <a:schemeClr val="accent6">
                        <a:lumMod val="40000"/>
                        <a:lumOff val="60000"/>
                      </a:schemeClr>
                    </a:solidFill>
                  </a:tcPr>
                </a:tc>
                <a:tc>
                  <a:txBody>
                    <a:bodyPr/>
                    <a:lstStyle/>
                    <a:p>
                      <a:r>
                        <a:rPr lang="en-US" sz="1200" dirty="0"/>
                        <a:t>14.1</a:t>
                      </a:r>
                    </a:p>
                  </a:txBody>
                  <a:tcPr>
                    <a:solidFill>
                      <a:schemeClr val="accent6">
                        <a:lumMod val="40000"/>
                        <a:lumOff val="60000"/>
                      </a:schemeClr>
                    </a:solidFill>
                  </a:tcPr>
                </a:tc>
                <a:extLst>
                  <a:ext uri="{0D108BD9-81ED-4DB2-BD59-A6C34878D82A}">
                    <a16:rowId xmlns:a16="http://schemas.microsoft.com/office/drawing/2014/main" val="1468553211"/>
                  </a:ext>
                </a:extLst>
              </a:tr>
            </a:tbl>
          </a:graphicData>
        </a:graphic>
      </p:graphicFrame>
    </p:spTree>
    <p:extLst>
      <p:ext uri="{BB962C8B-B14F-4D97-AF65-F5344CB8AC3E}">
        <p14:creationId xmlns:p14="http://schemas.microsoft.com/office/powerpoint/2010/main" val="21249905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83C33E5A-2EA7-611E-F276-B287C2B43D7B}"/>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8505B702-0E5F-C4AF-2AAC-D7361976620B}"/>
              </a:ext>
            </a:extLst>
          </p:cNvPr>
          <p:cNvGraphicFramePr>
            <a:graphicFrameLocks noGrp="1"/>
          </p:cNvGraphicFramePr>
          <p:nvPr>
            <p:extLst>
              <p:ext uri="{D42A27DB-BD31-4B8C-83A1-F6EECF244321}">
                <p14:modId xmlns:p14="http://schemas.microsoft.com/office/powerpoint/2010/main" val="3387558663"/>
              </p:ext>
            </p:extLst>
          </p:nvPr>
        </p:nvGraphicFramePr>
        <p:xfrm>
          <a:off x="462602" y="298385"/>
          <a:ext cx="3839576" cy="4546729"/>
        </p:xfrm>
        <a:graphic>
          <a:graphicData uri="http://schemas.openxmlformats.org/drawingml/2006/table">
            <a:tbl>
              <a:tblPr firstRow="1" bandRow="1">
                <a:tableStyleId>{BFA11F67-8BD6-47EC-9F71-6CD8F6C066F8}</a:tableStyleId>
              </a:tblPr>
              <a:tblGrid>
                <a:gridCol w="1849634">
                  <a:extLst>
                    <a:ext uri="{9D8B030D-6E8A-4147-A177-3AD203B41FA5}">
                      <a16:colId xmlns:a16="http://schemas.microsoft.com/office/drawing/2014/main" val="3989279615"/>
                    </a:ext>
                  </a:extLst>
                </a:gridCol>
                <a:gridCol w="1989942">
                  <a:extLst>
                    <a:ext uri="{9D8B030D-6E8A-4147-A177-3AD203B41FA5}">
                      <a16:colId xmlns:a16="http://schemas.microsoft.com/office/drawing/2014/main" val="4010461188"/>
                    </a:ext>
                  </a:extLst>
                </a:gridCol>
              </a:tblGrid>
              <a:tr h="444668">
                <a:tc>
                  <a:txBody>
                    <a:bodyPr/>
                    <a:lstStyle/>
                    <a:p>
                      <a:r>
                        <a:rPr lang="en-US" sz="1200" dirty="0"/>
                        <a:t>Place of Death</a:t>
                      </a:r>
                    </a:p>
                  </a:txBody>
                  <a:tcPr>
                    <a:solidFill>
                      <a:schemeClr val="accent6">
                        <a:lumMod val="40000"/>
                        <a:lumOff val="60000"/>
                      </a:schemeClr>
                    </a:solidFill>
                  </a:tcPr>
                </a:tc>
                <a:tc>
                  <a:txBody>
                    <a:bodyPr/>
                    <a:lstStyle/>
                    <a:p>
                      <a:r>
                        <a:rPr lang="en-US" sz="1200" dirty="0"/>
                        <a:t>Percentage garbage codes (%)</a:t>
                      </a:r>
                    </a:p>
                  </a:txBody>
                  <a:tcPr>
                    <a:solidFill>
                      <a:schemeClr val="accent6">
                        <a:lumMod val="40000"/>
                        <a:lumOff val="60000"/>
                      </a:schemeClr>
                    </a:solidFill>
                  </a:tcPr>
                </a:tc>
                <a:extLst>
                  <a:ext uri="{0D108BD9-81ED-4DB2-BD59-A6C34878D82A}">
                    <a16:rowId xmlns:a16="http://schemas.microsoft.com/office/drawing/2014/main" val="3441494424"/>
                  </a:ext>
                </a:extLst>
              </a:tr>
              <a:tr h="327887">
                <a:tc>
                  <a:txBody>
                    <a:bodyPr/>
                    <a:lstStyle/>
                    <a:p>
                      <a:r>
                        <a:rPr lang="en-US" sz="1200" dirty="0"/>
                        <a:t>Hospital, clinic or Medical Center</a:t>
                      </a:r>
                      <a:br>
                        <a:rPr lang="en-US" sz="1200" dirty="0"/>
                      </a:br>
                      <a:r>
                        <a:rPr lang="en-US" sz="1200" dirty="0"/>
                        <a:t>- Inpatient</a:t>
                      </a:r>
                    </a:p>
                  </a:txBody>
                  <a:tcPr>
                    <a:solidFill>
                      <a:schemeClr val="accent6">
                        <a:lumMod val="40000"/>
                        <a:lumOff val="60000"/>
                      </a:schemeClr>
                    </a:solidFill>
                  </a:tcPr>
                </a:tc>
                <a:tc>
                  <a:txBody>
                    <a:bodyPr/>
                    <a:lstStyle/>
                    <a:p>
                      <a:r>
                        <a:rPr lang="en-US" sz="1200" dirty="0"/>
                        <a:t>7.1</a:t>
                      </a:r>
                    </a:p>
                  </a:txBody>
                  <a:tcPr>
                    <a:solidFill>
                      <a:schemeClr val="accent6">
                        <a:lumMod val="40000"/>
                        <a:lumOff val="60000"/>
                      </a:schemeClr>
                    </a:solidFill>
                  </a:tcPr>
                </a:tc>
                <a:extLst>
                  <a:ext uri="{0D108BD9-81ED-4DB2-BD59-A6C34878D82A}">
                    <a16:rowId xmlns:a16="http://schemas.microsoft.com/office/drawing/2014/main" val="1978091271"/>
                  </a:ext>
                </a:extLst>
              </a:tr>
              <a:tr h="327887">
                <a:tc>
                  <a:txBody>
                    <a:bodyPr/>
                    <a:lstStyle/>
                    <a:p>
                      <a:r>
                        <a:rPr lang="en-US" sz="1200" dirty="0"/>
                        <a:t>Hospital, Clinic or Medical Center</a:t>
                      </a:r>
                      <a:br>
                        <a:rPr lang="en-US" sz="1200" dirty="0"/>
                      </a:br>
                      <a:r>
                        <a:rPr lang="en-US" sz="1200" dirty="0"/>
                        <a:t>- Outpatient or admitted to Emergency Room </a:t>
                      </a:r>
                    </a:p>
                  </a:txBody>
                  <a:tcPr>
                    <a:solidFill>
                      <a:schemeClr val="accent6">
                        <a:lumMod val="40000"/>
                        <a:lumOff val="60000"/>
                      </a:schemeClr>
                    </a:solidFill>
                  </a:tcPr>
                </a:tc>
                <a:tc>
                  <a:txBody>
                    <a:bodyPr/>
                    <a:lstStyle/>
                    <a:p>
                      <a:r>
                        <a:rPr lang="en-US" sz="1200" dirty="0"/>
                        <a:t>10.0</a:t>
                      </a:r>
                    </a:p>
                  </a:txBody>
                  <a:tcPr>
                    <a:solidFill>
                      <a:schemeClr val="accent6">
                        <a:lumMod val="40000"/>
                        <a:lumOff val="60000"/>
                      </a:schemeClr>
                    </a:solidFill>
                  </a:tcPr>
                </a:tc>
                <a:extLst>
                  <a:ext uri="{0D108BD9-81ED-4DB2-BD59-A6C34878D82A}">
                    <a16:rowId xmlns:a16="http://schemas.microsoft.com/office/drawing/2014/main" val="446706471"/>
                  </a:ext>
                </a:extLst>
              </a:tr>
              <a:tr h="444668">
                <a:tc>
                  <a:txBody>
                    <a:bodyPr/>
                    <a:lstStyle/>
                    <a:p>
                      <a:r>
                        <a:rPr lang="en-US" sz="1200" dirty="0"/>
                        <a:t>Hospital, Clinic or Medical Center </a:t>
                      </a:r>
                    </a:p>
                    <a:p>
                      <a:r>
                        <a:rPr lang="en-US" sz="1200" dirty="0"/>
                        <a:t>- Dead on Arrival</a:t>
                      </a:r>
                    </a:p>
                  </a:txBody>
                  <a:tcPr>
                    <a:solidFill>
                      <a:schemeClr val="accent6">
                        <a:lumMod val="40000"/>
                        <a:lumOff val="60000"/>
                      </a:schemeClr>
                    </a:solidFill>
                  </a:tcPr>
                </a:tc>
                <a:tc>
                  <a:txBody>
                    <a:bodyPr/>
                    <a:lstStyle/>
                    <a:p>
                      <a:r>
                        <a:rPr lang="en-US" sz="1200" dirty="0"/>
                        <a:t>15.0</a:t>
                      </a:r>
                    </a:p>
                  </a:txBody>
                  <a:tcPr>
                    <a:solidFill>
                      <a:schemeClr val="accent6">
                        <a:lumMod val="40000"/>
                        <a:lumOff val="60000"/>
                      </a:schemeClr>
                    </a:solidFill>
                  </a:tcPr>
                </a:tc>
                <a:extLst>
                  <a:ext uri="{0D108BD9-81ED-4DB2-BD59-A6C34878D82A}">
                    <a16:rowId xmlns:a16="http://schemas.microsoft.com/office/drawing/2014/main" val="3537160196"/>
                  </a:ext>
                </a:extLst>
              </a:tr>
              <a:tr h="444668">
                <a:tc>
                  <a:txBody>
                    <a:bodyPr/>
                    <a:lstStyle/>
                    <a:p>
                      <a:r>
                        <a:rPr lang="en-US" sz="1200" dirty="0"/>
                        <a:t>Decedent’s home</a:t>
                      </a:r>
                    </a:p>
                  </a:txBody>
                  <a:tcPr>
                    <a:solidFill>
                      <a:schemeClr val="accent6">
                        <a:lumMod val="40000"/>
                        <a:lumOff val="60000"/>
                      </a:schemeClr>
                    </a:solidFill>
                  </a:tcPr>
                </a:tc>
                <a:tc>
                  <a:txBody>
                    <a:bodyPr/>
                    <a:lstStyle/>
                    <a:p>
                      <a:r>
                        <a:rPr lang="en-US" sz="1200" dirty="0"/>
                        <a:t>9.0</a:t>
                      </a:r>
                    </a:p>
                  </a:txBody>
                  <a:tcPr>
                    <a:solidFill>
                      <a:schemeClr val="accent6">
                        <a:lumMod val="40000"/>
                        <a:lumOff val="60000"/>
                      </a:schemeClr>
                    </a:solidFill>
                  </a:tcPr>
                </a:tc>
                <a:extLst>
                  <a:ext uri="{0D108BD9-81ED-4DB2-BD59-A6C34878D82A}">
                    <a16:rowId xmlns:a16="http://schemas.microsoft.com/office/drawing/2014/main" val="2050751449"/>
                  </a:ext>
                </a:extLst>
              </a:tr>
              <a:tr h="327887">
                <a:tc>
                  <a:txBody>
                    <a:bodyPr/>
                    <a:lstStyle/>
                    <a:p>
                      <a:r>
                        <a:rPr lang="en-US" sz="1200" dirty="0"/>
                        <a:t>Hospice facility</a:t>
                      </a:r>
                    </a:p>
                  </a:txBody>
                  <a:tcPr>
                    <a:solidFill>
                      <a:schemeClr val="accent6">
                        <a:lumMod val="40000"/>
                        <a:lumOff val="60000"/>
                      </a:schemeClr>
                    </a:solidFill>
                  </a:tcPr>
                </a:tc>
                <a:tc>
                  <a:txBody>
                    <a:bodyPr/>
                    <a:lstStyle/>
                    <a:p>
                      <a:r>
                        <a:rPr lang="en-US" sz="1200" dirty="0"/>
                        <a:t>7.1</a:t>
                      </a:r>
                    </a:p>
                  </a:txBody>
                  <a:tcPr>
                    <a:solidFill>
                      <a:schemeClr val="accent6">
                        <a:lumMod val="40000"/>
                        <a:lumOff val="60000"/>
                      </a:schemeClr>
                    </a:solidFill>
                  </a:tcPr>
                </a:tc>
                <a:extLst>
                  <a:ext uri="{0D108BD9-81ED-4DB2-BD59-A6C34878D82A}">
                    <a16:rowId xmlns:a16="http://schemas.microsoft.com/office/drawing/2014/main" val="3600230402"/>
                  </a:ext>
                </a:extLst>
              </a:tr>
              <a:tr h="327887">
                <a:tc>
                  <a:txBody>
                    <a:bodyPr/>
                    <a:lstStyle/>
                    <a:p>
                      <a:r>
                        <a:rPr lang="en-US" sz="1200" dirty="0"/>
                        <a:t>Nursing home/long term care </a:t>
                      </a:r>
                    </a:p>
                  </a:txBody>
                  <a:tcPr>
                    <a:solidFill>
                      <a:schemeClr val="accent6">
                        <a:lumMod val="40000"/>
                        <a:lumOff val="60000"/>
                      </a:schemeClr>
                    </a:solidFill>
                  </a:tcPr>
                </a:tc>
                <a:tc>
                  <a:txBody>
                    <a:bodyPr/>
                    <a:lstStyle/>
                    <a:p>
                      <a:r>
                        <a:rPr lang="en-US" sz="1200" dirty="0"/>
                        <a:t>6.8</a:t>
                      </a:r>
                    </a:p>
                  </a:txBody>
                  <a:tcPr>
                    <a:solidFill>
                      <a:schemeClr val="accent6">
                        <a:lumMod val="40000"/>
                        <a:lumOff val="60000"/>
                      </a:schemeClr>
                    </a:solidFill>
                  </a:tcPr>
                </a:tc>
                <a:extLst>
                  <a:ext uri="{0D108BD9-81ED-4DB2-BD59-A6C34878D82A}">
                    <a16:rowId xmlns:a16="http://schemas.microsoft.com/office/drawing/2014/main" val="2302135002"/>
                  </a:ext>
                </a:extLst>
              </a:tr>
              <a:tr h="327887">
                <a:tc>
                  <a:txBody>
                    <a:bodyPr/>
                    <a:lstStyle/>
                    <a:p>
                      <a:r>
                        <a:rPr lang="en-US" sz="1200" dirty="0"/>
                        <a:t>Other</a:t>
                      </a:r>
                    </a:p>
                  </a:txBody>
                  <a:tcPr>
                    <a:solidFill>
                      <a:schemeClr val="accent6">
                        <a:lumMod val="40000"/>
                        <a:lumOff val="60000"/>
                      </a:schemeClr>
                    </a:solidFill>
                  </a:tcPr>
                </a:tc>
                <a:tc>
                  <a:txBody>
                    <a:bodyPr/>
                    <a:lstStyle/>
                    <a:p>
                      <a:r>
                        <a:rPr lang="en-US" sz="1200" dirty="0"/>
                        <a:t>12.5</a:t>
                      </a:r>
                    </a:p>
                  </a:txBody>
                  <a:tcPr>
                    <a:solidFill>
                      <a:schemeClr val="accent6">
                        <a:lumMod val="40000"/>
                        <a:lumOff val="60000"/>
                      </a:schemeClr>
                    </a:solidFill>
                  </a:tcPr>
                </a:tc>
                <a:extLst>
                  <a:ext uri="{0D108BD9-81ED-4DB2-BD59-A6C34878D82A}">
                    <a16:rowId xmlns:a16="http://schemas.microsoft.com/office/drawing/2014/main" val="1840912725"/>
                  </a:ext>
                </a:extLst>
              </a:tr>
              <a:tr h="428767">
                <a:tc>
                  <a:txBody>
                    <a:bodyPr/>
                    <a:lstStyle/>
                    <a:p>
                      <a:r>
                        <a:rPr lang="en-US" sz="1200" dirty="0"/>
                        <a:t>Unknown</a:t>
                      </a:r>
                    </a:p>
                  </a:txBody>
                  <a:tcPr>
                    <a:solidFill>
                      <a:schemeClr val="accent6">
                        <a:lumMod val="40000"/>
                        <a:lumOff val="60000"/>
                      </a:schemeClr>
                    </a:solidFill>
                  </a:tcPr>
                </a:tc>
                <a:tc>
                  <a:txBody>
                    <a:bodyPr/>
                    <a:lstStyle/>
                    <a:p>
                      <a:r>
                        <a:rPr lang="en-US" sz="1200" dirty="0"/>
                        <a:t>12.0</a:t>
                      </a:r>
                    </a:p>
                  </a:txBody>
                  <a:tcPr>
                    <a:solidFill>
                      <a:schemeClr val="accent6">
                        <a:lumMod val="40000"/>
                        <a:lumOff val="60000"/>
                      </a:schemeClr>
                    </a:solidFill>
                  </a:tcPr>
                </a:tc>
                <a:extLst>
                  <a:ext uri="{0D108BD9-81ED-4DB2-BD59-A6C34878D82A}">
                    <a16:rowId xmlns:a16="http://schemas.microsoft.com/office/drawing/2014/main" val="1468553211"/>
                  </a:ext>
                </a:extLst>
              </a:tr>
            </a:tbl>
          </a:graphicData>
        </a:graphic>
      </p:graphicFrame>
      <p:sp>
        <p:nvSpPr>
          <p:cNvPr id="3" name="TextBox 2">
            <a:extLst>
              <a:ext uri="{FF2B5EF4-FFF2-40B4-BE49-F238E27FC236}">
                <a16:creationId xmlns:a16="http://schemas.microsoft.com/office/drawing/2014/main" id="{BD8A39F9-B9B1-F958-8541-0C53DB315072}"/>
              </a:ext>
            </a:extLst>
          </p:cNvPr>
          <p:cNvSpPr txBox="1"/>
          <p:nvPr/>
        </p:nvSpPr>
        <p:spPr>
          <a:xfrm>
            <a:off x="4572000" y="419725"/>
            <a:ext cx="3710061" cy="738664"/>
          </a:xfrm>
          <a:prstGeom prst="rect">
            <a:avLst/>
          </a:prstGeom>
          <a:noFill/>
        </p:spPr>
        <p:txBody>
          <a:bodyPr wrap="square" rtlCol="0">
            <a:spAutoFit/>
          </a:bodyPr>
          <a:lstStyle/>
          <a:p>
            <a:r>
              <a:rPr lang="en-US" sz="1400" dirty="0"/>
              <a:t>8.1% of people who have at least one secondary factor listed have a garbage code (same as overall average).</a:t>
            </a:r>
          </a:p>
        </p:txBody>
      </p:sp>
    </p:spTree>
    <p:extLst>
      <p:ext uri="{BB962C8B-B14F-4D97-AF65-F5344CB8AC3E}">
        <p14:creationId xmlns:p14="http://schemas.microsoft.com/office/powerpoint/2010/main" val="4013283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41DFDD02-25F4-62BC-4C97-78E52ACE7BE0}"/>
            </a:ext>
          </a:extLst>
        </p:cNvPr>
        <p:cNvGrpSpPr/>
        <p:nvPr/>
      </p:nvGrpSpPr>
      <p:grpSpPr>
        <a:xfrm>
          <a:off x="0" y="0"/>
          <a:ext cx="0" cy="0"/>
          <a:chOff x="0" y="0"/>
          <a:chExt cx="0" cy="0"/>
        </a:xfrm>
      </p:grpSpPr>
      <p:pic>
        <p:nvPicPr>
          <p:cNvPr id="4" name="Picture 3" descr="A graph with lines and numbers&#10;&#10;AI-generated content may be incorrect.">
            <a:extLst>
              <a:ext uri="{FF2B5EF4-FFF2-40B4-BE49-F238E27FC236}">
                <a16:creationId xmlns:a16="http://schemas.microsoft.com/office/drawing/2014/main" id="{DE24CD9A-9953-0B3A-A410-51C4A415674F}"/>
              </a:ext>
            </a:extLst>
          </p:cNvPr>
          <p:cNvPicPr>
            <a:picLocks noChangeAspect="1"/>
          </p:cNvPicPr>
          <p:nvPr/>
        </p:nvPicPr>
        <p:blipFill>
          <a:blip r:embed="rId3"/>
          <a:stretch>
            <a:fillRect/>
          </a:stretch>
        </p:blipFill>
        <p:spPr>
          <a:xfrm>
            <a:off x="450642" y="188595"/>
            <a:ext cx="7943850" cy="4766310"/>
          </a:xfrm>
          <a:prstGeom prst="rect">
            <a:avLst/>
          </a:prstGeom>
        </p:spPr>
      </p:pic>
    </p:spTree>
    <p:extLst>
      <p:ext uri="{BB962C8B-B14F-4D97-AF65-F5344CB8AC3E}">
        <p14:creationId xmlns:p14="http://schemas.microsoft.com/office/powerpoint/2010/main" val="36997603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
          <a:extLst>
            <a:ext uri="{FF2B5EF4-FFF2-40B4-BE49-F238E27FC236}">
              <a16:creationId xmlns:a16="http://schemas.microsoft.com/office/drawing/2014/main" id="{69990418-FDFA-13EE-1037-8189155A9D0F}"/>
            </a:ext>
          </a:extLst>
        </p:cNvPr>
        <p:cNvGrpSpPr/>
        <p:nvPr/>
      </p:nvGrpSpPr>
      <p:grpSpPr>
        <a:xfrm>
          <a:off x="0" y="0"/>
          <a:ext cx="0" cy="0"/>
          <a:chOff x="0" y="0"/>
          <a:chExt cx="0" cy="0"/>
        </a:xfrm>
      </p:grpSpPr>
      <p:sp>
        <p:nvSpPr>
          <p:cNvPr id="65" name="Google Shape;65;p15">
            <a:extLst>
              <a:ext uri="{FF2B5EF4-FFF2-40B4-BE49-F238E27FC236}">
                <a16:creationId xmlns:a16="http://schemas.microsoft.com/office/drawing/2014/main" id="{34CBB427-3F56-AB04-2AF0-C594D1906370}"/>
              </a:ext>
            </a:extLst>
          </p:cNvPr>
          <p:cNvSpPr txBox="1">
            <a:spLocks noGrp="1"/>
          </p:cNvSpPr>
          <p:nvPr>
            <p:ph type="title"/>
          </p:nvPr>
        </p:nvSpPr>
        <p:spPr>
          <a:xfrm>
            <a:off x="311700" y="304088"/>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What are GBD severities?</a:t>
            </a:r>
            <a:endParaRPr dirty="0"/>
          </a:p>
        </p:txBody>
      </p:sp>
      <p:sp>
        <p:nvSpPr>
          <p:cNvPr id="2" name="TextBox 1">
            <a:extLst>
              <a:ext uri="{FF2B5EF4-FFF2-40B4-BE49-F238E27FC236}">
                <a16:creationId xmlns:a16="http://schemas.microsoft.com/office/drawing/2014/main" id="{FEC83B23-5F76-57C9-9997-032E90D8204F}"/>
              </a:ext>
            </a:extLst>
          </p:cNvPr>
          <p:cNvSpPr txBox="1"/>
          <p:nvPr/>
        </p:nvSpPr>
        <p:spPr>
          <a:xfrm>
            <a:off x="449705" y="4354663"/>
            <a:ext cx="7659974" cy="553998"/>
          </a:xfrm>
          <a:prstGeom prst="rect">
            <a:avLst/>
          </a:prstGeom>
          <a:noFill/>
        </p:spPr>
        <p:txBody>
          <a:bodyPr wrap="square" rtlCol="0">
            <a:spAutoFit/>
          </a:bodyPr>
          <a:lstStyle/>
          <a:p>
            <a:r>
              <a:rPr lang="en-US" sz="1000" dirty="0"/>
              <a:t>Source: </a:t>
            </a:r>
            <a:r>
              <a:rPr lang="en-CA" sz="1000" dirty="0" err="1"/>
              <a:t>Monasta</a:t>
            </a:r>
            <a:r>
              <a:rPr lang="en-CA" sz="1000" dirty="0"/>
              <a:t>, L., Alicandro, G., </a:t>
            </a:r>
            <a:r>
              <a:rPr lang="en-CA" sz="1000" dirty="0" err="1"/>
              <a:t>Pasovic</a:t>
            </a:r>
            <a:r>
              <a:rPr lang="en-CA" sz="1000" dirty="0"/>
              <a:t>, M., Cunningham, M., Armocida, B., JL Murray, C., ... &amp; </a:t>
            </a:r>
            <a:r>
              <a:rPr lang="en-CA" sz="1000" dirty="0" err="1"/>
              <a:t>Naghavi</a:t>
            </a:r>
            <a:r>
              <a:rPr lang="en-CA" sz="1000" dirty="0"/>
              <a:t>, M. (2022). Redistribution of garbage codes to underlying causes of death: a systematic analysis on Italy and a comparison with most populous Western European countries based on the Global Burden of Disease Study 2019. </a:t>
            </a:r>
            <a:r>
              <a:rPr lang="en-CA" sz="1000" i="1" dirty="0"/>
              <a:t>European Journal of Public Health</a:t>
            </a:r>
            <a:r>
              <a:rPr lang="en-CA" sz="1000" dirty="0"/>
              <a:t>, </a:t>
            </a:r>
            <a:r>
              <a:rPr lang="en-CA" sz="1000" i="1" dirty="0"/>
              <a:t>32</a:t>
            </a:r>
            <a:r>
              <a:rPr lang="en-CA" sz="1000" dirty="0"/>
              <a:t>(3), 456-462.</a:t>
            </a:r>
            <a:endParaRPr lang="en-US" sz="1000" dirty="0"/>
          </a:p>
        </p:txBody>
      </p:sp>
      <p:sp>
        <p:nvSpPr>
          <p:cNvPr id="4" name="TextBox 3">
            <a:extLst>
              <a:ext uri="{FF2B5EF4-FFF2-40B4-BE49-F238E27FC236}">
                <a16:creationId xmlns:a16="http://schemas.microsoft.com/office/drawing/2014/main" id="{CEB84337-187B-EB04-0F0D-306C937DE214}"/>
              </a:ext>
            </a:extLst>
          </p:cNvPr>
          <p:cNvSpPr txBox="1"/>
          <p:nvPr/>
        </p:nvSpPr>
        <p:spPr>
          <a:xfrm>
            <a:off x="449705" y="1018875"/>
            <a:ext cx="7869835" cy="3477875"/>
          </a:xfrm>
          <a:prstGeom prst="rect">
            <a:avLst/>
          </a:prstGeom>
          <a:noFill/>
        </p:spPr>
        <p:txBody>
          <a:bodyPr wrap="square">
            <a:spAutoFit/>
          </a:bodyPr>
          <a:lstStyle/>
          <a:p>
            <a:pPr algn="l" fontAlgn="base">
              <a:buFont typeface="Arial" panose="020B0604020202020204" pitchFamily="34" charset="0"/>
              <a:buChar char="•"/>
            </a:pPr>
            <a:r>
              <a:rPr lang="en-CA" sz="1600" b="0" i="0" u="none" strike="noStrike" dirty="0">
                <a:solidFill>
                  <a:srgbClr val="2A2A2A"/>
                </a:solidFill>
                <a:effectLst/>
                <a:latin typeface="inherit"/>
              </a:rPr>
              <a:t>Class 1 comprises GCs that could be redistributed to any </a:t>
            </a:r>
            <a:r>
              <a:rPr lang="en-CA" sz="1600" b="0" i="0" u="none" strike="noStrike" dirty="0" err="1">
                <a:solidFill>
                  <a:srgbClr val="2A2A2A"/>
                </a:solidFill>
                <a:effectLst/>
                <a:latin typeface="inherit"/>
              </a:rPr>
              <a:t>UCoD</a:t>
            </a:r>
            <a:r>
              <a:rPr lang="en-CA" sz="1600" b="0" i="0" u="none" strike="noStrike" dirty="0">
                <a:solidFill>
                  <a:srgbClr val="2A2A2A"/>
                </a:solidFill>
                <a:effectLst/>
                <a:latin typeface="inherit"/>
              </a:rPr>
              <a:t> in any of the three Level 1 cause groups of diseases and injuries (e.g. sepsis): Communicable diseases, non-communicable diseases and Injuries. They are the most difficult to redistribute and require the most modelling.</a:t>
            </a:r>
          </a:p>
          <a:p>
            <a:pPr algn="l" fontAlgn="base">
              <a:buFont typeface="Arial" panose="020B0604020202020204" pitchFamily="34" charset="0"/>
              <a:buChar char="•"/>
            </a:pPr>
            <a:r>
              <a:rPr lang="en-CA" sz="1600" b="0" i="0" u="none" strike="noStrike" dirty="0">
                <a:solidFill>
                  <a:srgbClr val="2A2A2A"/>
                </a:solidFill>
                <a:effectLst/>
                <a:latin typeface="inherit"/>
              </a:rPr>
              <a:t>Class 2 comprises GCs that could be redistributed to any </a:t>
            </a:r>
            <a:r>
              <a:rPr lang="en-CA" sz="1600" b="0" i="0" u="none" strike="noStrike" dirty="0" err="1">
                <a:solidFill>
                  <a:srgbClr val="2A2A2A"/>
                </a:solidFill>
                <a:effectLst/>
                <a:latin typeface="inherit"/>
              </a:rPr>
              <a:t>UCoD</a:t>
            </a:r>
            <a:r>
              <a:rPr lang="en-CA" sz="1600" b="0" i="0" u="none" strike="noStrike" dirty="0">
                <a:solidFill>
                  <a:srgbClr val="2A2A2A"/>
                </a:solidFill>
                <a:effectLst/>
                <a:latin typeface="inherit"/>
              </a:rPr>
              <a:t> in one or two of the three Level 1 cause groups of diseases and injuries (e.g. unspecified and undetermined intent of injury).</a:t>
            </a:r>
          </a:p>
          <a:p>
            <a:pPr algn="l" fontAlgn="base">
              <a:buFont typeface="Arial" panose="020B0604020202020204" pitchFamily="34" charset="0"/>
              <a:buChar char="•"/>
            </a:pPr>
            <a:r>
              <a:rPr lang="en-CA" sz="1600" b="0" i="0" u="none" strike="noStrike" dirty="0">
                <a:solidFill>
                  <a:srgbClr val="2A2A2A"/>
                </a:solidFill>
                <a:effectLst/>
                <a:latin typeface="inherit"/>
              </a:rPr>
              <a:t>Class 3 includes GCs for which the </a:t>
            </a:r>
            <a:r>
              <a:rPr lang="en-CA" sz="1600" b="0" i="0" u="none" strike="noStrike" dirty="0" err="1">
                <a:solidFill>
                  <a:srgbClr val="2A2A2A"/>
                </a:solidFill>
                <a:effectLst/>
                <a:latin typeface="inherit"/>
              </a:rPr>
              <a:t>UCoD</a:t>
            </a:r>
            <a:r>
              <a:rPr lang="en-CA" sz="1600" b="0" i="0" u="none" strike="noStrike" dirty="0">
                <a:solidFill>
                  <a:srgbClr val="2A2A2A"/>
                </a:solidFill>
                <a:effectLst/>
                <a:latin typeface="inherit"/>
              </a:rPr>
              <a:t> is likely part of the same ICD chapter (e.g. CUP).</a:t>
            </a:r>
          </a:p>
          <a:p>
            <a:pPr algn="l" fontAlgn="base">
              <a:buFont typeface="Arial" panose="020B0604020202020204" pitchFamily="34" charset="0"/>
              <a:buChar char="•"/>
            </a:pPr>
            <a:r>
              <a:rPr lang="en-CA" sz="1600" b="0" i="0" u="none" strike="noStrike" dirty="0">
                <a:solidFill>
                  <a:srgbClr val="2A2A2A"/>
                </a:solidFill>
                <a:effectLst/>
                <a:latin typeface="inherit"/>
              </a:rPr>
              <a:t>Class 4 is the one with less policy implications and identifies GCs for which the </a:t>
            </a:r>
            <a:r>
              <a:rPr lang="en-CA" sz="1600" b="0" i="0" u="none" strike="noStrike" dirty="0" err="1">
                <a:solidFill>
                  <a:srgbClr val="2A2A2A"/>
                </a:solidFill>
                <a:effectLst/>
                <a:latin typeface="inherit"/>
              </a:rPr>
              <a:t>UCoD</a:t>
            </a:r>
            <a:r>
              <a:rPr lang="en-CA" sz="1600" b="0" i="0" u="none" strike="noStrike" dirty="0">
                <a:solidFill>
                  <a:srgbClr val="2A2A2A"/>
                </a:solidFill>
                <a:effectLst/>
                <a:latin typeface="inherit"/>
              </a:rPr>
              <a:t> is likely to be attributed to a single disease or injury (e.g. unspecified type of stroke).</a:t>
            </a:r>
          </a:p>
          <a:p>
            <a:pPr algn="l" fontAlgn="base">
              <a:buFont typeface="Arial" panose="020B0604020202020204" pitchFamily="34" charset="0"/>
              <a:buChar char="•"/>
            </a:pPr>
            <a:endParaRPr lang="en-CA" sz="1600" dirty="0">
              <a:solidFill>
                <a:srgbClr val="2A2A2A"/>
              </a:solidFill>
              <a:latin typeface="inherit"/>
            </a:endParaRPr>
          </a:p>
          <a:p>
            <a:pPr fontAlgn="base"/>
            <a:r>
              <a:rPr lang="en-US" sz="1400" dirty="0"/>
              <a:t>Note that the IHME GBD severity typology is designed to assess the impact of a garbage code on global health statistics. We may want to make our own typology specific to high income countries like the US.</a:t>
            </a:r>
          </a:p>
          <a:p>
            <a:pPr algn="l" fontAlgn="base">
              <a:buFont typeface="Arial" panose="020B0604020202020204" pitchFamily="34" charset="0"/>
              <a:buChar char="•"/>
            </a:pPr>
            <a:endParaRPr lang="en-CA" sz="1600" b="0" i="0" u="none" strike="noStrike" dirty="0">
              <a:solidFill>
                <a:srgbClr val="2A2A2A"/>
              </a:solidFill>
              <a:effectLst/>
              <a:latin typeface="inherit"/>
            </a:endParaRPr>
          </a:p>
        </p:txBody>
      </p:sp>
    </p:spTree>
    <p:extLst>
      <p:ext uri="{BB962C8B-B14F-4D97-AF65-F5344CB8AC3E}">
        <p14:creationId xmlns:p14="http://schemas.microsoft.com/office/powerpoint/2010/main" val="11288696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6"/>
          <p:cNvSpPr txBox="1">
            <a:spLocks noGrp="1"/>
          </p:cNvSpPr>
          <p:nvPr>
            <p:ph type="title"/>
          </p:nvPr>
        </p:nvSpPr>
        <p:spPr>
          <a:xfrm>
            <a:off x="442775" y="170092"/>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000" dirty="0"/>
              <a:t>Top 11 Garbage Codes in 2016</a:t>
            </a:r>
            <a:endParaRPr sz="2000" dirty="0"/>
          </a:p>
        </p:txBody>
      </p:sp>
      <p:graphicFrame>
        <p:nvGraphicFramePr>
          <p:cNvPr id="73" name="Google Shape;73;p16"/>
          <p:cNvGraphicFramePr/>
          <p:nvPr>
            <p:extLst>
              <p:ext uri="{D42A27DB-BD31-4B8C-83A1-F6EECF244321}">
                <p14:modId xmlns:p14="http://schemas.microsoft.com/office/powerpoint/2010/main" val="2660628568"/>
              </p:ext>
            </p:extLst>
          </p:nvPr>
        </p:nvGraphicFramePr>
        <p:xfrm>
          <a:off x="525450" y="713551"/>
          <a:ext cx="6948777" cy="4180356"/>
        </p:xfrm>
        <a:graphic>
          <a:graphicData uri="http://schemas.openxmlformats.org/drawingml/2006/table">
            <a:tbl>
              <a:tblPr>
                <a:noFill/>
                <a:tableStyleId>{A6B56FE9-9935-4933-9EED-B9BDDED56D02}</a:tableStyleId>
              </a:tblPr>
              <a:tblGrid>
                <a:gridCol w="467394">
                  <a:extLst>
                    <a:ext uri="{9D8B030D-6E8A-4147-A177-3AD203B41FA5}">
                      <a16:colId xmlns:a16="http://schemas.microsoft.com/office/drawing/2014/main" val="20000"/>
                    </a:ext>
                  </a:extLst>
                </a:gridCol>
                <a:gridCol w="3212013">
                  <a:extLst>
                    <a:ext uri="{9D8B030D-6E8A-4147-A177-3AD203B41FA5}">
                      <a16:colId xmlns:a16="http://schemas.microsoft.com/office/drawing/2014/main" val="20001"/>
                    </a:ext>
                  </a:extLst>
                </a:gridCol>
                <a:gridCol w="1003763">
                  <a:extLst>
                    <a:ext uri="{9D8B030D-6E8A-4147-A177-3AD203B41FA5}">
                      <a16:colId xmlns:a16="http://schemas.microsoft.com/office/drawing/2014/main" val="20002"/>
                    </a:ext>
                  </a:extLst>
                </a:gridCol>
                <a:gridCol w="587893">
                  <a:extLst>
                    <a:ext uri="{9D8B030D-6E8A-4147-A177-3AD203B41FA5}">
                      <a16:colId xmlns:a16="http://schemas.microsoft.com/office/drawing/2014/main" val="20003"/>
                    </a:ext>
                  </a:extLst>
                </a:gridCol>
                <a:gridCol w="1677714">
                  <a:extLst>
                    <a:ext uri="{9D8B030D-6E8A-4147-A177-3AD203B41FA5}">
                      <a16:colId xmlns:a16="http://schemas.microsoft.com/office/drawing/2014/main" val="20004"/>
                    </a:ext>
                  </a:extLst>
                </a:gridCol>
              </a:tblGrid>
              <a:tr h="387223">
                <a:tc>
                  <a:txBody>
                    <a:bodyPr/>
                    <a:lstStyle/>
                    <a:p>
                      <a:pPr marL="0" lvl="0" indent="0" algn="l" rtl="0">
                        <a:lnSpc>
                          <a:spcPct val="115000"/>
                        </a:lnSpc>
                        <a:spcBef>
                          <a:spcPts val="0"/>
                        </a:spcBef>
                        <a:spcAft>
                          <a:spcPts val="0"/>
                        </a:spcAft>
                        <a:buNone/>
                      </a:pPr>
                      <a:r>
                        <a:rPr lang="en" sz="1000" b="1"/>
                        <a:t>ICD10 </a:t>
                      </a:r>
                      <a:endParaRPr sz="100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0B3B2"/>
                    </a:solidFill>
                  </a:tcPr>
                </a:tc>
                <a:tc>
                  <a:txBody>
                    <a:bodyPr/>
                    <a:lstStyle/>
                    <a:p>
                      <a:pPr marL="0" lvl="0" indent="0" algn="l" rtl="0">
                        <a:lnSpc>
                          <a:spcPct val="115000"/>
                        </a:lnSpc>
                        <a:spcBef>
                          <a:spcPts val="0"/>
                        </a:spcBef>
                        <a:spcAft>
                          <a:spcPts val="0"/>
                        </a:spcAft>
                        <a:buNone/>
                      </a:pPr>
                      <a:r>
                        <a:rPr lang="en" sz="1000" b="1" dirty="0"/>
                        <a:t>Description</a:t>
                      </a:r>
                      <a:endParaRPr sz="1000" b="1"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0B3B2"/>
                    </a:solidFill>
                  </a:tcPr>
                </a:tc>
                <a:tc>
                  <a:txBody>
                    <a:bodyPr/>
                    <a:lstStyle/>
                    <a:p>
                      <a:pPr marL="0" lvl="0" indent="0" algn="l" rtl="0">
                        <a:lnSpc>
                          <a:spcPct val="115000"/>
                        </a:lnSpc>
                        <a:spcBef>
                          <a:spcPts val="0"/>
                        </a:spcBef>
                        <a:spcAft>
                          <a:spcPts val="0"/>
                        </a:spcAft>
                        <a:buNone/>
                      </a:pPr>
                      <a:r>
                        <a:rPr lang="en" sz="1000" b="1"/>
                        <a:t>GBD Severity Index</a:t>
                      </a:r>
                      <a:endParaRPr sz="100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0B3B2"/>
                    </a:solidFill>
                  </a:tcPr>
                </a:tc>
                <a:tc>
                  <a:txBody>
                    <a:bodyPr/>
                    <a:lstStyle/>
                    <a:p>
                      <a:pPr marL="0" lvl="0" indent="0" algn="l" rtl="0">
                        <a:lnSpc>
                          <a:spcPct val="115000"/>
                        </a:lnSpc>
                        <a:spcBef>
                          <a:spcPts val="0"/>
                        </a:spcBef>
                        <a:spcAft>
                          <a:spcPts val="0"/>
                        </a:spcAft>
                        <a:buNone/>
                      </a:pPr>
                      <a:r>
                        <a:rPr lang="en" sz="1000" b="1"/>
                        <a:t>Deaths</a:t>
                      </a:r>
                      <a:endParaRPr sz="100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0B3B2"/>
                    </a:solidFill>
                  </a:tcPr>
                </a:tc>
                <a:tc>
                  <a:txBody>
                    <a:bodyPr/>
                    <a:lstStyle/>
                    <a:p>
                      <a:pPr marL="0" lvl="0" indent="0" algn="l" rtl="0">
                        <a:lnSpc>
                          <a:spcPct val="115000"/>
                        </a:lnSpc>
                        <a:spcBef>
                          <a:spcPts val="0"/>
                        </a:spcBef>
                        <a:spcAft>
                          <a:spcPts val="0"/>
                        </a:spcAft>
                        <a:buNone/>
                      </a:pPr>
                      <a:r>
                        <a:rPr lang="en" sz="1000" b="1"/>
                        <a:t>Share (of garbage codes)</a:t>
                      </a:r>
                      <a:endParaRPr sz="100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0B3B2"/>
                    </a:solidFill>
                  </a:tcPr>
                </a:tc>
                <a:extLst>
                  <a:ext uri="{0D108BD9-81ED-4DB2-BD59-A6C34878D82A}">
                    <a16:rowId xmlns:a16="http://schemas.microsoft.com/office/drawing/2014/main" val="10000"/>
                  </a:ext>
                </a:extLst>
              </a:tr>
              <a:tr h="304304">
                <a:tc>
                  <a:txBody>
                    <a:bodyPr/>
                    <a:lstStyle/>
                    <a:p>
                      <a:pPr marL="0" lvl="0" indent="0" algn="l" rtl="0">
                        <a:lnSpc>
                          <a:spcPct val="115000"/>
                        </a:lnSpc>
                        <a:spcBef>
                          <a:spcPts val="0"/>
                        </a:spcBef>
                        <a:spcAft>
                          <a:spcPts val="0"/>
                        </a:spcAft>
                        <a:buNone/>
                      </a:pPr>
                      <a:r>
                        <a:rPr lang="en" sz="850" b="1"/>
                        <a:t>I64</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solidFill>
                            <a:schemeClr val="dk1"/>
                          </a:solidFill>
                          <a:highlight>
                            <a:srgbClr val="FFFFFF"/>
                          </a:highlight>
                        </a:rPr>
                        <a:t>Stroke, not specified as </a:t>
                      </a:r>
                      <a:r>
                        <a:rPr lang="en" sz="800" dirty="0" err="1">
                          <a:solidFill>
                            <a:schemeClr val="dk1"/>
                          </a:solidFill>
                          <a:highlight>
                            <a:srgbClr val="FFFFFF"/>
                          </a:highlight>
                        </a:rPr>
                        <a:t>haemorrhage</a:t>
                      </a:r>
                      <a:r>
                        <a:rPr lang="en" sz="800" dirty="0">
                          <a:solidFill>
                            <a:schemeClr val="dk1"/>
                          </a:solidFill>
                          <a:highlight>
                            <a:srgbClr val="FFFFFF"/>
                          </a:highlight>
                        </a:rPr>
                        <a:t> or infarction</a:t>
                      </a:r>
                      <a:endParaRPr sz="80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4</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61818</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27.5%</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56467">
                <a:tc>
                  <a:txBody>
                    <a:bodyPr/>
                    <a:lstStyle/>
                    <a:p>
                      <a:pPr marL="0" lvl="0" indent="0" algn="l" rtl="0">
                        <a:lnSpc>
                          <a:spcPct val="115000"/>
                        </a:lnSpc>
                        <a:spcBef>
                          <a:spcPts val="0"/>
                        </a:spcBef>
                        <a:spcAft>
                          <a:spcPts val="0"/>
                        </a:spcAft>
                        <a:buNone/>
                      </a:pPr>
                      <a:r>
                        <a:rPr lang="en" sz="850" b="1"/>
                        <a:t>C80</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t>Malignant neoplasm without specification of site</a:t>
                      </a:r>
                      <a:endParaRPr sz="80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3</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27845</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12.4%</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24109">
                <a:tc>
                  <a:txBody>
                    <a:bodyPr/>
                    <a:lstStyle/>
                    <a:p>
                      <a:pPr marL="0" lvl="0" indent="0" algn="l" rtl="0">
                        <a:lnSpc>
                          <a:spcPct val="115000"/>
                        </a:lnSpc>
                        <a:spcBef>
                          <a:spcPts val="0"/>
                        </a:spcBef>
                        <a:spcAft>
                          <a:spcPts val="0"/>
                        </a:spcAft>
                        <a:buNone/>
                      </a:pPr>
                      <a:r>
                        <a:rPr lang="en" sz="850" b="1"/>
                        <a:t>X42</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a:solidFill>
                            <a:schemeClr val="dk1"/>
                          </a:solidFill>
                          <a:highlight>
                            <a:srgbClr val="FFFFFF"/>
                          </a:highlight>
                        </a:rPr>
                        <a:t>Accidental poisoning by and exposure to narcotics and psychodysleptics [hallucinogens], not elsewhere classified</a:t>
                      </a:r>
                      <a:endParaRPr sz="80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26195</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11.7%</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24109">
                <a:tc>
                  <a:txBody>
                    <a:bodyPr/>
                    <a:lstStyle/>
                    <a:p>
                      <a:pPr marL="0" lvl="0" indent="0" algn="l" rtl="0">
                        <a:lnSpc>
                          <a:spcPct val="115000"/>
                        </a:lnSpc>
                        <a:spcBef>
                          <a:spcPts val="0"/>
                        </a:spcBef>
                        <a:spcAft>
                          <a:spcPts val="0"/>
                        </a:spcAft>
                        <a:buNone/>
                      </a:pPr>
                      <a:r>
                        <a:rPr lang="en" sz="850" b="1" dirty="0"/>
                        <a:t>X44</a:t>
                      </a:r>
                      <a:endParaRPr sz="850" b="1"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a:solidFill>
                            <a:schemeClr val="dk1"/>
                          </a:solidFill>
                          <a:highlight>
                            <a:srgbClr val="FFFFFF"/>
                          </a:highlight>
                        </a:rPr>
                        <a:t>Accidental poisoning by and exposure to other and unspecified drugs, medicaments and biological substances</a:t>
                      </a:r>
                      <a:endParaRPr sz="80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23980</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10.7%</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04304">
                <a:tc>
                  <a:txBody>
                    <a:bodyPr/>
                    <a:lstStyle/>
                    <a:p>
                      <a:pPr marL="0" lvl="0" indent="0" algn="l" rtl="0">
                        <a:lnSpc>
                          <a:spcPct val="115000"/>
                        </a:lnSpc>
                        <a:spcBef>
                          <a:spcPts val="0"/>
                        </a:spcBef>
                        <a:spcAft>
                          <a:spcPts val="0"/>
                        </a:spcAft>
                        <a:buNone/>
                      </a:pPr>
                      <a:r>
                        <a:rPr lang="en" sz="850" b="1"/>
                        <a:t>I10</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a:t>Essential (primary) hypertension</a:t>
                      </a:r>
                      <a:endParaRPr sz="80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2</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21308</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9.5%</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04304">
                <a:tc>
                  <a:txBody>
                    <a:bodyPr/>
                    <a:lstStyle/>
                    <a:p>
                      <a:pPr marL="0" lvl="0" indent="0" algn="l" rtl="0">
                        <a:lnSpc>
                          <a:spcPct val="115000"/>
                        </a:lnSpc>
                        <a:spcBef>
                          <a:spcPts val="0"/>
                        </a:spcBef>
                        <a:spcAft>
                          <a:spcPts val="0"/>
                        </a:spcAft>
                        <a:buNone/>
                      </a:pPr>
                      <a:r>
                        <a:rPr lang="en" sz="850" b="1"/>
                        <a:t>R99</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t>Ill-defined and unknown cause of mortality</a:t>
                      </a:r>
                      <a:endParaRPr sz="80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13381</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6.0%</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04304">
                <a:tc>
                  <a:txBody>
                    <a:bodyPr/>
                    <a:lstStyle/>
                    <a:p>
                      <a:pPr marL="0" lvl="0" indent="0" algn="l" rtl="0">
                        <a:lnSpc>
                          <a:spcPct val="115000"/>
                        </a:lnSpc>
                        <a:spcBef>
                          <a:spcPts val="0"/>
                        </a:spcBef>
                        <a:spcAft>
                          <a:spcPts val="0"/>
                        </a:spcAft>
                        <a:buNone/>
                      </a:pPr>
                      <a:r>
                        <a:rPr lang="en" sz="850" b="1"/>
                        <a:t>N19</a:t>
                      </a:r>
                      <a:endParaRPr sz="850" b="1"/>
                    </a:p>
                  </a:txBody>
                  <a:tcPr marL="38100" marR="38100" marT="38100" marB="38100">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a:t>Unspecified kidney failure</a:t>
                      </a:r>
                      <a:endParaRPr sz="80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a:t>
                      </a:r>
                      <a:endParaRPr sz="85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8832</a:t>
                      </a:r>
                      <a:endParaRPr sz="85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0.3.9%</a:t>
                      </a:r>
                      <a:endParaRPr sz="850" dirty="0"/>
                    </a:p>
                  </a:txBody>
                  <a:tcPr marL="38100" marR="38100" marT="38100" marB="3810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304304">
                <a:tc>
                  <a:txBody>
                    <a:bodyPr/>
                    <a:lstStyle/>
                    <a:p>
                      <a:pPr marL="0" lvl="0" indent="0" algn="l" rtl="0">
                        <a:lnSpc>
                          <a:spcPct val="115000"/>
                        </a:lnSpc>
                        <a:spcBef>
                          <a:spcPts val="0"/>
                        </a:spcBef>
                        <a:spcAft>
                          <a:spcPts val="0"/>
                        </a:spcAft>
                        <a:buNone/>
                      </a:pPr>
                      <a:r>
                        <a:rPr lang="en" sz="850" b="1"/>
                        <a:t>C55</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a:t>Malignant neoplasm of uterus, part unspecified</a:t>
                      </a:r>
                      <a:endParaRPr sz="80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3</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5329</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2.4%</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304304">
                <a:tc>
                  <a:txBody>
                    <a:bodyPr/>
                    <a:lstStyle/>
                    <a:p>
                      <a:pPr marL="0" lvl="0" indent="0" algn="l" rtl="0">
                        <a:lnSpc>
                          <a:spcPct val="115000"/>
                        </a:lnSpc>
                        <a:spcBef>
                          <a:spcPts val="0"/>
                        </a:spcBef>
                        <a:spcAft>
                          <a:spcPts val="0"/>
                        </a:spcAft>
                        <a:buNone/>
                      </a:pPr>
                      <a:r>
                        <a:rPr lang="en" sz="850" b="1"/>
                        <a:t>C97</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a:solidFill>
                            <a:schemeClr val="dk1"/>
                          </a:solidFill>
                          <a:highlight>
                            <a:srgbClr val="FFFFFF"/>
                          </a:highlight>
                        </a:rPr>
                        <a:t>Malignant neoplasms of independent (primary) multiple sites</a:t>
                      </a:r>
                      <a:endParaRPr sz="80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3</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4852</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2.1%</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r h="324109">
                <a:tc>
                  <a:txBody>
                    <a:bodyPr/>
                    <a:lstStyle/>
                    <a:p>
                      <a:pPr marL="0" lvl="0" indent="0" algn="l" rtl="0">
                        <a:lnSpc>
                          <a:spcPct val="115000"/>
                        </a:lnSpc>
                        <a:spcBef>
                          <a:spcPts val="0"/>
                        </a:spcBef>
                        <a:spcAft>
                          <a:spcPts val="0"/>
                        </a:spcAft>
                        <a:buNone/>
                      </a:pPr>
                      <a:r>
                        <a:rPr lang="en" sz="850" b="1" dirty="0"/>
                        <a:t>X41</a:t>
                      </a:r>
                      <a:endParaRPr sz="850" b="1"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solidFill>
                            <a:schemeClr val="dk1"/>
                          </a:solidFill>
                          <a:highlight>
                            <a:srgbClr val="FFFFFF"/>
                          </a:highlight>
                        </a:rPr>
                        <a:t>Accidental poisoning by and exposure to antiepileptic, sedative-hypnotic, </a:t>
                      </a:r>
                      <a:r>
                        <a:rPr lang="en" sz="800" dirty="0" err="1">
                          <a:solidFill>
                            <a:schemeClr val="dk1"/>
                          </a:solidFill>
                          <a:highlight>
                            <a:srgbClr val="FFFFFF"/>
                          </a:highlight>
                        </a:rPr>
                        <a:t>antiparkinsonism</a:t>
                      </a:r>
                      <a:r>
                        <a:rPr lang="en" sz="800" dirty="0">
                          <a:solidFill>
                            <a:schemeClr val="dk1"/>
                          </a:solidFill>
                          <a:highlight>
                            <a:srgbClr val="FFFFFF"/>
                          </a:highlight>
                        </a:rPr>
                        <a:t> and psychotropic drugs, not elsewhere classified</a:t>
                      </a:r>
                      <a:endParaRPr sz="80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1</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4621</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2.0%</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10"/>
                  </a:ext>
                </a:extLst>
              </a:tr>
              <a:tr h="312025">
                <a:tc>
                  <a:txBody>
                    <a:bodyPr/>
                    <a:lstStyle/>
                    <a:p>
                      <a:pPr>
                        <a:buNone/>
                      </a:pPr>
                      <a:r>
                        <a:rPr lang="en-CA" sz="1000" dirty="0">
                          <a:effectLst/>
                        </a:rPr>
                        <a:t>R54</a:t>
                      </a:r>
                    </a:p>
                  </a:txBody>
                  <a:tcPr marL="47625" marR="47625" marT="38100" marB="38100" anchor="ctr">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a:buNone/>
                      </a:pPr>
                      <a:r>
                        <a:rPr lang="en-CA" sz="1000">
                          <a:effectLst/>
                        </a:rPr>
                        <a:t>Age-related physical debility</a:t>
                      </a:r>
                    </a:p>
                  </a:txBody>
                  <a:tcPr marL="47625" marR="47625" marT="38100" marB="381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r">
                        <a:buNone/>
                      </a:pPr>
                      <a:r>
                        <a:rPr lang="en-CA" sz="1000">
                          <a:effectLst/>
                        </a:rPr>
                        <a:t>1</a:t>
                      </a:r>
                    </a:p>
                  </a:txBody>
                  <a:tcPr marL="47625" marR="47625" marT="38100" marB="381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r">
                        <a:buNone/>
                      </a:pPr>
                      <a:r>
                        <a:rPr lang="en-CA" sz="1000">
                          <a:effectLst/>
                        </a:rPr>
                        <a:t>4228</a:t>
                      </a:r>
                    </a:p>
                  </a:txBody>
                  <a:tcPr marL="47625" marR="47625" marT="38100" marB="38100" anchor="ctr">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algn="r">
                        <a:buNone/>
                      </a:pPr>
                      <a:r>
                        <a:rPr lang="en-CA" sz="1000" dirty="0">
                          <a:effectLst/>
                        </a:rPr>
                        <a:t>1.9%</a:t>
                      </a:r>
                    </a:p>
                  </a:txBody>
                  <a:tcPr marL="47625" marR="47625" marT="38100" marB="38100" anchor="ctr">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391189857"/>
                  </a:ext>
                </a:extLst>
              </a:tr>
            </a:tbl>
          </a:graphicData>
        </a:graphic>
      </p:graphicFrame>
      <p:sp>
        <p:nvSpPr>
          <p:cNvPr id="2" name="TextBox 1">
            <a:extLst>
              <a:ext uri="{FF2B5EF4-FFF2-40B4-BE49-F238E27FC236}">
                <a16:creationId xmlns:a16="http://schemas.microsoft.com/office/drawing/2014/main" id="{2AA3068A-FE75-ED4D-0EEC-85BD113F07DD}"/>
              </a:ext>
            </a:extLst>
          </p:cNvPr>
          <p:cNvSpPr txBox="1"/>
          <p:nvPr/>
        </p:nvSpPr>
        <p:spPr>
          <a:xfrm>
            <a:off x="5881222" y="249593"/>
            <a:ext cx="2756652" cy="369332"/>
          </a:xfrm>
          <a:prstGeom prst="rect">
            <a:avLst/>
          </a:prstGeom>
          <a:noFill/>
        </p:spPr>
        <p:txBody>
          <a:bodyPr wrap="none" rtlCol="0">
            <a:spAutoFit/>
          </a:bodyPr>
          <a:lstStyle/>
          <a:p>
            <a:r>
              <a:rPr lang="en" dirty="0">
                <a:solidFill>
                  <a:schemeClr val="dk1"/>
                </a:solidFill>
              </a:rPr>
              <a:t>(underlying cause of </a:t>
            </a:r>
            <a:r>
              <a:rPr lang="en-CA" dirty="0">
                <a:solidFill>
                  <a:schemeClr val="dk1"/>
                </a:solidFill>
              </a:rPr>
              <a:t>death)</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C8C98D65-13EF-BC5C-AE40-E5FB2ACBFA2C}"/>
            </a:ext>
          </a:extLst>
        </p:cNvPr>
        <p:cNvGrpSpPr/>
        <p:nvPr/>
      </p:nvGrpSpPr>
      <p:grpSpPr>
        <a:xfrm>
          <a:off x="0" y="0"/>
          <a:ext cx="0" cy="0"/>
          <a:chOff x="0" y="0"/>
          <a:chExt cx="0" cy="0"/>
        </a:xfrm>
      </p:grpSpPr>
      <p:sp>
        <p:nvSpPr>
          <p:cNvPr id="59" name="Google Shape;59;p14">
            <a:extLst>
              <a:ext uri="{FF2B5EF4-FFF2-40B4-BE49-F238E27FC236}">
                <a16:creationId xmlns:a16="http://schemas.microsoft.com/office/drawing/2014/main" id="{A01CF6C9-6700-1D7C-804E-B9A63D313545}"/>
              </a:ext>
            </a:extLst>
          </p:cNvPr>
          <p:cNvSpPr txBox="1">
            <a:spLocks noGrp="1"/>
          </p:cNvSpPr>
          <p:nvPr>
            <p:ph type="ctrTitle"/>
          </p:nvPr>
        </p:nvSpPr>
        <p:spPr>
          <a:xfrm>
            <a:off x="311700" y="526125"/>
            <a:ext cx="8520600" cy="62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3170" dirty="0"/>
              <a:t>COD detail</a:t>
            </a:r>
            <a:endParaRPr sz="3170" dirty="0"/>
          </a:p>
        </p:txBody>
      </p:sp>
      <p:sp>
        <p:nvSpPr>
          <p:cNvPr id="60" name="Google Shape;60;p14">
            <a:extLst>
              <a:ext uri="{FF2B5EF4-FFF2-40B4-BE49-F238E27FC236}">
                <a16:creationId xmlns:a16="http://schemas.microsoft.com/office/drawing/2014/main" id="{77A2A6B9-D962-C09E-9073-AE954CCA2B20}"/>
              </a:ext>
            </a:extLst>
          </p:cNvPr>
          <p:cNvSpPr txBox="1"/>
          <p:nvPr/>
        </p:nvSpPr>
        <p:spPr>
          <a:xfrm>
            <a:off x="722532" y="1438487"/>
            <a:ext cx="7467312" cy="3250449"/>
          </a:xfrm>
          <a:prstGeom prst="rect">
            <a:avLst/>
          </a:prstGeom>
          <a:noFill/>
          <a:ln>
            <a:noFill/>
          </a:ln>
        </p:spPr>
        <p:txBody>
          <a:bodyPr spcFirstLastPara="1" wrap="square" lIns="91425" tIns="91425" rIns="91425" bIns="91425" anchor="t" anchorCtr="0">
            <a:noAutofit/>
          </a:bodyPr>
          <a:lstStyle/>
          <a:p>
            <a:pPr lvl="0"/>
            <a:r>
              <a:rPr lang="en-CA" dirty="0">
                <a:solidFill>
                  <a:schemeClr val="dk2"/>
                </a:solidFill>
              </a:rPr>
              <a:t>In ANACONDA this is simply the fraction of all possible underlying cause of death codes (according the IHME) that are used in the death registry. I get a COD detail only 33% for the United States in 2016, which seems very small so I’m wondering if this is wrong – will return to it. </a:t>
            </a:r>
          </a:p>
          <a:p>
            <a:pPr lvl="0"/>
            <a:endParaRPr lang="en-CA" dirty="0">
              <a:solidFill>
                <a:schemeClr val="dk2"/>
              </a:solidFill>
            </a:endParaRPr>
          </a:p>
          <a:p>
            <a:pPr lvl="0"/>
            <a:r>
              <a:rPr lang="en-CA" dirty="0">
                <a:solidFill>
                  <a:schemeClr val="dk2"/>
                </a:solidFill>
              </a:rPr>
              <a:t>How useful is this metric?</a:t>
            </a:r>
          </a:p>
        </p:txBody>
      </p:sp>
    </p:spTree>
    <p:extLst>
      <p:ext uri="{BB962C8B-B14F-4D97-AF65-F5344CB8AC3E}">
        <p14:creationId xmlns:p14="http://schemas.microsoft.com/office/powerpoint/2010/main" val="32516715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7881B526-5BD4-81EF-3559-7E3B32C7EDF0}"/>
            </a:ext>
          </a:extLst>
        </p:cNvPr>
        <p:cNvGrpSpPr/>
        <p:nvPr/>
      </p:nvGrpSpPr>
      <p:grpSpPr>
        <a:xfrm>
          <a:off x="0" y="0"/>
          <a:ext cx="0" cy="0"/>
          <a:chOff x="0" y="0"/>
          <a:chExt cx="0" cy="0"/>
        </a:xfrm>
      </p:grpSpPr>
      <p:sp>
        <p:nvSpPr>
          <p:cNvPr id="59" name="Google Shape;59;p14">
            <a:extLst>
              <a:ext uri="{FF2B5EF4-FFF2-40B4-BE49-F238E27FC236}">
                <a16:creationId xmlns:a16="http://schemas.microsoft.com/office/drawing/2014/main" id="{0DFDA5A6-9171-1213-8212-806C66B1EBDA}"/>
              </a:ext>
            </a:extLst>
          </p:cNvPr>
          <p:cNvSpPr txBox="1">
            <a:spLocks noGrp="1"/>
          </p:cNvSpPr>
          <p:nvPr>
            <p:ph type="ctrTitle"/>
          </p:nvPr>
        </p:nvSpPr>
        <p:spPr>
          <a:xfrm>
            <a:off x="311700" y="196149"/>
            <a:ext cx="8520600" cy="62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2800" dirty="0"/>
              <a:t>Number of Secondary Factors</a:t>
            </a:r>
            <a:endParaRPr sz="2800" dirty="0"/>
          </a:p>
        </p:txBody>
      </p:sp>
      <p:sp>
        <p:nvSpPr>
          <p:cNvPr id="60" name="Google Shape;60;p14">
            <a:extLst>
              <a:ext uri="{FF2B5EF4-FFF2-40B4-BE49-F238E27FC236}">
                <a16:creationId xmlns:a16="http://schemas.microsoft.com/office/drawing/2014/main" id="{C3E9D45D-9884-867A-E3DD-86856D8EB0AB}"/>
              </a:ext>
            </a:extLst>
          </p:cNvPr>
          <p:cNvSpPr txBox="1"/>
          <p:nvPr/>
        </p:nvSpPr>
        <p:spPr>
          <a:xfrm>
            <a:off x="557940" y="823449"/>
            <a:ext cx="7467312" cy="627300"/>
          </a:xfrm>
          <a:prstGeom prst="rect">
            <a:avLst/>
          </a:prstGeom>
          <a:noFill/>
          <a:ln>
            <a:noFill/>
          </a:ln>
        </p:spPr>
        <p:txBody>
          <a:bodyPr spcFirstLastPara="1" wrap="square" lIns="91425" tIns="91425" rIns="91425" bIns="91425" anchor="t" anchorCtr="0">
            <a:noAutofit/>
          </a:bodyPr>
          <a:lstStyle/>
          <a:p>
            <a:pPr lvl="0"/>
            <a:r>
              <a:rPr lang="en-CA" dirty="0">
                <a:solidFill>
                  <a:schemeClr val="dk2"/>
                </a:solidFill>
              </a:rPr>
              <a:t>The average number of listed secondary factors was 1.99</a:t>
            </a:r>
          </a:p>
        </p:txBody>
      </p:sp>
      <p:graphicFrame>
        <p:nvGraphicFramePr>
          <p:cNvPr id="2" name="Table 1">
            <a:extLst>
              <a:ext uri="{FF2B5EF4-FFF2-40B4-BE49-F238E27FC236}">
                <a16:creationId xmlns:a16="http://schemas.microsoft.com/office/drawing/2014/main" id="{BE27A06C-2D71-3C16-C2E0-41B74C59E014}"/>
              </a:ext>
            </a:extLst>
          </p:cNvPr>
          <p:cNvGraphicFramePr>
            <a:graphicFrameLocks noGrp="1"/>
          </p:cNvGraphicFramePr>
          <p:nvPr>
            <p:extLst>
              <p:ext uri="{D42A27DB-BD31-4B8C-83A1-F6EECF244321}">
                <p14:modId xmlns:p14="http://schemas.microsoft.com/office/powerpoint/2010/main" val="1570879334"/>
              </p:ext>
            </p:extLst>
          </p:nvPr>
        </p:nvGraphicFramePr>
        <p:xfrm>
          <a:off x="311700" y="1462758"/>
          <a:ext cx="4973532" cy="1986280"/>
        </p:xfrm>
        <a:graphic>
          <a:graphicData uri="http://schemas.openxmlformats.org/drawingml/2006/table">
            <a:tbl>
              <a:tblPr firstRow="1" bandRow="1">
                <a:tableStyleId>{BFA11F67-8BD6-47EC-9F71-6CD8F6C066F8}</a:tableStyleId>
              </a:tblPr>
              <a:tblGrid>
                <a:gridCol w="2486766">
                  <a:extLst>
                    <a:ext uri="{9D8B030D-6E8A-4147-A177-3AD203B41FA5}">
                      <a16:colId xmlns:a16="http://schemas.microsoft.com/office/drawing/2014/main" val="3989279615"/>
                    </a:ext>
                  </a:extLst>
                </a:gridCol>
                <a:gridCol w="2486766">
                  <a:extLst>
                    <a:ext uri="{9D8B030D-6E8A-4147-A177-3AD203B41FA5}">
                      <a16:colId xmlns:a16="http://schemas.microsoft.com/office/drawing/2014/main" val="4010461188"/>
                    </a:ext>
                  </a:extLst>
                </a:gridCol>
              </a:tblGrid>
              <a:tr h="370840">
                <a:tc>
                  <a:txBody>
                    <a:bodyPr/>
                    <a:lstStyle/>
                    <a:p>
                      <a:r>
                        <a:rPr lang="en-US" dirty="0"/>
                        <a:t>Race</a:t>
                      </a:r>
                    </a:p>
                  </a:txBody>
                  <a:tcPr/>
                </a:tc>
                <a:tc>
                  <a:txBody>
                    <a:bodyPr/>
                    <a:lstStyle/>
                    <a:p>
                      <a:r>
                        <a:rPr lang="en-US" dirty="0"/>
                        <a:t>Average # of Secondary Factors Listed</a:t>
                      </a:r>
                    </a:p>
                  </a:txBody>
                  <a:tcPr/>
                </a:tc>
                <a:extLst>
                  <a:ext uri="{0D108BD9-81ED-4DB2-BD59-A6C34878D82A}">
                    <a16:rowId xmlns:a16="http://schemas.microsoft.com/office/drawing/2014/main" val="3441494424"/>
                  </a:ext>
                </a:extLst>
              </a:tr>
              <a:tr h="370840">
                <a:tc>
                  <a:txBody>
                    <a:bodyPr/>
                    <a:lstStyle/>
                    <a:p>
                      <a:r>
                        <a:rPr lang="en-US" dirty="0"/>
                        <a:t>White</a:t>
                      </a:r>
                    </a:p>
                  </a:txBody>
                  <a:tcPr>
                    <a:solidFill>
                      <a:schemeClr val="bg2"/>
                    </a:solidFill>
                  </a:tcPr>
                </a:tc>
                <a:tc>
                  <a:txBody>
                    <a:bodyPr/>
                    <a:lstStyle/>
                    <a:p>
                      <a:r>
                        <a:rPr lang="en-US" dirty="0"/>
                        <a:t>1.99</a:t>
                      </a:r>
                    </a:p>
                  </a:txBody>
                  <a:tcPr>
                    <a:solidFill>
                      <a:schemeClr val="bg2"/>
                    </a:solidFill>
                  </a:tcPr>
                </a:tc>
                <a:extLst>
                  <a:ext uri="{0D108BD9-81ED-4DB2-BD59-A6C34878D82A}">
                    <a16:rowId xmlns:a16="http://schemas.microsoft.com/office/drawing/2014/main" val="1978091271"/>
                  </a:ext>
                </a:extLst>
              </a:tr>
              <a:tr h="370840">
                <a:tc>
                  <a:txBody>
                    <a:bodyPr/>
                    <a:lstStyle/>
                    <a:p>
                      <a:r>
                        <a:rPr lang="en-US" dirty="0"/>
                        <a:t>Black</a:t>
                      </a:r>
                    </a:p>
                  </a:txBody>
                  <a:tcPr>
                    <a:solidFill>
                      <a:schemeClr val="bg2"/>
                    </a:solidFill>
                  </a:tcPr>
                </a:tc>
                <a:tc>
                  <a:txBody>
                    <a:bodyPr/>
                    <a:lstStyle/>
                    <a:p>
                      <a:r>
                        <a:rPr lang="en-US" dirty="0"/>
                        <a:t>1.95</a:t>
                      </a:r>
                    </a:p>
                  </a:txBody>
                  <a:tcPr>
                    <a:solidFill>
                      <a:schemeClr val="bg2"/>
                    </a:solidFill>
                  </a:tcPr>
                </a:tc>
                <a:extLst>
                  <a:ext uri="{0D108BD9-81ED-4DB2-BD59-A6C34878D82A}">
                    <a16:rowId xmlns:a16="http://schemas.microsoft.com/office/drawing/2014/main" val="446706471"/>
                  </a:ext>
                </a:extLst>
              </a:tr>
              <a:tr h="370840">
                <a:tc>
                  <a:txBody>
                    <a:bodyPr/>
                    <a:lstStyle/>
                    <a:p>
                      <a:r>
                        <a:rPr lang="en-US" dirty="0"/>
                        <a:t>Indigenous</a:t>
                      </a:r>
                    </a:p>
                  </a:txBody>
                  <a:tcPr>
                    <a:solidFill>
                      <a:schemeClr val="bg2"/>
                    </a:solidFill>
                  </a:tcPr>
                </a:tc>
                <a:tc>
                  <a:txBody>
                    <a:bodyPr/>
                    <a:lstStyle/>
                    <a:p>
                      <a:r>
                        <a:rPr lang="en-US" dirty="0"/>
                        <a:t>2.33</a:t>
                      </a:r>
                    </a:p>
                  </a:txBody>
                  <a:tcPr>
                    <a:solidFill>
                      <a:schemeClr val="bg2"/>
                    </a:solidFill>
                  </a:tcPr>
                </a:tc>
                <a:extLst>
                  <a:ext uri="{0D108BD9-81ED-4DB2-BD59-A6C34878D82A}">
                    <a16:rowId xmlns:a16="http://schemas.microsoft.com/office/drawing/2014/main" val="3537160196"/>
                  </a:ext>
                </a:extLst>
              </a:tr>
              <a:tr h="370840">
                <a:tc>
                  <a:txBody>
                    <a:bodyPr/>
                    <a:lstStyle/>
                    <a:p>
                      <a:r>
                        <a:rPr lang="en-US" dirty="0"/>
                        <a:t>Asian or Pacific Islander </a:t>
                      </a:r>
                    </a:p>
                  </a:txBody>
                  <a:tcPr>
                    <a:solidFill>
                      <a:schemeClr val="bg2"/>
                    </a:solidFill>
                  </a:tcPr>
                </a:tc>
                <a:tc>
                  <a:txBody>
                    <a:bodyPr/>
                    <a:lstStyle/>
                    <a:p>
                      <a:r>
                        <a:rPr lang="en-US" dirty="0"/>
                        <a:t>1.97</a:t>
                      </a:r>
                    </a:p>
                  </a:txBody>
                  <a:tcPr>
                    <a:solidFill>
                      <a:schemeClr val="bg2"/>
                    </a:solidFill>
                  </a:tcPr>
                </a:tc>
                <a:extLst>
                  <a:ext uri="{0D108BD9-81ED-4DB2-BD59-A6C34878D82A}">
                    <a16:rowId xmlns:a16="http://schemas.microsoft.com/office/drawing/2014/main" val="2050751449"/>
                  </a:ext>
                </a:extLst>
              </a:tr>
            </a:tbl>
          </a:graphicData>
        </a:graphic>
      </p:graphicFrame>
      <p:graphicFrame>
        <p:nvGraphicFramePr>
          <p:cNvPr id="4" name="Table 3">
            <a:extLst>
              <a:ext uri="{FF2B5EF4-FFF2-40B4-BE49-F238E27FC236}">
                <a16:creationId xmlns:a16="http://schemas.microsoft.com/office/drawing/2014/main" id="{CCA4EF6D-1698-C79B-B0C0-E5552344904C}"/>
              </a:ext>
            </a:extLst>
          </p:cNvPr>
          <p:cNvGraphicFramePr>
            <a:graphicFrameLocks noGrp="1"/>
          </p:cNvGraphicFramePr>
          <p:nvPr>
            <p:extLst>
              <p:ext uri="{D42A27DB-BD31-4B8C-83A1-F6EECF244321}">
                <p14:modId xmlns:p14="http://schemas.microsoft.com/office/powerpoint/2010/main" val="293045831"/>
              </p:ext>
            </p:extLst>
          </p:nvPr>
        </p:nvGraphicFramePr>
        <p:xfrm>
          <a:off x="5742432" y="1450749"/>
          <a:ext cx="2962656" cy="1649883"/>
        </p:xfrm>
        <a:graphic>
          <a:graphicData uri="http://schemas.openxmlformats.org/drawingml/2006/table">
            <a:tbl>
              <a:tblPr firstRow="1" bandRow="1">
                <a:tableStyleId>{BFA11F67-8BD6-47EC-9F71-6CD8F6C066F8}</a:tableStyleId>
              </a:tblPr>
              <a:tblGrid>
                <a:gridCol w="1078992">
                  <a:extLst>
                    <a:ext uri="{9D8B030D-6E8A-4147-A177-3AD203B41FA5}">
                      <a16:colId xmlns:a16="http://schemas.microsoft.com/office/drawing/2014/main" val="1142209065"/>
                    </a:ext>
                  </a:extLst>
                </a:gridCol>
                <a:gridCol w="1883664">
                  <a:extLst>
                    <a:ext uri="{9D8B030D-6E8A-4147-A177-3AD203B41FA5}">
                      <a16:colId xmlns:a16="http://schemas.microsoft.com/office/drawing/2014/main" val="2977386956"/>
                    </a:ext>
                  </a:extLst>
                </a:gridCol>
              </a:tblGrid>
              <a:tr h="710367">
                <a:tc>
                  <a:txBody>
                    <a:bodyPr/>
                    <a:lstStyle/>
                    <a:p>
                      <a:r>
                        <a:rPr lang="en-US" dirty="0"/>
                        <a:t>Sex</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Average # of Secondary Factors Listed</a:t>
                      </a:r>
                    </a:p>
                  </a:txBody>
                  <a:tcPr/>
                </a:tc>
                <a:extLst>
                  <a:ext uri="{0D108BD9-81ED-4DB2-BD59-A6C34878D82A}">
                    <a16:rowId xmlns:a16="http://schemas.microsoft.com/office/drawing/2014/main" val="1392087711"/>
                  </a:ext>
                </a:extLst>
              </a:tr>
              <a:tr h="469758">
                <a:tc>
                  <a:txBody>
                    <a:bodyPr/>
                    <a:lstStyle/>
                    <a:p>
                      <a:r>
                        <a:rPr lang="en-US" dirty="0"/>
                        <a:t>Female</a:t>
                      </a:r>
                    </a:p>
                  </a:txBody>
                  <a:tcPr/>
                </a:tc>
                <a:tc>
                  <a:txBody>
                    <a:bodyPr/>
                    <a:lstStyle/>
                    <a:p>
                      <a:r>
                        <a:rPr lang="en-US" dirty="0"/>
                        <a:t>1.92</a:t>
                      </a:r>
                    </a:p>
                  </a:txBody>
                  <a:tcPr/>
                </a:tc>
                <a:extLst>
                  <a:ext uri="{0D108BD9-81ED-4DB2-BD59-A6C34878D82A}">
                    <a16:rowId xmlns:a16="http://schemas.microsoft.com/office/drawing/2014/main" val="30744591"/>
                  </a:ext>
                </a:extLst>
              </a:tr>
              <a:tr h="469758">
                <a:tc>
                  <a:txBody>
                    <a:bodyPr/>
                    <a:lstStyle/>
                    <a:p>
                      <a:r>
                        <a:rPr lang="en-US" dirty="0"/>
                        <a:t>Male</a:t>
                      </a:r>
                    </a:p>
                  </a:txBody>
                  <a:tcPr/>
                </a:tc>
                <a:tc>
                  <a:txBody>
                    <a:bodyPr/>
                    <a:lstStyle/>
                    <a:p>
                      <a:r>
                        <a:rPr lang="en-US" dirty="0"/>
                        <a:t>2.06</a:t>
                      </a:r>
                    </a:p>
                  </a:txBody>
                  <a:tcPr/>
                </a:tc>
                <a:extLst>
                  <a:ext uri="{0D108BD9-81ED-4DB2-BD59-A6C34878D82A}">
                    <a16:rowId xmlns:a16="http://schemas.microsoft.com/office/drawing/2014/main" val="3998251909"/>
                  </a:ext>
                </a:extLst>
              </a:tr>
            </a:tbl>
          </a:graphicData>
        </a:graphic>
      </p:graphicFrame>
    </p:spTree>
    <p:extLst>
      <p:ext uri="{BB962C8B-B14F-4D97-AF65-F5344CB8AC3E}">
        <p14:creationId xmlns:p14="http://schemas.microsoft.com/office/powerpoint/2010/main" val="32360141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DDB34692-B5D9-9F9B-0F79-5E11C42770F7}"/>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3FB4F26-7B61-1D73-7F97-F829B6AADE9F}"/>
              </a:ext>
            </a:extLst>
          </p:cNvPr>
          <p:cNvSpPr txBox="1"/>
          <p:nvPr/>
        </p:nvSpPr>
        <p:spPr>
          <a:xfrm>
            <a:off x="250253" y="144581"/>
            <a:ext cx="8643494" cy="338554"/>
          </a:xfrm>
          <a:prstGeom prst="rect">
            <a:avLst/>
          </a:prstGeom>
          <a:noFill/>
        </p:spPr>
        <p:txBody>
          <a:bodyPr wrap="square" rtlCol="0">
            <a:spAutoFit/>
          </a:bodyPr>
          <a:lstStyle/>
          <a:p>
            <a:r>
              <a:rPr lang="en-US" sz="1600" dirty="0"/>
              <a:t>Average Number of Secondary Factors by Cause of Death</a:t>
            </a:r>
          </a:p>
        </p:txBody>
      </p:sp>
      <p:graphicFrame>
        <p:nvGraphicFramePr>
          <p:cNvPr id="2" name="Table 1">
            <a:extLst>
              <a:ext uri="{FF2B5EF4-FFF2-40B4-BE49-F238E27FC236}">
                <a16:creationId xmlns:a16="http://schemas.microsoft.com/office/drawing/2014/main" id="{4C81C55C-77B6-34CD-9DB5-7E21EB41D325}"/>
              </a:ext>
            </a:extLst>
          </p:cNvPr>
          <p:cNvGraphicFramePr>
            <a:graphicFrameLocks noGrp="1"/>
          </p:cNvGraphicFramePr>
          <p:nvPr>
            <p:extLst>
              <p:ext uri="{D42A27DB-BD31-4B8C-83A1-F6EECF244321}">
                <p14:modId xmlns:p14="http://schemas.microsoft.com/office/powerpoint/2010/main" val="2470547530"/>
              </p:ext>
            </p:extLst>
          </p:nvPr>
        </p:nvGraphicFramePr>
        <p:xfrm>
          <a:off x="319089" y="717804"/>
          <a:ext cx="4414752" cy="4124776"/>
        </p:xfrm>
        <a:graphic>
          <a:graphicData uri="http://schemas.openxmlformats.org/drawingml/2006/table">
            <a:tbl>
              <a:tblPr firstRow="1" bandRow="1">
                <a:tableStyleId>{BFA11F67-8BD6-47EC-9F71-6CD8F6C066F8}</a:tableStyleId>
              </a:tblPr>
              <a:tblGrid>
                <a:gridCol w="2650688">
                  <a:extLst>
                    <a:ext uri="{9D8B030D-6E8A-4147-A177-3AD203B41FA5}">
                      <a16:colId xmlns:a16="http://schemas.microsoft.com/office/drawing/2014/main" val="2365492209"/>
                    </a:ext>
                  </a:extLst>
                </a:gridCol>
                <a:gridCol w="1764064">
                  <a:extLst>
                    <a:ext uri="{9D8B030D-6E8A-4147-A177-3AD203B41FA5}">
                      <a16:colId xmlns:a16="http://schemas.microsoft.com/office/drawing/2014/main" val="3920690375"/>
                    </a:ext>
                  </a:extLst>
                </a:gridCol>
              </a:tblGrid>
              <a:tr h="344147">
                <a:tc>
                  <a:txBody>
                    <a:bodyPr/>
                    <a:lstStyle/>
                    <a:p>
                      <a:r>
                        <a:rPr lang="en-US" sz="1200" dirty="0"/>
                        <a:t>Top 10 Causes of Death in order (of 39 codes)</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200" dirty="0"/>
                        <a:t>Average # of Secondary Factors</a:t>
                      </a:r>
                    </a:p>
                  </a:txBody>
                  <a:tcPr/>
                </a:tc>
                <a:extLst>
                  <a:ext uri="{0D108BD9-81ED-4DB2-BD59-A6C34878D82A}">
                    <a16:rowId xmlns:a16="http://schemas.microsoft.com/office/drawing/2014/main" val="1535419698"/>
                  </a:ext>
                </a:extLst>
              </a:tr>
              <a:tr h="344147">
                <a:tc>
                  <a:txBody>
                    <a:bodyPr/>
                    <a:lstStyle/>
                    <a:p>
                      <a:r>
                        <a:rPr lang="en-CA" sz="1200" b="0" i="0" u="none" strike="noStrike" kern="1200" dirty="0">
                          <a:solidFill>
                            <a:srgbClr val="000000"/>
                          </a:solidFill>
                          <a:effectLst/>
                          <a:latin typeface="Arial"/>
                          <a:ea typeface="Arial"/>
                          <a:cs typeface="Arial"/>
                        </a:rPr>
                        <a:t>Assault (homicide)</a:t>
                      </a:r>
                      <a:endParaRPr lang="en-US" sz="1200" dirty="0"/>
                    </a:p>
                  </a:txBody>
                  <a:tcPr>
                    <a:solidFill>
                      <a:schemeClr val="bg2"/>
                    </a:solidFill>
                  </a:tcPr>
                </a:tc>
                <a:tc>
                  <a:txBody>
                    <a:bodyPr/>
                    <a:lstStyle/>
                    <a:p>
                      <a:r>
                        <a:rPr lang="en-US" sz="1200" dirty="0"/>
                        <a:t>2.3</a:t>
                      </a:r>
                    </a:p>
                  </a:txBody>
                  <a:tcPr>
                    <a:solidFill>
                      <a:schemeClr val="bg2"/>
                    </a:solidFill>
                  </a:tcPr>
                </a:tc>
                <a:extLst>
                  <a:ext uri="{0D108BD9-81ED-4DB2-BD59-A6C34878D82A}">
                    <a16:rowId xmlns:a16="http://schemas.microsoft.com/office/drawing/2014/main" val="1724677763"/>
                  </a:ext>
                </a:extLst>
              </a:tr>
              <a:tr h="344147">
                <a:tc>
                  <a:txBody>
                    <a:bodyPr/>
                    <a:lstStyle/>
                    <a:p>
                      <a:r>
                        <a:rPr lang="en-US" sz="1200" dirty="0"/>
                        <a:t>Cerebrovascular diseases</a:t>
                      </a:r>
                    </a:p>
                  </a:txBody>
                  <a:tcPr>
                    <a:solidFill>
                      <a:schemeClr val="bg2"/>
                    </a:solidFill>
                  </a:tcPr>
                </a:tc>
                <a:tc>
                  <a:txBody>
                    <a:bodyPr/>
                    <a:lstStyle/>
                    <a:p>
                      <a:r>
                        <a:rPr lang="en-US" sz="1200" dirty="0"/>
                        <a:t>2.2</a:t>
                      </a:r>
                    </a:p>
                  </a:txBody>
                  <a:tcPr>
                    <a:solidFill>
                      <a:schemeClr val="bg2"/>
                    </a:solidFill>
                  </a:tcPr>
                </a:tc>
                <a:extLst>
                  <a:ext uri="{0D108BD9-81ED-4DB2-BD59-A6C34878D82A}">
                    <a16:rowId xmlns:a16="http://schemas.microsoft.com/office/drawing/2014/main" val="1281924514"/>
                  </a:ext>
                </a:extLst>
              </a:tr>
              <a:tr h="344147">
                <a:tc>
                  <a:txBody>
                    <a:bodyPr/>
                    <a:lstStyle/>
                    <a:p>
                      <a:r>
                        <a:rPr lang="en-US" sz="1200" dirty="0"/>
                        <a:t>Atherosclerosis</a:t>
                      </a:r>
                    </a:p>
                  </a:txBody>
                  <a:tcPr>
                    <a:solidFill>
                      <a:schemeClr val="bg2"/>
                    </a:solidFill>
                  </a:tcPr>
                </a:tc>
                <a:tc>
                  <a:txBody>
                    <a:bodyPr/>
                    <a:lstStyle/>
                    <a:p>
                      <a:r>
                        <a:rPr lang="en-US" sz="1200" dirty="0"/>
                        <a:t>1.8</a:t>
                      </a:r>
                    </a:p>
                  </a:txBody>
                  <a:tcPr>
                    <a:solidFill>
                      <a:schemeClr val="bg2"/>
                    </a:solidFill>
                  </a:tcPr>
                </a:tc>
                <a:extLst>
                  <a:ext uri="{0D108BD9-81ED-4DB2-BD59-A6C34878D82A}">
                    <a16:rowId xmlns:a16="http://schemas.microsoft.com/office/drawing/2014/main" val="3308630520"/>
                  </a:ext>
                </a:extLst>
              </a:tr>
              <a:tr h="344147">
                <a:tc>
                  <a:txBody>
                    <a:bodyPr/>
                    <a:lstStyle/>
                    <a:p>
                      <a:r>
                        <a:rPr lang="en-US" sz="1200" dirty="0"/>
                        <a:t>Diabetes mellitus</a:t>
                      </a:r>
                    </a:p>
                  </a:txBody>
                  <a:tcPr>
                    <a:solidFill>
                      <a:schemeClr val="bg2"/>
                    </a:solidFill>
                  </a:tcPr>
                </a:tc>
                <a:tc>
                  <a:txBody>
                    <a:bodyPr/>
                    <a:lstStyle/>
                    <a:p>
                      <a:r>
                        <a:rPr lang="en-US" sz="1200" dirty="0"/>
                        <a:t>1.5</a:t>
                      </a:r>
                    </a:p>
                  </a:txBody>
                  <a:tcPr>
                    <a:solidFill>
                      <a:schemeClr val="bg2"/>
                    </a:solidFill>
                  </a:tcPr>
                </a:tc>
                <a:extLst>
                  <a:ext uri="{0D108BD9-81ED-4DB2-BD59-A6C34878D82A}">
                    <a16:rowId xmlns:a16="http://schemas.microsoft.com/office/drawing/2014/main" val="251128190"/>
                  </a:ext>
                </a:extLst>
              </a:tr>
              <a:tr h="344147">
                <a:tc>
                  <a:txBody>
                    <a:bodyPr/>
                    <a:lstStyle/>
                    <a:p>
                      <a:r>
                        <a:rPr lang="en-CA" sz="1200" b="0" i="0" u="none" strike="noStrike" kern="1200" dirty="0">
                          <a:solidFill>
                            <a:srgbClr val="000000"/>
                          </a:solidFill>
                          <a:effectLst/>
                          <a:latin typeface="Arial"/>
                          <a:ea typeface="Arial"/>
                          <a:cs typeface="Arial"/>
                        </a:rPr>
                        <a:t>Nephritis, nephrotic syndrome, and nephrosis</a:t>
                      </a:r>
                      <a:endParaRPr lang="en-US" sz="1200" dirty="0"/>
                    </a:p>
                  </a:txBody>
                  <a:tcPr>
                    <a:solidFill>
                      <a:schemeClr val="bg2"/>
                    </a:solidFill>
                  </a:tcPr>
                </a:tc>
                <a:tc>
                  <a:txBody>
                    <a:bodyPr/>
                    <a:lstStyle/>
                    <a:p>
                      <a:r>
                        <a:rPr lang="en-US" sz="1200" dirty="0"/>
                        <a:t>2.4</a:t>
                      </a:r>
                    </a:p>
                  </a:txBody>
                  <a:tcPr>
                    <a:solidFill>
                      <a:schemeClr val="bg2"/>
                    </a:solidFill>
                  </a:tcPr>
                </a:tc>
                <a:extLst>
                  <a:ext uri="{0D108BD9-81ED-4DB2-BD59-A6C34878D82A}">
                    <a16:rowId xmlns:a16="http://schemas.microsoft.com/office/drawing/2014/main" val="1553063001"/>
                  </a:ext>
                </a:extLst>
              </a:tr>
              <a:tr h="344147">
                <a:tc>
                  <a:txBody>
                    <a:bodyPr/>
                    <a:lstStyle/>
                    <a:p>
                      <a:r>
                        <a:rPr lang="en-CA" sz="1200" b="0" i="0" u="none" strike="noStrike" kern="1200" dirty="0">
                          <a:solidFill>
                            <a:srgbClr val="000000"/>
                          </a:solidFill>
                          <a:effectLst/>
                          <a:latin typeface="Arial"/>
                          <a:ea typeface="Arial"/>
                          <a:cs typeface="Arial"/>
                        </a:rPr>
                        <a:t>Malignant neoplasm of breast</a:t>
                      </a:r>
                      <a:endParaRPr lang="en-US" sz="1200" dirty="0"/>
                    </a:p>
                  </a:txBody>
                  <a:tcPr>
                    <a:solidFill>
                      <a:schemeClr val="bg2"/>
                    </a:solidFill>
                  </a:tcPr>
                </a:tc>
                <a:tc>
                  <a:txBody>
                    <a:bodyPr/>
                    <a:lstStyle/>
                    <a:p>
                      <a:r>
                        <a:rPr lang="en-US" sz="1200" dirty="0"/>
                        <a:t>1.7</a:t>
                      </a:r>
                    </a:p>
                  </a:txBody>
                  <a:tcPr>
                    <a:solidFill>
                      <a:schemeClr val="bg2"/>
                    </a:solidFill>
                  </a:tcPr>
                </a:tc>
                <a:extLst>
                  <a:ext uri="{0D108BD9-81ED-4DB2-BD59-A6C34878D82A}">
                    <a16:rowId xmlns:a16="http://schemas.microsoft.com/office/drawing/2014/main" val="449575273"/>
                  </a:ext>
                </a:extLst>
              </a:tr>
              <a:tr h="344147">
                <a:tc>
                  <a:txBody>
                    <a:bodyPr/>
                    <a:lstStyle/>
                    <a:p>
                      <a:r>
                        <a:rPr lang="en-CA" sz="1200" b="0" i="0" u="none" strike="noStrike" kern="1200" dirty="0">
                          <a:solidFill>
                            <a:srgbClr val="000000"/>
                          </a:solidFill>
                          <a:effectLst/>
                          <a:latin typeface="Arial"/>
                          <a:ea typeface="Arial"/>
                          <a:cs typeface="Arial"/>
                        </a:rPr>
                        <a:t>Influenza and pneumonia</a:t>
                      </a:r>
                      <a:endParaRPr lang="en-US" sz="1200" dirty="0"/>
                    </a:p>
                  </a:txBody>
                  <a:tcPr>
                    <a:solidFill>
                      <a:schemeClr val="bg2"/>
                    </a:solidFill>
                  </a:tcPr>
                </a:tc>
                <a:tc>
                  <a:txBody>
                    <a:bodyPr/>
                    <a:lstStyle/>
                    <a:p>
                      <a:r>
                        <a:rPr lang="en-US" sz="1200" dirty="0"/>
                        <a:t>1.8</a:t>
                      </a:r>
                    </a:p>
                  </a:txBody>
                  <a:tcPr>
                    <a:solidFill>
                      <a:schemeClr val="bg2"/>
                    </a:solidFill>
                  </a:tcPr>
                </a:tc>
                <a:extLst>
                  <a:ext uri="{0D108BD9-81ED-4DB2-BD59-A6C34878D82A}">
                    <a16:rowId xmlns:a16="http://schemas.microsoft.com/office/drawing/2014/main" val="256817086"/>
                  </a:ext>
                </a:extLst>
              </a:tr>
              <a:tr h="344147">
                <a:tc>
                  <a:txBody>
                    <a:bodyPr/>
                    <a:lstStyle/>
                    <a:p>
                      <a:r>
                        <a:rPr lang="en-US" sz="1200" dirty="0"/>
                        <a:t>Certain conditions originating in the perinatal period</a:t>
                      </a:r>
                    </a:p>
                  </a:txBody>
                  <a:tcPr>
                    <a:solidFill>
                      <a:schemeClr val="bg2"/>
                    </a:solidFill>
                  </a:tcPr>
                </a:tc>
                <a:tc>
                  <a:txBody>
                    <a:bodyPr/>
                    <a:lstStyle/>
                    <a:p>
                      <a:r>
                        <a:rPr lang="en-US" sz="1200" dirty="0"/>
                        <a:t>3.2</a:t>
                      </a:r>
                    </a:p>
                  </a:txBody>
                  <a:tcPr>
                    <a:solidFill>
                      <a:schemeClr val="bg2"/>
                    </a:solidFill>
                  </a:tcPr>
                </a:tc>
                <a:extLst>
                  <a:ext uri="{0D108BD9-81ED-4DB2-BD59-A6C34878D82A}">
                    <a16:rowId xmlns:a16="http://schemas.microsoft.com/office/drawing/2014/main" val="760517413"/>
                  </a:ext>
                </a:extLst>
              </a:tr>
              <a:tr h="344147">
                <a:tc>
                  <a:txBody>
                    <a:bodyPr/>
                    <a:lstStyle/>
                    <a:p>
                      <a:r>
                        <a:rPr lang="en-CA" sz="1200" b="0" i="0" u="none" strike="noStrike" kern="1200" dirty="0">
                          <a:solidFill>
                            <a:srgbClr val="000000"/>
                          </a:solidFill>
                          <a:effectLst/>
                          <a:latin typeface="Arial"/>
                          <a:ea typeface="Arial"/>
                          <a:cs typeface="Arial"/>
                        </a:rPr>
                        <a:t>Major cardiovascular diseases</a:t>
                      </a:r>
                      <a:endParaRPr lang="en-US" sz="1200" dirty="0"/>
                    </a:p>
                  </a:txBody>
                  <a:tcPr>
                    <a:solidFill>
                      <a:schemeClr val="bg2"/>
                    </a:solidFill>
                  </a:tcPr>
                </a:tc>
                <a:tc>
                  <a:txBody>
                    <a:bodyPr/>
                    <a:lstStyle/>
                    <a:p>
                      <a:r>
                        <a:rPr lang="en-US" sz="1200" dirty="0"/>
                        <a:t>1.4</a:t>
                      </a:r>
                    </a:p>
                  </a:txBody>
                  <a:tcPr>
                    <a:solidFill>
                      <a:schemeClr val="bg2"/>
                    </a:solidFill>
                  </a:tcPr>
                </a:tc>
                <a:extLst>
                  <a:ext uri="{0D108BD9-81ED-4DB2-BD59-A6C34878D82A}">
                    <a16:rowId xmlns:a16="http://schemas.microsoft.com/office/drawing/2014/main" val="1175876226"/>
                  </a:ext>
                </a:extLst>
              </a:tr>
              <a:tr h="344147">
                <a:tc>
                  <a:txBody>
                    <a:bodyPr/>
                    <a:lstStyle/>
                    <a:p>
                      <a:r>
                        <a:rPr lang="en-CA" sz="1200" b="0" i="0" u="none" strike="noStrike" kern="1200" dirty="0">
                          <a:solidFill>
                            <a:srgbClr val="000000"/>
                          </a:solidFill>
                          <a:effectLst/>
                          <a:latin typeface="Arial"/>
                          <a:ea typeface="Arial"/>
                          <a:cs typeface="Arial"/>
                        </a:rPr>
                        <a:t>Alzheimer’s disease</a:t>
                      </a:r>
                      <a:endParaRPr lang="en-US" sz="1200" dirty="0"/>
                    </a:p>
                  </a:txBody>
                  <a:tcPr>
                    <a:solidFill>
                      <a:schemeClr val="bg2"/>
                    </a:solidFill>
                  </a:tcPr>
                </a:tc>
                <a:tc>
                  <a:txBody>
                    <a:bodyPr/>
                    <a:lstStyle/>
                    <a:p>
                      <a:r>
                        <a:rPr lang="en-US" sz="1200" dirty="0"/>
                        <a:t>2.8</a:t>
                      </a:r>
                    </a:p>
                  </a:txBody>
                  <a:tcPr>
                    <a:solidFill>
                      <a:schemeClr val="bg2"/>
                    </a:solidFill>
                  </a:tcPr>
                </a:tc>
                <a:extLst>
                  <a:ext uri="{0D108BD9-81ED-4DB2-BD59-A6C34878D82A}">
                    <a16:rowId xmlns:a16="http://schemas.microsoft.com/office/drawing/2014/main" val="4294917516"/>
                  </a:ext>
                </a:extLst>
              </a:tr>
            </a:tbl>
          </a:graphicData>
        </a:graphic>
      </p:graphicFrame>
      <p:graphicFrame>
        <p:nvGraphicFramePr>
          <p:cNvPr id="3" name="Table 2">
            <a:extLst>
              <a:ext uri="{FF2B5EF4-FFF2-40B4-BE49-F238E27FC236}">
                <a16:creationId xmlns:a16="http://schemas.microsoft.com/office/drawing/2014/main" id="{D0AB53D0-375D-80B9-3B7C-2363DF5A4F6E}"/>
              </a:ext>
            </a:extLst>
          </p:cNvPr>
          <p:cNvGraphicFramePr>
            <a:graphicFrameLocks noGrp="1"/>
          </p:cNvGraphicFramePr>
          <p:nvPr>
            <p:extLst>
              <p:ext uri="{D42A27DB-BD31-4B8C-83A1-F6EECF244321}">
                <p14:modId xmlns:p14="http://schemas.microsoft.com/office/powerpoint/2010/main" val="1897038400"/>
              </p:ext>
            </p:extLst>
          </p:nvPr>
        </p:nvGraphicFramePr>
        <p:xfrm>
          <a:off x="4854087" y="717804"/>
          <a:ext cx="4192808" cy="2361285"/>
        </p:xfrm>
        <a:graphic>
          <a:graphicData uri="http://schemas.openxmlformats.org/drawingml/2006/table">
            <a:tbl>
              <a:tblPr firstRow="1" bandRow="1">
                <a:tableStyleId>{BFA11F67-8BD6-47EC-9F71-6CD8F6C066F8}</a:tableStyleId>
              </a:tblPr>
              <a:tblGrid>
                <a:gridCol w="2096404">
                  <a:extLst>
                    <a:ext uri="{9D8B030D-6E8A-4147-A177-3AD203B41FA5}">
                      <a16:colId xmlns:a16="http://schemas.microsoft.com/office/drawing/2014/main" val="3989279615"/>
                    </a:ext>
                  </a:extLst>
                </a:gridCol>
                <a:gridCol w="2096404">
                  <a:extLst>
                    <a:ext uri="{9D8B030D-6E8A-4147-A177-3AD203B41FA5}">
                      <a16:colId xmlns:a16="http://schemas.microsoft.com/office/drawing/2014/main" val="4010461188"/>
                    </a:ext>
                  </a:extLst>
                </a:gridCol>
              </a:tblGrid>
              <a:tr h="499916">
                <a:tc>
                  <a:txBody>
                    <a:bodyPr/>
                    <a:lstStyle/>
                    <a:p>
                      <a:r>
                        <a:rPr lang="en-US" dirty="0"/>
                        <a:t>Marital Status</a:t>
                      </a:r>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a:t>Average # of Secondary Factors</a:t>
                      </a:r>
                    </a:p>
                  </a:txBody>
                  <a:tcPr>
                    <a:noFill/>
                  </a:tcPr>
                </a:tc>
                <a:extLst>
                  <a:ext uri="{0D108BD9-81ED-4DB2-BD59-A6C34878D82A}">
                    <a16:rowId xmlns:a16="http://schemas.microsoft.com/office/drawing/2014/main" val="3441494424"/>
                  </a:ext>
                </a:extLst>
              </a:tr>
              <a:tr h="368625">
                <a:tc>
                  <a:txBody>
                    <a:bodyPr/>
                    <a:lstStyle/>
                    <a:p>
                      <a:r>
                        <a:rPr lang="en-US" dirty="0"/>
                        <a:t>Single</a:t>
                      </a:r>
                    </a:p>
                  </a:txBody>
                  <a:tcPr>
                    <a:noFill/>
                  </a:tcPr>
                </a:tc>
                <a:tc>
                  <a:txBody>
                    <a:bodyPr/>
                    <a:lstStyle/>
                    <a:p>
                      <a:r>
                        <a:rPr lang="en-US" dirty="0"/>
                        <a:t>2.0</a:t>
                      </a:r>
                    </a:p>
                  </a:txBody>
                  <a:tcPr>
                    <a:noFill/>
                  </a:tcPr>
                </a:tc>
                <a:extLst>
                  <a:ext uri="{0D108BD9-81ED-4DB2-BD59-A6C34878D82A}">
                    <a16:rowId xmlns:a16="http://schemas.microsoft.com/office/drawing/2014/main" val="1978091271"/>
                  </a:ext>
                </a:extLst>
              </a:tr>
              <a:tr h="368625">
                <a:tc>
                  <a:txBody>
                    <a:bodyPr/>
                    <a:lstStyle/>
                    <a:p>
                      <a:r>
                        <a:rPr lang="en-US" dirty="0"/>
                        <a:t>Unknown</a:t>
                      </a:r>
                    </a:p>
                  </a:txBody>
                  <a:tcPr>
                    <a:noFill/>
                  </a:tcPr>
                </a:tc>
                <a:tc>
                  <a:txBody>
                    <a:bodyPr/>
                    <a:lstStyle/>
                    <a:p>
                      <a:r>
                        <a:rPr lang="en-US" dirty="0"/>
                        <a:t>2.1</a:t>
                      </a:r>
                    </a:p>
                  </a:txBody>
                  <a:tcPr>
                    <a:noFill/>
                  </a:tcPr>
                </a:tc>
                <a:extLst>
                  <a:ext uri="{0D108BD9-81ED-4DB2-BD59-A6C34878D82A}">
                    <a16:rowId xmlns:a16="http://schemas.microsoft.com/office/drawing/2014/main" val="446706471"/>
                  </a:ext>
                </a:extLst>
              </a:tr>
              <a:tr h="368625">
                <a:tc>
                  <a:txBody>
                    <a:bodyPr/>
                    <a:lstStyle/>
                    <a:p>
                      <a:r>
                        <a:rPr lang="en-US" dirty="0"/>
                        <a:t>Divorced</a:t>
                      </a:r>
                    </a:p>
                  </a:txBody>
                  <a:tcPr>
                    <a:noFill/>
                  </a:tcPr>
                </a:tc>
                <a:tc>
                  <a:txBody>
                    <a:bodyPr/>
                    <a:lstStyle/>
                    <a:p>
                      <a:r>
                        <a:rPr lang="en-US" dirty="0"/>
                        <a:t>2.1</a:t>
                      </a:r>
                    </a:p>
                  </a:txBody>
                  <a:tcPr>
                    <a:noFill/>
                  </a:tcPr>
                </a:tc>
                <a:extLst>
                  <a:ext uri="{0D108BD9-81ED-4DB2-BD59-A6C34878D82A}">
                    <a16:rowId xmlns:a16="http://schemas.microsoft.com/office/drawing/2014/main" val="3537160196"/>
                  </a:ext>
                </a:extLst>
              </a:tr>
              <a:tr h="368625">
                <a:tc>
                  <a:txBody>
                    <a:bodyPr/>
                    <a:lstStyle/>
                    <a:p>
                      <a:r>
                        <a:rPr lang="en-US" dirty="0"/>
                        <a:t>Widowed</a:t>
                      </a:r>
                    </a:p>
                  </a:txBody>
                  <a:tcPr>
                    <a:noFill/>
                  </a:tcPr>
                </a:tc>
                <a:tc>
                  <a:txBody>
                    <a:bodyPr/>
                    <a:lstStyle/>
                    <a:p>
                      <a:r>
                        <a:rPr lang="en-US" dirty="0"/>
                        <a:t>1.9</a:t>
                      </a:r>
                    </a:p>
                  </a:txBody>
                  <a:tcPr>
                    <a:noFill/>
                  </a:tcPr>
                </a:tc>
                <a:extLst>
                  <a:ext uri="{0D108BD9-81ED-4DB2-BD59-A6C34878D82A}">
                    <a16:rowId xmlns:a16="http://schemas.microsoft.com/office/drawing/2014/main" val="2050751449"/>
                  </a:ext>
                </a:extLst>
              </a:tr>
              <a:tr h="368625">
                <a:tc>
                  <a:txBody>
                    <a:bodyPr/>
                    <a:lstStyle/>
                    <a:p>
                      <a:r>
                        <a:rPr lang="en-US" dirty="0"/>
                        <a:t>Married</a:t>
                      </a:r>
                    </a:p>
                  </a:txBody>
                  <a:tcPr>
                    <a:noFill/>
                  </a:tcPr>
                </a:tc>
                <a:tc>
                  <a:txBody>
                    <a:bodyPr/>
                    <a:lstStyle/>
                    <a:p>
                      <a:r>
                        <a:rPr lang="en-US" dirty="0"/>
                        <a:t>2.0</a:t>
                      </a:r>
                    </a:p>
                  </a:txBody>
                  <a:tcPr>
                    <a:noFill/>
                  </a:tcPr>
                </a:tc>
                <a:extLst>
                  <a:ext uri="{0D108BD9-81ED-4DB2-BD59-A6C34878D82A}">
                    <a16:rowId xmlns:a16="http://schemas.microsoft.com/office/drawing/2014/main" val="4210811717"/>
                  </a:ext>
                </a:extLst>
              </a:tr>
            </a:tbl>
          </a:graphicData>
        </a:graphic>
      </p:graphicFrame>
      <p:sp>
        <p:nvSpPr>
          <p:cNvPr id="5" name="TextBox 4">
            <a:extLst>
              <a:ext uri="{FF2B5EF4-FFF2-40B4-BE49-F238E27FC236}">
                <a16:creationId xmlns:a16="http://schemas.microsoft.com/office/drawing/2014/main" id="{3B977A95-73DD-7EDF-19EB-29A9E9950FF8}"/>
              </a:ext>
            </a:extLst>
          </p:cNvPr>
          <p:cNvSpPr txBox="1"/>
          <p:nvPr/>
        </p:nvSpPr>
        <p:spPr>
          <a:xfrm>
            <a:off x="5057521" y="3594699"/>
            <a:ext cx="3358195" cy="584775"/>
          </a:xfrm>
          <a:prstGeom prst="rect">
            <a:avLst/>
          </a:prstGeom>
          <a:noFill/>
        </p:spPr>
        <p:txBody>
          <a:bodyPr wrap="square" rtlCol="0">
            <a:spAutoFit/>
          </a:bodyPr>
          <a:lstStyle/>
          <a:p>
            <a:r>
              <a:rPr lang="en-US" sz="1600" dirty="0"/>
              <a:t>Education status similarly shows little differences. </a:t>
            </a:r>
          </a:p>
        </p:txBody>
      </p:sp>
    </p:spTree>
    <p:extLst>
      <p:ext uri="{BB962C8B-B14F-4D97-AF65-F5344CB8AC3E}">
        <p14:creationId xmlns:p14="http://schemas.microsoft.com/office/powerpoint/2010/main" val="1245375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44EC2AC0-326D-AEBA-F3CD-47F296EB232B}"/>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F014C2B-9291-818E-9207-1D5ABCBD3252}"/>
              </a:ext>
            </a:extLst>
          </p:cNvPr>
          <p:cNvGraphicFramePr>
            <a:graphicFrameLocks noGrp="1"/>
          </p:cNvGraphicFramePr>
          <p:nvPr>
            <p:extLst>
              <p:ext uri="{D42A27DB-BD31-4B8C-83A1-F6EECF244321}">
                <p14:modId xmlns:p14="http://schemas.microsoft.com/office/powerpoint/2010/main" val="2322607160"/>
              </p:ext>
            </p:extLst>
          </p:nvPr>
        </p:nvGraphicFramePr>
        <p:xfrm>
          <a:off x="219456" y="489966"/>
          <a:ext cx="3979884" cy="3925435"/>
        </p:xfrm>
        <a:graphic>
          <a:graphicData uri="http://schemas.openxmlformats.org/drawingml/2006/table">
            <a:tbl>
              <a:tblPr firstRow="1" bandRow="1">
                <a:tableStyleId>{BFA11F67-8BD6-47EC-9F71-6CD8F6C066F8}</a:tableStyleId>
              </a:tblPr>
              <a:tblGrid>
                <a:gridCol w="1989942">
                  <a:extLst>
                    <a:ext uri="{9D8B030D-6E8A-4147-A177-3AD203B41FA5}">
                      <a16:colId xmlns:a16="http://schemas.microsoft.com/office/drawing/2014/main" val="3989279615"/>
                    </a:ext>
                  </a:extLst>
                </a:gridCol>
                <a:gridCol w="1989942">
                  <a:extLst>
                    <a:ext uri="{9D8B030D-6E8A-4147-A177-3AD203B41FA5}">
                      <a16:colId xmlns:a16="http://schemas.microsoft.com/office/drawing/2014/main" val="4010461188"/>
                    </a:ext>
                  </a:extLst>
                </a:gridCol>
              </a:tblGrid>
              <a:tr h="444668">
                <a:tc>
                  <a:txBody>
                    <a:bodyPr/>
                    <a:lstStyle/>
                    <a:p>
                      <a:r>
                        <a:rPr lang="en-US" sz="1200" dirty="0"/>
                        <a:t>Education Status</a:t>
                      </a:r>
                    </a:p>
                  </a:txBody>
                  <a:tcPr/>
                </a:tc>
                <a:tc>
                  <a:txBody>
                    <a:bodyPr/>
                    <a:lstStyle/>
                    <a:p>
                      <a:r>
                        <a:rPr lang="en-US" sz="1200" dirty="0"/>
                        <a:t>Average # of Secondary Factors Listed</a:t>
                      </a:r>
                    </a:p>
                  </a:txBody>
                  <a:tcPr/>
                </a:tc>
                <a:extLst>
                  <a:ext uri="{0D108BD9-81ED-4DB2-BD59-A6C34878D82A}">
                    <a16:rowId xmlns:a16="http://schemas.microsoft.com/office/drawing/2014/main" val="3441494424"/>
                  </a:ext>
                </a:extLst>
              </a:tr>
              <a:tr h="327887">
                <a:tc>
                  <a:txBody>
                    <a:bodyPr/>
                    <a:lstStyle/>
                    <a:p>
                      <a:r>
                        <a:rPr lang="en-US" sz="1200" dirty="0"/>
                        <a:t>8</a:t>
                      </a:r>
                      <a:r>
                        <a:rPr lang="en-US" sz="1200" baseline="30000" dirty="0"/>
                        <a:t>th</a:t>
                      </a:r>
                      <a:r>
                        <a:rPr lang="en-US" sz="1200" dirty="0"/>
                        <a:t> grade or less</a:t>
                      </a:r>
                    </a:p>
                  </a:txBody>
                  <a:tcPr>
                    <a:solidFill>
                      <a:schemeClr val="bg2"/>
                    </a:solidFill>
                  </a:tcPr>
                </a:tc>
                <a:tc>
                  <a:txBody>
                    <a:bodyPr/>
                    <a:lstStyle/>
                    <a:p>
                      <a:r>
                        <a:rPr lang="en-US" sz="1200" dirty="0"/>
                        <a:t>1.97</a:t>
                      </a:r>
                    </a:p>
                  </a:txBody>
                  <a:tcPr>
                    <a:solidFill>
                      <a:schemeClr val="bg2"/>
                    </a:solidFill>
                  </a:tcPr>
                </a:tc>
                <a:extLst>
                  <a:ext uri="{0D108BD9-81ED-4DB2-BD59-A6C34878D82A}">
                    <a16:rowId xmlns:a16="http://schemas.microsoft.com/office/drawing/2014/main" val="1978091271"/>
                  </a:ext>
                </a:extLst>
              </a:tr>
              <a:tr h="327887">
                <a:tc>
                  <a:txBody>
                    <a:bodyPr/>
                    <a:lstStyle/>
                    <a:p>
                      <a:r>
                        <a:rPr lang="en-US" sz="1200" dirty="0"/>
                        <a:t>9</a:t>
                      </a:r>
                      <a:r>
                        <a:rPr lang="en-US" sz="1200" baseline="30000" dirty="0"/>
                        <a:t>th</a:t>
                      </a:r>
                      <a:r>
                        <a:rPr lang="en-US" sz="1200" dirty="0"/>
                        <a:t> - 12</a:t>
                      </a:r>
                      <a:r>
                        <a:rPr lang="en-US" sz="1200" baseline="30000" dirty="0"/>
                        <a:t>th</a:t>
                      </a:r>
                      <a:r>
                        <a:rPr lang="en-US" sz="1200" dirty="0"/>
                        <a:t> grade, no diploma</a:t>
                      </a:r>
                    </a:p>
                  </a:txBody>
                  <a:tcPr>
                    <a:solidFill>
                      <a:schemeClr val="bg2"/>
                    </a:solidFill>
                  </a:tcPr>
                </a:tc>
                <a:tc>
                  <a:txBody>
                    <a:bodyPr/>
                    <a:lstStyle/>
                    <a:p>
                      <a:r>
                        <a:rPr lang="en-US" sz="1200" dirty="0"/>
                        <a:t>2.07</a:t>
                      </a:r>
                    </a:p>
                  </a:txBody>
                  <a:tcPr>
                    <a:solidFill>
                      <a:schemeClr val="bg2"/>
                    </a:solidFill>
                  </a:tcPr>
                </a:tc>
                <a:extLst>
                  <a:ext uri="{0D108BD9-81ED-4DB2-BD59-A6C34878D82A}">
                    <a16:rowId xmlns:a16="http://schemas.microsoft.com/office/drawing/2014/main" val="446706471"/>
                  </a:ext>
                </a:extLst>
              </a:tr>
              <a:tr h="444668">
                <a:tc>
                  <a:txBody>
                    <a:bodyPr/>
                    <a:lstStyle/>
                    <a:p>
                      <a:r>
                        <a:rPr lang="en-US" sz="1200" dirty="0"/>
                        <a:t>High school graduate or GED completed</a:t>
                      </a:r>
                    </a:p>
                  </a:txBody>
                  <a:tcPr>
                    <a:solidFill>
                      <a:schemeClr val="bg2"/>
                    </a:solidFill>
                  </a:tcPr>
                </a:tc>
                <a:tc>
                  <a:txBody>
                    <a:bodyPr/>
                    <a:lstStyle/>
                    <a:p>
                      <a:r>
                        <a:rPr lang="en-US" sz="1200" dirty="0"/>
                        <a:t>2.01</a:t>
                      </a:r>
                    </a:p>
                  </a:txBody>
                  <a:tcPr>
                    <a:solidFill>
                      <a:schemeClr val="bg2"/>
                    </a:solidFill>
                  </a:tcPr>
                </a:tc>
                <a:extLst>
                  <a:ext uri="{0D108BD9-81ED-4DB2-BD59-A6C34878D82A}">
                    <a16:rowId xmlns:a16="http://schemas.microsoft.com/office/drawing/2014/main" val="3537160196"/>
                  </a:ext>
                </a:extLst>
              </a:tr>
              <a:tr h="444668">
                <a:tc>
                  <a:txBody>
                    <a:bodyPr/>
                    <a:lstStyle/>
                    <a:p>
                      <a:r>
                        <a:rPr lang="en-US" sz="1200" dirty="0"/>
                        <a:t>Some college credit, but no degree</a:t>
                      </a:r>
                    </a:p>
                  </a:txBody>
                  <a:tcPr>
                    <a:solidFill>
                      <a:schemeClr val="bg2"/>
                    </a:solidFill>
                  </a:tcPr>
                </a:tc>
                <a:tc>
                  <a:txBody>
                    <a:bodyPr/>
                    <a:lstStyle/>
                    <a:p>
                      <a:r>
                        <a:rPr lang="en-US" sz="1200" dirty="0"/>
                        <a:t>2.03</a:t>
                      </a:r>
                    </a:p>
                  </a:txBody>
                  <a:tcPr>
                    <a:solidFill>
                      <a:schemeClr val="bg2"/>
                    </a:solidFill>
                  </a:tcPr>
                </a:tc>
                <a:extLst>
                  <a:ext uri="{0D108BD9-81ED-4DB2-BD59-A6C34878D82A}">
                    <a16:rowId xmlns:a16="http://schemas.microsoft.com/office/drawing/2014/main" val="2050751449"/>
                  </a:ext>
                </a:extLst>
              </a:tr>
              <a:tr h="327887">
                <a:tc>
                  <a:txBody>
                    <a:bodyPr/>
                    <a:lstStyle/>
                    <a:p>
                      <a:r>
                        <a:rPr lang="en-US" sz="1200" dirty="0"/>
                        <a:t>Associate degree</a:t>
                      </a:r>
                    </a:p>
                  </a:txBody>
                  <a:tcPr>
                    <a:solidFill>
                      <a:schemeClr val="bg2"/>
                    </a:solidFill>
                  </a:tcPr>
                </a:tc>
                <a:tc>
                  <a:txBody>
                    <a:bodyPr/>
                    <a:lstStyle/>
                    <a:p>
                      <a:r>
                        <a:rPr lang="en-US" sz="1200" dirty="0"/>
                        <a:t>1.98</a:t>
                      </a:r>
                    </a:p>
                  </a:txBody>
                  <a:tcPr>
                    <a:solidFill>
                      <a:schemeClr val="bg2"/>
                    </a:solidFill>
                  </a:tcPr>
                </a:tc>
                <a:extLst>
                  <a:ext uri="{0D108BD9-81ED-4DB2-BD59-A6C34878D82A}">
                    <a16:rowId xmlns:a16="http://schemas.microsoft.com/office/drawing/2014/main" val="3600230402"/>
                  </a:ext>
                </a:extLst>
              </a:tr>
              <a:tr h="327887">
                <a:tc>
                  <a:txBody>
                    <a:bodyPr/>
                    <a:lstStyle/>
                    <a:p>
                      <a:r>
                        <a:rPr lang="en-US" sz="1200" dirty="0"/>
                        <a:t>Bachelor’s degree</a:t>
                      </a:r>
                    </a:p>
                  </a:txBody>
                  <a:tcPr>
                    <a:solidFill>
                      <a:schemeClr val="bg2"/>
                    </a:solidFill>
                  </a:tcPr>
                </a:tc>
                <a:tc>
                  <a:txBody>
                    <a:bodyPr/>
                    <a:lstStyle/>
                    <a:p>
                      <a:r>
                        <a:rPr lang="en-US" sz="1200" dirty="0"/>
                        <a:t>1.89</a:t>
                      </a:r>
                    </a:p>
                  </a:txBody>
                  <a:tcPr>
                    <a:solidFill>
                      <a:schemeClr val="bg2"/>
                    </a:solidFill>
                  </a:tcPr>
                </a:tc>
                <a:extLst>
                  <a:ext uri="{0D108BD9-81ED-4DB2-BD59-A6C34878D82A}">
                    <a16:rowId xmlns:a16="http://schemas.microsoft.com/office/drawing/2014/main" val="2302135002"/>
                  </a:ext>
                </a:extLst>
              </a:tr>
              <a:tr h="327887">
                <a:tc>
                  <a:txBody>
                    <a:bodyPr/>
                    <a:lstStyle/>
                    <a:p>
                      <a:r>
                        <a:rPr lang="en-US" sz="1200" dirty="0"/>
                        <a:t>Master’s degree</a:t>
                      </a:r>
                    </a:p>
                  </a:txBody>
                  <a:tcPr>
                    <a:solidFill>
                      <a:schemeClr val="bg2"/>
                    </a:solidFill>
                  </a:tcPr>
                </a:tc>
                <a:tc>
                  <a:txBody>
                    <a:bodyPr/>
                    <a:lstStyle/>
                    <a:p>
                      <a:r>
                        <a:rPr lang="en-US" sz="1200" dirty="0"/>
                        <a:t>1.83</a:t>
                      </a:r>
                    </a:p>
                  </a:txBody>
                  <a:tcPr>
                    <a:solidFill>
                      <a:schemeClr val="bg2"/>
                    </a:solidFill>
                  </a:tcPr>
                </a:tc>
                <a:extLst>
                  <a:ext uri="{0D108BD9-81ED-4DB2-BD59-A6C34878D82A}">
                    <a16:rowId xmlns:a16="http://schemas.microsoft.com/office/drawing/2014/main" val="1840912725"/>
                  </a:ext>
                </a:extLst>
              </a:tr>
              <a:tr h="444668">
                <a:tc>
                  <a:txBody>
                    <a:bodyPr/>
                    <a:lstStyle/>
                    <a:p>
                      <a:r>
                        <a:rPr lang="en-US" sz="1200" dirty="0"/>
                        <a:t>Doctorate or professional degree</a:t>
                      </a:r>
                    </a:p>
                  </a:txBody>
                  <a:tcPr>
                    <a:solidFill>
                      <a:schemeClr val="bg2"/>
                    </a:solidFill>
                  </a:tcPr>
                </a:tc>
                <a:tc>
                  <a:txBody>
                    <a:bodyPr/>
                    <a:lstStyle/>
                    <a:p>
                      <a:r>
                        <a:rPr lang="en-US" sz="1200" dirty="0"/>
                        <a:t>1.85</a:t>
                      </a:r>
                    </a:p>
                  </a:txBody>
                  <a:tcPr>
                    <a:solidFill>
                      <a:schemeClr val="bg2"/>
                    </a:solidFill>
                  </a:tcPr>
                </a:tc>
                <a:extLst>
                  <a:ext uri="{0D108BD9-81ED-4DB2-BD59-A6C34878D82A}">
                    <a16:rowId xmlns:a16="http://schemas.microsoft.com/office/drawing/2014/main" val="1468553211"/>
                  </a:ext>
                </a:extLst>
              </a:tr>
              <a:tr h="327887">
                <a:tc>
                  <a:txBody>
                    <a:bodyPr/>
                    <a:lstStyle/>
                    <a:p>
                      <a:r>
                        <a:rPr lang="en-US" sz="1200" dirty="0"/>
                        <a:t>Unknown</a:t>
                      </a:r>
                    </a:p>
                  </a:txBody>
                  <a:tcPr>
                    <a:solidFill>
                      <a:schemeClr val="bg2"/>
                    </a:solidFill>
                  </a:tcPr>
                </a:tc>
                <a:tc>
                  <a:txBody>
                    <a:bodyPr/>
                    <a:lstStyle/>
                    <a:p>
                      <a:r>
                        <a:rPr lang="en-US" sz="1200" dirty="0"/>
                        <a:t>2.02</a:t>
                      </a:r>
                    </a:p>
                  </a:txBody>
                  <a:tcPr>
                    <a:solidFill>
                      <a:schemeClr val="bg2"/>
                    </a:solidFill>
                  </a:tcPr>
                </a:tc>
                <a:extLst>
                  <a:ext uri="{0D108BD9-81ED-4DB2-BD59-A6C34878D82A}">
                    <a16:rowId xmlns:a16="http://schemas.microsoft.com/office/drawing/2014/main" val="3446963874"/>
                  </a:ext>
                </a:extLst>
              </a:tr>
            </a:tbl>
          </a:graphicData>
        </a:graphic>
      </p:graphicFrame>
      <p:pic>
        <p:nvPicPr>
          <p:cNvPr id="10" name="Picture 9" descr="A graph of red and white bars&#10;&#10;AI-generated content may be incorrect.">
            <a:extLst>
              <a:ext uri="{FF2B5EF4-FFF2-40B4-BE49-F238E27FC236}">
                <a16:creationId xmlns:a16="http://schemas.microsoft.com/office/drawing/2014/main" id="{45EAC857-EB79-6715-4DF8-375260D60D00}"/>
              </a:ext>
            </a:extLst>
          </p:cNvPr>
          <p:cNvPicPr>
            <a:picLocks noChangeAspect="1"/>
          </p:cNvPicPr>
          <p:nvPr/>
        </p:nvPicPr>
        <p:blipFill>
          <a:blip r:embed="rId3"/>
          <a:stretch>
            <a:fillRect/>
          </a:stretch>
        </p:blipFill>
        <p:spPr>
          <a:xfrm>
            <a:off x="4687747" y="573159"/>
            <a:ext cx="3997182" cy="1998591"/>
          </a:xfrm>
          <a:prstGeom prst="rect">
            <a:avLst/>
          </a:prstGeom>
        </p:spPr>
      </p:pic>
    </p:spTree>
    <p:extLst>
      <p:ext uri="{BB962C8B-B14F-4D97-AF65-F5344CB8AC3E}">
        <p14:creationId xmlns:p14="http://schemas.microsoft.com/office/powerpoint/2010/main" val="23054186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D22FDCEE-BE03-3E19-7A98-9DE0DDF902D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3003DA3-B07D-C5A3-18C2-7F36869061E0}"/>
              </a:ext>
            </a:extLst>
          </p:cNvPr>
          <p:cNvSpPr txBox="1"/>
          <p:nvPr/>
        </p:nvSpPr>
        <p:spPr>
          <a:xfrm>
            <a:off x="130116" y="3327618"/>
            <a:ext cx="8643494" cy="1292662"/>
          </a:xfrm>
          <a:prstGeom prst="rect">
            <a:avLst/>
          </a:prstGeom>
          <a:noFill/>
        </p:spPr>
        <p:txBody>
          <a:bodyPr wrap="square" rtlCol="0">
            <a:spAutoFit/>
          </a:bodyPr>
          <a:lstStyle/>
          <a:p>
            <a:r>
              <a:rPr lang="en-US" sz="1300" dirty="0"/>
              <a:t>The bulk of people have just a couple secondary factors listed and many have none. </a:t>
            </a:r>
          </a:p>
          <a:p>
            <a:endParaRPr lang="en-US" sz="1300" dirty="0"/>
          </a:p>
          <a:p>
            <a:r>
              <a:rPr lang="en-US" sz="1300" dirty="0"/>
              <a:t>Perhaps the higher number of secondary factors among men and negligible differences reflects a trade-off where some lower-income people receive worst care so less factors are listed but also have more secondary conditions which obscures a pattern in summary statistics. Rather than look at the average number of secondary factors maybe we should be looking at the frequency of 0 or 1 secondary factors. </a:t>
            </a:r>
          </a:p>
        </p:txBody>
      </p:sp>
      <p:pic>
        <p:nvPicPr>
          <p:cNvPr id="7" name="Picture 6" descr="A graph with a blue and black grid&#10;&#10;AI-generated content may be incorrect.">
            <a:extLst>
              <a:ext uri="{FF2B5EF4-FFF2-40B4-BE49-F238E27FC236}">
                <a16:creationId xmlns:a16="http://schemas.microsoft.com/office/drawing/2014/main" id="{93A2EC51-F103-F55E-6542-53F39429497D}"/>
              </a:ext>
            </a:extLst>
          </p:cNvPr>
          <p:cNvPicPr>
            <a:picLocks noChangeAspect="1"/>
          </p:cNvPicPr>
          <p:nvPr/>
        </p:nvPicPr>
        <p:blipFill>
          <a:blip r:embed="rId3"/>
          <a:stretch>
            <a:fillRect/>
          </a:stretch>
        </p:blipFill>
        <p:spPr>
          <a:xfrm>
            <a:off x="1018571" y="230150"/>
            <a:ext cx="5127586" cy="2930049"/>
          </a:xfrm>
          <a:prstGeom prst="rect">
            <a:avLst/>
          </a:prstGeom>
        </p:spPr>
      </p:pic>
    </p:spTree>
    <p:extLst>
      <p:ext uri="{BB962C8B-B14F-4D97-AF65-F5344CB8AC3E}">
        <p14:creationId xmlns:p14="http://schemas.microsoft.com/office/powerpoint/2010/main" val="1426753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FFC30841-0E9E-802C-2CE9-CFD6337DE10F}"/>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94F891AC-586A-AE03-F8EA-9E107ED95BD1}"/>
              </a:ext>
            </a:extLst>
          </p:cNvPr>
          <p:cNvSpPr txBox="1"/>
          <p:nvPr/>
        </p:nvSpPr>
        <p:spPr>
          <a:xfrm>
            <a:off x="557940" y="823449"/>
            <a:ext cx="7467312" cy="627300"/>
          </a:xfrm>
          <a:prstGeom prst="rect">
            <a:avLst/>
          </a:prstGeom>
          <a:noFill/>
          <a:ln>
            <a:noFill/>
          </a:ln>
        </p:spPr>
        <p:txBody>
          <a:bodyPr spcFirstLastPara="1" wrap="square" lIns="91425" tIns="91425" rIns="91425" bIns="91425" anchor="t" anchorCtr="0">
            <a:noAutofit/>
          </a:bodyPr>
          <a:lstStyle/>
          <a:p>
            <a:pPr lvl="0"/>
            <a:r>
              <a:rPr lang="en-CA" dirty="0">
                <a:solidFill>
                  <a:schemeClr val="dk2"/>
                </a:solidFill>
              </a:rPr>
              <a:t>The average number of listed secondary factors was 1.99</a:t>
            </a:r>
          </a:p>
        </p:txBody>
      </p:sp>
      <p:graphicFrame>
        <p:nvGraphicFramePr>
          <p:cNvPr id="2" name="Table 1">
            <a:extLst>
              <a:ext uri="{FF2B5EF4-FFF2-40B4-BE49-F238E27FC236}">
                <a16:creationId xmlns:a16="http://schemas.microsoft.com/office/drawing/2014/main" id="{91592132-B11E-B81F-4A46-C8DE3D6C5C1F}"/>
              </a:ext>
            </a:extLst>
          </p:cNvPr>
          <p:cNvGraphicFramePr>
            <a:graphicFrameLocks noGrp="1"/>
          </p:cNvGraphicFramePr>
          <p:nvPr>
            <p:extLst>
              <p:ext uri="{D42A27DB-BD31-4B8C-83A1-F6EECF244321}">
                <p14:modId xmlns:p14="http://schemas.microsoft.com/office/powerpoint/2010/main" val="482413192"/>
              </p:ext>
            </p:extLst>
          </p:nvPr>
        </p:nvGraphicFramePr>
        <p:xfrm>
          <a:off x="311700" y="1462758"/>
          <a:ext cx="4973532" cy="1986280"/>
        </p:xfrm>
        <a:graphic>
          <a:graphicData uri="http://schemas.openxmlformats.org/drawingml/2006/table">
            <a:tbl>
              <a:tblPr firstRow="1" bandRow="1">
                <a:tableStyleId>{BFA11F67-8BD6-47EC-9F71-6CD8F6C066F8}</a:tableStyleId>
              </a:tblPr>
              <a:tblGrid>
                <a:gridCol w="2486766">
                  <a:extLst>
                    <a:ext uri="{9D8B030D-6E8A-4147-A177-3AD203B41FA5}">
                      <a16:colId xmlns:a16="http://schemas.microsoft.com/office/drawing/2014/main" val="3989279615"/>
                    </a:ext>
                  </a:extLst>
                </a:gridCol>
                <a:gridCol w="2486766">
                  <a:extLst>
                    <a:ext uri="{9D8B030D-6E8A-4147-A177-3AD203B41FA5}">
                      <a16:colId xmlns:a16="http://schemas.microsoft.com/office/drawing/2014/main" val="4010461188"/>
                    </a:ext>
                  </a:extLst>
                </a:gridCol>
              </a:tblGrid>
              <a:tr h="370840">
                <a:tc>
                  <a:txBody>
                    <a:bodyPr/>
                    <a:lstStyle/>
                    <a:p>
                      <a:r>
                        <a:rPr lang="en-US" dirty="0"/>
                        <a:t>Race</a:t>
                      </a:r>
                    </a:p>
                  </a:txBody>
                  <a:tcPr/>
                </a:tc>
                <a:tc>
                  <a:txBody>
                    <a:bodyPr/>
                    <a:lstStyle/>
                    <a:p>
                      <a:r>
                        <a:rPr lang="en-US" dirty="0"/>
                        <a:t>Percentage with 0 secondary factors listed</a:t>
                      </a:r>
                    </a:p>
                  </a:txBody>
                  <a:tcPr/>
                </a:tc>
                <a:extLst>
                  <a:ext uri="{0D108BD9-81ED-4DB2-BD59-A6C34878D82A}">
                    <a16:rowId xmlns:a16="http://schemas.microsoft.com/office/drawing/2014/main" val="3441494424"/>
                  </a:ext>
                </a:extLst>
              </a:tr>
              <a:tr h="370840">
                <a:tc>
                  <a:txBody>
                    <a:bodyPr/>
                    <a:lstStyle/>
                    <a:p>
                      <a:r>
                        <a:rPr lang="en-US" dirty="0"/>
                        <a:t>White</a:t>
                      </a:r>
                    </a:p>
                  </a:txBody>
                  <a:tcPr>
                    <a:solidFill>
                      <a:schemeClr val="bg2"/>
                    </a:solidFill>
                  </a:tcPr>
                </a:tc>
                <a:tc>
                  <a:txBody>
                    <a:bodyPr/>
                    <a:lstStyle/>
                    <a:p>
                      <a:r>
                        <a:rPr lang="en-US" dirty="0"/>
                        <a:t>23.3%</a:t>
                      </a:r>
                    </a:p>
                  </a:txBody>
                  <a:tcPr>
                    <a:solidFill>
                      <a:schemeClr val="bg2"/>
                    </a:solidFill>
                  </a:tcPr>
                </a:tc>
                <a:extLst>
                  <a:ext uri="{0D108BD9-81ED-4DB2-BD59-A6C34878D82A}">
                    <a16:rowId xmlns:a16="http://schemas.microsoft.com/office/drawing/2014/main" val="1978091271"/>
                  </a:ext>
                </a:extLst>
              </a:tr>
              <a:tr h="370840">
                <a:tc>
                  <a:txBody>
                    <a:bodyPr/>
                    <a:lstStyle/>
                    <a:p>
                      <a:r>
                        <a:rPr lang="en-US" dirty="0"/>
                        <a:t>Black</a:t>
                      </a:r>
                    </a:p>
                  </a:txBody>
                  <a:tcPr>
                    <a:solidFill>
                      <a:schemeClr val="bg2"/>
                    </a:solidFill>
                  </a:tcPr>
                </a:tc>
                <a:tc>
                  <a:txBody>
                    <a:bodyPr/>
                    <a:lstStyle/>
                    <a:p>
                      <a:r>
                        <a:rPr lang="en-US" dirty="0"/>
                        <a:t>23.6%</a:t>
                      </a:r>
                    </a:p>
                  </a:txBody>
                  <a:tcPr>
                    <a:solidFill>
                      <a:schemeClr val="bg2"/>
                    </a:solidFill>
                  </a:tcPr>
                </a:tc>
                <a:extLst>
                  <a:ext uri="{0D108BD9-81ED-4DB2-BD59-A6C34878D82A}">
                    <a16:rowId xmlns:a16="http://schemas.microsoft.com/office/drawing/2014/main" val="446706471"/>
                  </a:ext>
                </a:extLst>
              </a:tr>
              <a:tr h="370840">
                <a:tc>
                  <a:txBody>
                    <a:bodyPr/>
                    <a:lstStyle/>
                    <a:p>
                      <a:r>
                        <a:rPr lang="en-US" dirty="0"/>
                        <a:t>Indigenous</a:t>
                      </a:r>
                    </a:p>
                  </a:txBody>
                  <a:tcPr>
                    <a:solidFill>
                      <a:schemeClr val="bg2"/>
                    </a:solidFill>
                  </a:tcPr>
                </a:tc>
                <a:tc>
                  <a:txBody>
                    <a:bodyPr/>
                    <a:lstStyle/>
                    <a:p>
                      <a:r>
                        <a:rPr lang="en-US" dirty="0"/>
                        <a:t>16.5%</a:t>
                      </a:r>
                    </a:p>
                  </a:txBody>
                  <a:tcPr>
                    <a:solidFill>
                      <a:schemeClr val="bg2"/>
                    </a:solidFill>
                  </a:tcPr>
                </a:tc>
                <a:extLst>
                  <a:ext uri="{0D108BD9-81ED-4DB2-BD59-A6C34878D82A}">
                    <a16:rowId xmlns:a16="http://schemas.microsoft.com/office/drawing/2014/main" val="3537160196"/>
                  </a:ext>
                </a:extLst>
              </a:tr>
              <a:tr h="370840">
                <a:tc>
                  <a:txBody>
                    <a:bodyPr/>
                    <a:lstStyle/>
                    <a:p>
                      <a:r>
                        <a:rPr lang="en-US" dirty="0"/>
                        <a:t>Asian or Pacific Islander </a:t>
                      </a:r>
                    </a:p>
                  </a:txBody>
                  <a:tcPr>
                    <a:solidFill>
                      <a:schemeClr val="bg2"/>
                    </a:solidFill>
                  </a:tcPr>
                </a:tc>
                <a:tc>
                  <a:txBody>
                    <a:bodyPr/>
                    <a:lstStyle/>
                    <a:p>
                      <a:r>
                        <a:rPr lang="en-US" dirty="0"/>
                        <a:t>22.0%</a:t>
                      </a:r>
                    </a:p>
                  </a:txBody>
                  <a:tcPr>
                    <a:solidFill>
                      <a:schemeClr val="bg2"/>
                    </a:solidFill>
                  </a:tcPr>
                </a:tc>
                <a:extLst>
                  <a:ext uri="{0D108BD9-81ED-4DB2-BD59-A6C34878D82A}">
                    <a16:rowId xmlns:a16="http://schemas.microsoft.com/office/drawing/2014/main" val="2050751449"/>
                  </a:ext>
                </a:extLst>
              </a:tr>
            </a:tbl>
          </a:graphicData>
        </a:graphic>
      </p:graphicFrame>
      <p:graphicFrame>
        <p:nvGraphicFramePr>
          <p:cNvPr id="4" name="Table 3">
            <a:extLst>
              <a:ext uri="{FF2B5EF4-FFF2-40B4-BE49-F238E27FC236}">
                <a16:creationId xmlns:a16="http://schemas.microsoft.com/office/drawing/2014/main" id="{555B5884-7BB1-5CCA-FC00-C2DDD2CCA13C}"/>
              </a:ext>
            </a:extLst>
          </p:cNvPr>
          <p:cNvGraphicFramePr>
            <a:graphicFrameLocks noGrp="1"/>
          </p:cNvGraphicFramePr>
          <p:nvPr>
            <p:extLst>
              <p:ext uri="{D42A27DB-BD31-4B8C-83A1-F6EECF244321}">
                <p14:modId xmlns:p14="http://schemas.microsoft.com/office/powerpoint/2010/main" val="795770034"/>
              </p:ext>
            </p:extLst>
          </p:nvPr>
        </p:nvGraphicFramePr>
        <p:xfrm>
          <a:off x="5742432" y="1450749"/>
          <a:ext cx="2962656" cy="1649883"/>
        </p:xfrm>
        <a:graphic>
          <a:graphicData uri="http://schemas.openxmlformats.org/drawingml/2006/table">
            <a:tbl>
              <a:tblPr firstRow="1" bandRow="1">
                <a:tableStyleId>{BFA11F67-8BD6-47EC-9F71-6CD8F6C066F8}</a:tableStyleId>
              </a:tblPr>
              <a:tblGrid>
                <a:gridCol w="1078992">
                  <a:extLst>
                    <a:ext uri="{9D8B030D-6E8A-4147-A177-3AD203B41FA5}">
                      <a16:colId xmlns:a16="http://schemas.microsoft.com/office/drawing/2014/main" val="1142209065"/>
                    </a:ext>
                  </a:extLst>
                </a:gridCol>
                <a:gridCol w="1883664">
                  <a:extLst>
                    <a:ext uri="{9D8B030D-6E8A-4147-A177-3AD203B41FA5}">
                      <a16:colId xmlns:a16="http://schemas.microsoft.com/office/drawing/2014/main" val="2977386956"/>
                    </a:ext>
                  </a:extLst>
                </a:gridCol>
              </a:tblGrid>
              <a:tr h="710367">
                <a:tc>
                  <a:txBody>
                    <a:bodyPr/>
                    <a:lstStyle/>
                    <a:p>
                      <a:r>
                        <a:rPr lang="en-US" dirty="0"/>
                        <a:t>Sex</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Average # of Secondary Factors Listed</a:t>
                      </a:r>
                    </a:p>
                  </a:txBody>
                  <a:tcPr/>
                </a:tc>
                <a:extLst>
                  <a:ext uri="{0D108BD9-81ED-4DB2-BD59-A6C34878D82A}">
                    <a16:rowId xmlns:a16="http://schemas.microsoft.com/office/drawing/2014/main" val="1392087711"/>
                  </a:ext>
                </a:extLst>
              </a:tr>
              <a:tr h="469758">
                <a:tc>
                  <a:txBody>
                    <a:bodyPr/>
                    <a:lstStyle/>
                    <a:p>
                      <a:r>
                        <a:rPr lang="en-US" dirty="0"/>
                        <a:t>Female</a:t>
                      </a:r>
                    </a:p>
                  </a:txBody>
                  <a:tcPr/>
                </a:tc>
                <a:tc>
                  <a:txBody>
                    <a:bodyPr/>
                    <a:lstStyle/>
                    <a:p>
                      <a:r>
                        <a:rPr lang="en-US" dirty="0"/>
                        <a:t>25.3%</a:t>
                      </a:r>
                    </a:p>
                  </a:txBody>
                  <a:tcPr/>
                </a:tc>
                <a:extLst>
                  <a:ext uri="{0D108BD9-81ED-4DB2-BD59-A6C34878D82A}">
                    <a16:rowId xmlns:a16="http://schemas.microsoft.com/office/drawing/2014/main" val="30744591"/>
                  </a:ext>
                </a:extLst>
              </a:tr>
              <a:tr h="469758">
                <a:tc>
                  <a:txBody>
                    <a:bodyPr/>
                    <a:lstStyle/>
                    <a:p>
                      <a:r>
                        <a:rPr lang="en-US" dirty="0"/>
                        <a:t>Male</a:t>
                      </a:r>
                    </a:p>
                  </a:txBody>
                  <a:tcPr/>
                </a:tc>
                <a:tc>
                  <a:txBody>
                    <a:bodyPr/>
                    <a:lstStyle/>
                    <a:p>
                      <a:r>
                        <a:rPr lang="en-US" dirty="0"/>
                        <a:t>21.3%</a:t>
                      </a:r>
                    </a:p>
                  </a:txBody>
                  <a:tcPr/>
                </a:tc>
                <a:extLst>
                  <a:ext uri="{0D108BD9-81ED-4DB2-BD59-A6C34878D82A}">
                    <a16:rowId xmlns:a16="http://schemas.microsoft.com/office/drawing/2014/main" val="3998251909"/>
                  </a:ext>
                </a:extLst>
              </a:tr>
            </a:tbl>
          </a:graphicData>
        </a:graphic>
      </p:graphicFrame>
      <p:sp>
        <p:nvSpPr>
          <p:cNvPr id="6" name="Google Shape;59;p14">
            <a:extLst>
              <a:ext uri="{FF2B5EF4-FFF2-40B4-BE49-F238E27FC236}">
                <a16:creationId xmlns:a16="http://schemas.microsoft.com/office/drawing/2014/main" id="{0F6E46C3-C1A3-507D-82C6-68F61AF12395}"/>
              </a:ext>
            </a:extLst>
          </p:cNvPr>
          <p:cNvSpPr txBox="1">
            <a:spLocks/>
          </p:cNvSpPr>
          <p:nvPr/>
        </p:nvSpPr>
        <p:spPr>
          <a:xfrm>
            <a:off x="311700" y="196149"/>
            <a:ext cx="8520600" cy="627300"/>
          </a:xfrm>
          <a:prstGeom prst="rect">
            <a:avLst/>
          </a:prstGeom>
        </p:spPr>
        <p:txBody>
          <a:bodyPr spcFirstLastPara="1" vert="horz" wrap="square" lIns="91425" tIns="91425" rIns="91425" bIns="91425"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spcBef>
                <a:spcPts val="0"/>
              </a:spcBef>
              <a:buSzPts val="990"/>
            </a:pPr>
            <a:r>
              <a:rPr lang="en-CA" sz="2800" dirty="0"/>
              <a:t>Proportion with 0 secondary factors listed</a:t>
            </a:r>
          </a:p>
        </p:txBody>
      </p:sp>
      <p:pic>
        <p:nvPicPr>
          <p:cNvPr id="8" name="Picture 7" descr="A graph with red bars&#10;&#10;AI-generated content may be incorrect.">
            <a:extLst>
              <a:ext uri="{FF2B5EF4-FFF2-40B4-BE49-F238E27FC236}">
                <a16:creationId xmlns:a16="http://schemas.microsoft.com/office/drawing/2014/main" id="{B67B7EC8-55EA-D4E4-68FC-CA45107192DE}"/>
              </a:ext>
            </a:extLst>
          </p:cNvPr>
          <p:cNvPicPr>
            <a:picLocks noChangeAspect="1"/>
          </p:cNvPicPr>
          <p:nvPr/>
        </p:nvPicPr>
        <p:blipFill>
          <a:blip r:embed="rId3"/>
          <a:stretch>
            <a:fillRect/>
          </a:stretch>
        </p:blipFill>
        <p:spPr>
          <a:xfrm>
            <a:off x="5472077" y="3287427"/>
            <a:ext cx="3503365" cy="1751683"/>
          </a:xfrm>
          <a:prstGeom prst="rect">
            <a:avLst/>
          </a:prstGeom>
        </p:spPr>
      </p:pic>
      <p:sp>
        <p:nvSpPr>
          <p:cNvPr id="9" name="Google Shape;60;p14">
            <a:extLst>
              <a:ext uri="{FF2B5EF4-FFF2-40B4-BE49-F238E27FC236}">
                <a16:creationId xmlns:a16="http://schemas.microsoft.com/office/drawing/2014/main" id="{9E175F52-1C8D-E6DB-38B2-9062CCFE6F1F}"/>
              </a:ext>
            </a:extLst>
          </p:cNvPr>
          <p:cNvSpPr txBox="1"/>
          <p:nvPr/>
        </p:nvSpPr>
        <p:spPr>
          <a:xfrm>
            <a:off x="311700" y="3762118"/>
            <a:ext cx="4814936" cy="1185233"/>
          </a:xfrm>
          <a:prstGeom prst="rect">
            <a:avLst/>
          </a:prstGeom>
          <a:noFill/>
          <a:ln>
            <a:noFill/>
          </a:ln>
        </p:spPr>
        <p:txBody>
          <a:bodyPr spcFirstLastPara="1" wrap="square" lIns="91425" tIns="91425" rIns="91425" bIns="91425" anchor="t" anchorCtr="0">
            <a:noAutofit/>
          </a:bodyPr>
          <a:lstStyle/>
          <a:p>
            <a:pPr lvl="0"/>
            <a:r>
              <a:rPr lang="en-CA" sz="1400" b="1" dirty="0">
                <a:solidFill>
                  <a:schemeClr val="dk2"/>
                </a:solidFill>
              </a:rPr>
              <a:t>Women are about 4% more likely to have 0 secondary factors listed. This drops to 1.5% when age and underlying cause of death are controlled for. </a:t>
            </a:r>
          </a:p>
        </p:txBody>
      </p:sp>
    </p:spTree>
    <p:extLst>
      <p:ext uri="{BB962C8B-B14F-4D97-AF65-F5344CB8AC3E}">
        <p14:creationId xmlns:p14="http://schemas.microsoft.com/office/powerpoint/2010/main" val="4978470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B5E952D2-E4BF-7CC5-C5D8-95E9CA2423EE}"/>
            </a:ext>
          </a:extLst>
        </p:cNvPr>
        <p:cNvGrpSpPr/>
        <p:nvPr/>
      </p:nvGrpSpPr>
      <p:grpSpPr>
        <a:xfrm>
          <a:off x="0" y="0"/>
          <a:ext cx="0" cy="0"/>
          <a:chOff x="0" y="0"/>
          <a:chExt cx="0" cy="0"/>
        </a:xfrm>
      </p:grpSpPr>
      <p:sp>
        <p:nvSpPr>
          <p:cNvPr id="6" name="Google Shape;59;p14">
            <a:extLst>
              <a:ext uri="{FF2B5EF4-FFF2-40B4-BE49-F238E27FC236}">
                <a16:creationId xmlns:a16="http://schemas.microsoft.com/office/drawing/2014/main" id="{DE2FFEAD-D1A7-2B9D-0D55-6029BB8AEB0C}"/>
              </a:ext>
            </a:extLst>
          </p:cNvPr>
          <p:cNvSpPr txBox="1">
            <a:spLocks/>
          </p:cNvSpPr>
          <p:nvPr/>
        </p:nvSpPr>
        <p:spPr>
          <a:xfrm>
            <a:off x="311700" y="196149"/>
            <a:ext cx="8520600" cy="627300"/>
          </a:xfrm>
          <a:prstGeom prst="rect">
            <a:avLst/>
          </a:prstGeom>
        </p:spPr>
        <p:txBody>
          <a:bodyPr spcFirstLastPara="1" vert="horz" wrap="square" lIns="91425" tIns="91425" rIns="91425" bIns="91425"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spcBef>
                <a:spcPts val="0"/>
              </a:spcBef>
              <a:buSzPts val="990"/>
            </a:pPr>
            <a:r>
              <a:rPr lang="en-CA" sz="2800" dirty="0"/>
              <a:t>Proportion with 0 secondary factors listed</a:t>
            </a:r>
          </a:p>
        </p:txBody>
      </p:sp>
      <p:graphicFrame>
        <p:nvGraphicFramePr>
          <p:cNvPr id="3" name="Table 2">
            <a:extLst>
              <a:ext uri="{FF2B5EF4-FFF2-40B4-BE49-F238E27FC236}">
                <a16:creationId xmlns:a16="http://schemas.microsoft.com/office/drawing/2014/main" id="{16D7C483-C9D3-4E24-587A-E6603AF0B32A}"/>
              </a:ext>
            </a:extLst>
          </p:cNvPr>
          <p:cNvGraphicFramePr>
            <a:graphicFrameLocks noGrp="1"/>
          </p:cNvGraphicFramePr>
          <p:nvPr>
            <p:extLst>
              <p:ext uri="{D42A27DB-BD31-4B8C-83A1-F6EECF244321}">
                <p14:modId xmlns:p14="http://schemas.microsoft.com/office/powerpoint/2010/main" val="461065804"/>
              </p:ext>
            </p:extLst>
          </p:nvPr>
        </p:nvGraphicFramePr>
        <p:xfrm>
          <a:off x="435836" y="1391107"/>
          <a:ext cx="3844852" cy="2361285"/>
        </p:xfrm>
        <a:graphic>
          <a:graphicData uri="http://schemas.openxmlformats.org/drawingml/2006/table">
            <a:tbl>
              <a:tblPr firstRow="1" bandRow="1">
                <a:tableStyleId>{BFA11F67-8BD6-47EC-9F71-6CD8F6C066F8}</a:tableStyleId>
              </a:tblPr>
              <a:tblGrid>
                <a:gridCol w="1922426">
                  <a:extLst>
                    <a:ext uri="{9D8B030D-6E8A-4147-A177-3AD203B41FA5}">
                      <a16:colId xmlns:a16="http://schemas.microsoft.com/office/drawing/2014/main" val="3989279615"/>
                    </a:ext>
                  </a:extLst>
                </a:gridCol>
                <a:gridCol w="1922426">
                  <a:extLst>
                    <a:ext uri="{9D8B030D-6E8A-4147-A177-3AD203B41FA5}">
                      <a16:colId xmlns:a16="http://schemas.microsoft.com/office/drawing/2014/main" val="4010461188"/>
                    </a:ext>
                  </a:extLst>
                </a:gridCol>
              </a:tblGrid>
              <a:tr h="499916">
                <a:tc>
                  <a:txBody>
                    <a:bodyPr/>
                    <a:lstStyle/>
                    <a:p>
                      <a:r>
                        <a:rPr lang="en-US" dirty="0"/>
                        <a:t>Marital Status</a:t>
                      </a:r>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a:t>Proportion with 0 secondary factors </a:t>
                      </a:r>
                    </a:p>
                  </a:txBody>
                  <a:tcPr>
                    <a:noFill/>
                  </a:tcPr>
                </a:tc>
                <a:extLst>
                  <a:ext uri="{0D108BD9-81ED-4DB2-BD59-A6C34878D82A}">
                    <a16:rowId xmlns:a16="http://schemas.microsoft.com/office/drawing/2014/main" val="3441494424"/>
                  </a:ext>
                </a:extLst>
              </a:tr>
              <a:tr h="368625">
                <a:tc>
                  <a:txBody>
                    <a:bodyPr/>
                    <a:lstStyle/>
                    <a:p>
                      <a:r>
                        <a:rPr lang="en-US" dirty="0"/>
                        <a:t>Single</a:t>
                      </a:r>
                    </a:p>
                  </a:txBody>
                  <a:tcPr>
                    <a:noFill/>
                  </a:tcPr>
                </a:tc>
                <a:tc>
                  <a:txBody>
                    <a:bodyPr/>
                    <a:lstStyle/>
                    <a:p>
                      <a:r>
                        <a:rPr lang="en-US" dirty="0"/>
                        <a:t>0.200</a:t>
                      </a:r>
                    </a:p>
                  </a:txBody>
                  <a:tcPr>
                    <a:noFill/>
                  </a:tcPr>
                </a:tc>
                <a:extLst>
                  <a:ext uri="{0D108BD9-81ED-4DB2-BD59-A6C34878D82A}">
                    <a16:rowId xmlns:a16="http://schemas.microsoft.com/office/drawing/2014/main" val="1978091271"/>
                  </a:ext>
                </a:extLst>
              </a:tr>
              <a:tr h="368625">
                <a:tc>
                  <a:txBody>
                    <a:bodyPr/>
                    <a:lstStyle/>
                    <a:p>
                      <a:r>
                        <a:rPr lang="en-US" dirty="0"/>
                        <a:t>Unknown</a:t>
                      </a:r>
                    </a:p>
                  </a:txBody>
                  <a:tcPr>
                    <a:noFill/>
                  </a:tcPr>
                </a:tc>
                <a:tc>
                  <a:txBody>
                    <a:bodyPr/>
                    <a:lstStyle/>
                    <a:p>
                      <a:r>
                        <a:rPr lang="en-US" dirty="0"/>
                        <a:t>0.203</a:t>
                      </a:r>
                    </a:p>
                  </a:txBody>
                  <a:tcPr>
                    <a:noFill/>
                  </a:tcPr>
                </a:tc>
                <a:extLst>
                  <a:ext uri="{0D108BD9-81ED-4DB2-BD59-A6C34878D82A}">
                    <a16:rowId xmlns:a16="http://schemas.microsoft.com/office/drawing/2014/main" val="446706471"/>
                  </a:ext>
                </a:extLst>
              </a:tr>
              <a:tr h="368625">
                <a:tc>
                  <a:txBody>
                    <a:bodyPr/>
                    <a:lstStyle/>
                    <a:p>
                      <a:r>
                        <a:rPr lang="en-US" dirty="0"/>
                        <a:t>Divorced</a:t>
                      </a:r>
                    </a:p>
                  </a:txBody>
                  <a:tcPr>
                    <a:noFill/>
                  </a:tcPr>
                </a:tc>
                <a:tc>
                  <a:txBody>
                    <a:bodyPr/>
                    <a:lstStyle/>
                    <a:p>
                      <a:r>
                        <a:rPr lang="en-US" dirty="0"/>
                        <a:t>0.214</a:t>
                      </a:r>
                    </a:p>
                  </a:txBody>
                  <a:tcPr>
                    <a:noFill/>
                  </a:tcPr>
                </a:tc>
                <a:extLst>
                  <a:ext uri="{0D108BD9-81ED-4DB2-BD59-A6C34878D82A}">
                    <a16:rowId xmlns:a16="http://schemas.microsoft.com/office/drawing/2014/main" val="3537160196"/>
                  </a:ext>
                </a:extLst>
              </a:tr>
              <a:tr h="368625">
                <a:tc>
                  <a:txBody>
                    <a:bodyPr/>
                    <a:lstStyle/>
                    <a:p>
                      <a:r>
                        <a:rPr lang="en-US" dirty="0"/>
                        <a:t>Widowed</a:t>
                      </a:r>
                    </a:p>
                  </a:txBody>
                  <a:tcPr>
                    <a:noFill/>
                  </a:tcPr>
                </a:tc>
                <a:tc>
                  <a:txBody>
                    <a:bodyPr/>
                    <a:lstStyle/>
                    <a:p>
                      <a:r>
                        <a:rPr lang="en-US" dirty="0"/>
                        <a:t>0.246</a:t>
                      </a:r>
                    </a:p>
                  </a:txBody>
                  <a:tcPr>
                    <a:noFill/>
                  </a:tcPr>
                </a:tc>
                <a:extLst>
                  <a:ext uri="{0D108BD9-81ED-4DB2-BD59-A6C34878D82A}">
                    <a16:rowId xmlns:a16="http://schemas.microsoft.com/office/drawing/2014/main" val="2050751449"/>
                  </a:ext>
                </a:extLst>
              </a:tr>
              <a:tr h="368625">
                <a:tc>
                  <a:txBody>
                    <a:bodyPr/>
                    <a:lstStyle/>
                    <a:p>
                      <a:r>
                        <a:rPr lang="en-US" dirty="0"/>
                        <a:t>Married</a:t>
                      </a:r>
                    </a:p>
                  </a:txBody>
                  <a:tcPr>
                    <a:noFill/>
                  </a:tcPr>
                </a:tc>
                <a:tc>
                  <a:txBody>
                    <a:bodyPr/>
                    <a:lstStyle/>
                    <a:p>
                      <a:r>
                        <a:rPr lang="en-US" dirty="0"/>
                        <a:t>0.240</a:t>
                      </a:r>
                    </a:p>
                  </a:txBody>
                  <a:tcPr>
                    <a:noFill/>
                  </a:tcPr>
                </a:tc>
                <a:extLst>
                  <a:ext uri="{0D108BD9-81ED-4DB2-BD59-A6C34878D82A}">
                    <a16:rowId xmlns:a16="http://schemas.microsoft.com/office/drawing/2014/main" val="4210811717"/>
                  </a:ext>
                </a:extLst>
              </a:tr>
            </a:tbl>
          </a:graphicData>
        </a:graphic>
      </p:graphicFrame>
      <p:sp>
        <p:nvSpPr>
          <p:cNvPr id="5" name="TextBox 4">
            <a:extLst>
              <a:ext uri="{FF2B5EF4-FFF2-40B4-BE49-F238E27FC236}">
                <a16:creationId xmlns:a16="http://schemas.microsoft.com/office/drawing/2014/main" id="{5F62AE94-772F-C857-4782-DA879B4F4409}"/>
              </a:ext>
            </a:extLst>
          </p:cNvPr>
          <p:cNvSpPr txBox="1"/>
          <p:nvPr/>
        </p:nvSpPr>
        <p:spPr>
          <a:xfrm>
            <a:off x="311700" y="4166161"/>
            <a:ext cx="4519245" cy="523220"/>
          </a:xfrm>
          <a:prstGeom prst="rect">
            <a:avLst/>
          </a:prstGeom>
          <a:noFill/>
        </p:spPr>
        <p:txBody>
          <a:bodyPr wrap="square" rtlCol="0">
            <a:spAutoFit/>
          </a:bodyPr>
          <a:lstStyle/>
          <a:p>
            <a:r>
              <a:rPr lang="en-US" sz="1400" dirty="0"/>
              <a:t>When controlling for age, it seems that single people are must more likely to have 0 secondary factors listed.</a:t>
            </a:r>
          </a:p>
        </p:txBody>
      </p:sp>
      <p:graphicFrame>
        <p:nvGraphicFramePr>
          <p:cNvPr id="2" name="Table 1">
            <a:extLst>
              <a:ext uri="{FF2B5EF4-FFF2-40B4-BE49-F238E27FC236}">
                <a16:creationId xmlns:a16="http://schemas.microsoft.com/office/drawing/2014/main" id="{F98FD516-E06B-B92F-FDA5-F7D251F998F7}"/>
              </a:ext>
            </a:extLst>
          </p:cNvPr>
          <p:cNvGraphicFramePr>
            <a:graphicFrameLocks noGrp="1"/>
          </p:cNvGraphicFramePr>
          <p:nvPr>
            <p:extLst>
              <p:ext uri="{D42A27DB-BD31-4B8C-83A1-F6EECF244321}">
                <p14:modId xmlns:p14="http://schemas.microsoft.com/office/powerpoint/2010/main" val="1710047542"/>
              </p:ext>
            </p:extLst>
          </p:nvPr>
        </p:nvGraphicFramePr>
        <p:xfrm>
          <a:off x="4987448" y="1147144"/>
          <a:ext cx="3844852" cy="2846100"/>
        </p:xfrm>
        <a:graphic>
          <a:graphicData uri="http://schemas.openxmlformats.org/drawingml/2006/table">
            <a:tbl>
              <a:tblPr firstRow="1" bandRow="1">
                <a:tableStyleId>{BFA11F67-8BD6-47EC-9F71-6CD8F6C066F8}</a:tableStyleId>
              </a:tblPr>
              <a:tblGrid>
                <a:gridCol w="1922426">
                  <a:extLst>
                    <a:ext uri="{9D8B030D-6E8A-4147-A177-3AD203B41FA5}">
                      <a16:colId xmlns:a16="http://schemas.microsoft.com/office/drawing/2014/main" val="3989279615"/>
                    </a:ext>
                  </a:extLst>
                </a:gridCol>
                <a:gridCol w="1922426">
                  <a:extLst>
                    <a:ext uri="{9D8B030D-6E8A-4147-A177-3AD203B41FA5}">
                      <a16:colId xmlns:a16="http://schemas.microsoft.com/office/drawing/2014/main" val="4010461188"/>
                    </a:ext>
                  </a:extLst>
                </a:gridCol>
              </a:tblGrid>
              <a:tr h="499916">
                <a:tc>
                  <a:txBody>
                    <a:bodyPr/>
                    <a:lstStyle/>
                    <a:p>
                      <a:r>
                        <a:rPr lang="en-US" dirty="0"/>
                        <a:t>Marital Status</a:t>
                      </a:r>
                    </a:p>
                  </a:txBody>
                  <a:tcPr>
                    <a:solidFill>
                      <a:schemeClr val="accent6">
                        <a:lumMod val="40000"/>
                        <a:lumOff val="6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a:t>Expected change in likelihood of having no extra factors against divorced (baseline) (controlling for age) (%)</a:t>
                      </a:r>
                    </a:p>
                  </a:txBody>
                  <a:tcPr>
                    <a:solidFill>
                      <a:schemeClr val="accent6">
                        <a:lumMod val="40000"/>
                        <a:lumOff val="60000"/>
                      </a:schemeClr>
                    </a:solidFill>
                  </a:tcPr>
                </a:tc>
                <a:extLst>
                  <a:ext uri="{0D108BD9-81ED-4DB2-BD59-A6C34878D82A}">
                    <a16:rowId xmlns:a16="http://schemas.microsoft.com/office/drawing/2014/main" val="3441494424"/>
                  </a:ext>
                </a:extLst>
              </a:tr>
              <a:tr h="368625">
                <a:tc>
                  <a:txBody>
                    <a:bodyPr/>
                    <a:lstStyle/>
                    <a:p>
                      <a:r>
                        <a:rPr lang="en-US" dirty="0"/>
                        <a:t>Single</a:t>
                      </a:r>
                    </a:p>
                  </a:txBody>
                  <a:tcPr>
                    <a:solidFill>
                      <a:schemeClr val="accent6">
                        <a:lumMod val="40000"/>
                        <a:lumOff val="60000"/>
                      </a:schemeClr>
                    </a:solidFill>
                  </a:tcPr>
                </a:tc>
                <a:tc>
                  <a:txBody>
                    <a:bodyPr/>
                    <a:lstStyle/>
                    <a:p>
                      <a:r>
                        <a:rPr lang="en-CA" sz="1350" b="0" i="0" u="none" strike="noStrike" kern="1200" dirty="0">
                          <a:solidFill>
                            <a:srgbClr val="000000"/>
                          </a:solidFill>
                          <a:effectLst/>
                          <a:latin typeface="Arial"/>
                          <a:cs typeface="Arial"/>
                        </a:rPr>
                        <a:t>-1.7%</a:t>
                      </a:r>
                      <a:endParaRPr lang="en-US" dirty="0"/>
                    </a:p>
                  </a:txBody>
                  <a:tcPr>
                    <a:solidFill>
                      <a:schemeClr val="accent6">
                        <a:lumMod val="40000"/>
                        <a:lumOff val="60000"/>
                      </a:schemeClr>
                    </a:solidFill>
                  </a:tcPr>
                </a:tc>
                <a:extLst>
                  <a:ext uri="{0D108BD9-81ED-4DB2-BD59-A6C34878D82A}">
                    <a16:rowId xmlns:a16="http://schemas.microsoft.com/office/drawing/2014/main" val="1978091271"/>
                  </a:ext>
                </a:extLst>
              </a:tr>
              <a:tr h="368625">
                <a:tc>
                  <a:txBody>
                    <a:bodyPr/>
                    <a:lstStyle/>
                    <a:p>
                      <a:r>
                        <a:rPr lang="en-US" dirty="0"/>
                        <a:t>Unknown</a:t>
                      </a:r>
                    </a:p>
                  </a:txBody>
                  <a:tcPr>
                    <a:solidFill>
                      <a:schemeClr val="accent6">
                        <a:lumMod val="40000"/>
                        <a:lumOff val="60000"/>
                      </a:schemeClr>
                    </a:solidFill>
                  </a:tcPr>
                </a:tc>
                <a:tc>
                  <a:txBody>
                    <a:bodyPr/>
                    <a:lstStyle/>
                    <a:p>
                      <a:r>
                        <a:rPr lang="en-CA" sz="1350" b="0" i="0" u="none" strike="noStrike" kern="1200" dirty="0">
                          <a:solidFill>
                            <a:srgbClr val="000000"/>
                          </a:solidFill>
                          <a:effectLst/>
                          <a:latin typeface="Arial"/>
                          <a:cs typeface="Arial"/>
                        </a:rPr>
                        <a:t>-1.3%</a:t>
                      </a:r>
                      <a:endParaRPr lang="en-US" dirty="0"/>
                    </a:p>
                  </a:txBody>
                  <a:tcPr>
                    <a:solidFill>
                      <a:schemeClr val="accent6">
                        <a:lumMod val="40000"/>
                        <a:lumOff val="60000"/>
                      </a:schemeClr>
                    </a:solidFill>
                  </a:tcPr>
                </a:tc>
                <a:extLst>
                  <a:ext uri="{0D108BD9-81ED-4DB2-BD59-A6C34878D82A}">
                    <a16:rowId xmlns:a16="http://schemas.microsoft.com/office/drawing/2014/main" val="446706471"/>
                  </a:ext>
                </a:extLst>
              </a:tr>
              <a:tr h="368625">
                <a:tc>
                  <a:txBody>
                    <a:bodyPr/>
                    <a:lstStyle/>
                    <a:p>
                      <a:r>
                        <a:rPr lang="en-US" dirty="0"/>
                        <a:t>Widowed</a:t>
                      </a:r>
                    </a:p>
                  </a:txBody>
                  <a:tcPr>
                    <a:solidFill>
                      <a:schemeClr val="accent6">
                        <a:lumMod val="40000"/>
                        <a:lumOff val="60000"/>
                      </a:schemeClr>
                    </a:solidFill>
                  </a:tcPr>
                </a:tc>
                <a:tc>
                  <a:txBody>
                    <a:bodyPr/>
                    <a:lstStyle/>
                    <a:p>
                      <a:r>
                        <a:rPr lang="en-CA" sz="1350" b="0" i="0" u="none" strike="noStrike" kern="1200" dirty="0">
                          <a:solidFill>
                            <a:srgbClr val="000000"/>
                          </a:solidFill>
                          <a:effectLst/>
                          <a:latin typeface="Arial"/>
                          <a:ea typeface="Arial"/>
                          <a:cs typeface="Arial"/>
                        </a:rPr>
                        <a:t>3.2%</a:t>
                      </a:r>
                      <a:endParaRPr lang="en-US" dirty="0"/>
                    </a:p>
                  </a:txBody>
                  <a:tcPr>
                    <a:solidFill>
                      <a:schemeClr val="accent6">
                        <a:lumMod val="40000"/>
                        <a:lumOff val="60000"/>
                      </a:schemeClr>
                    </a:solidFill>
                  </a:tcPr>
                </a:tc>
                <a:extLst>
                  <a:ext uri="{0D108BD9-81ED-4DB2-BD59-A6C34878D82A}">
                    <a16:rowId xmlns:a16="http://schemas.microsoft.com/office/drawing/2014/main" val="2050751449"/>
                  </a:ext>
                </a:extLst>
              </a:tr>
              <a:tr h="368625">
                <a:tc>
                  <a:txBody>
                    <a:bodyPr/>
                    <a:lstStyle/>
                    <a:p>
                      <a:r>
                        <a:rPr lang="en-US" dirty="0"/>
                        <a:t>Married</a:t>
                      </a:r>
                    </a:p>
                  </a:txBody>
                  <a:tcPr>
                    <a:solidFill>
                      <a:schemeClr val="accent6">
                        <a:lumMod val="40000"/>
                        <a:lumOff val="60000"/>
                      </a:schemeClr>
                    </a:solid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CA" sz="1350" b="0" i="0" u="none" strike="noStrike" kern="1200" dirty="0">
                          <a:solidFill>
                            <a:srgbClr val="000000"/>
                          </a:solidFill>
                          <a:effectLst/>
                          <a:latin typeface="Arial"/>
                          <a:ea typeface="Arial"/>
                          <a:cs typeface="Arial"/>
                        </a:rPr>
                        <a:t>2.7%</a:t>
                      </a:r>
                      <a:endParaRPr lang="en-US" dirty="0"/>
                    </a:p>
                  </a:txBody>
                  <a:tcPr>
                    <a:solidFill>
                      <a:schemeClr val="accent6">
                        <a:lumMod val="40000"/>
                        <a:lumOff val="60000"/>
                      </a:schemeClr>
                    </a:solidFill>
                  </a:tcPr>
                </a:tc>
                <a:extLst>
                  <a:ext uri="{0D108BD9-81ED-4DB2-BD59-A6C34878D82A}">
                    <a16:rowId xmlns:a16="http://schemas.microsoft.com/office/drawing/2014/main" val="4210811717"/>
                  </a:ext>
                </a:extLst>
              </a:tr>
            </a:tbl>
          </a:graphicData>
        </a:graphic>
      </p:graphicFrame>
    </p:spTree>
    <p:extLst>
      <p:ext uri="{BB962C8B-B14F-4D97-AF65-F5344CB8AC3E}">
        <p14:creationId xmlns:p14="http://schemas.microsoft.com/office/powerpoint/2010/main" val="4190001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5818" y="0"/>
            <a:ext cx="7472363" cy="51435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0"/>
            <a:ext cx="7461504" cy="51435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D4F842-9D29-84F8-5FCB-4052AEEE327C}"/>
              </a:ext>
            </a:extLst>
          </p:cNvPr>
          <p:cNvSpPr>
            <a:spLocks noGrp="1"/>
          </p:cNvSpPr>
          <p:nvPr>
            <p:ph type="title"/>
          </p:nvPr>
        </p:nvSpPr>
        <p:spPr>
          <a:xfrm>
            <a:off x="1143002" y="1499711"/>
            <a:ext cx="6858000" cy="2073021"/>
          </a:xfrm>
        </p:spPr>
        <p:txBody>
          <a:bodyPr vert="horz" lIns="91440" tIns="45720" rIns="91440" bIns="45720" rtlCol="0" anchor="ctr">
            <a:normAutofit/>
          </a:bodyPr>
          <a:lstStyle/>
          <a:p>
            <a:pPr algn="ctr" defTabSz="914400"/>
            <a:r>
              <a:rPr lang="en-US" sz="5400" kern="1200" dirty="0">
                <a:solidFill>
                  <a:schemeClr val="tx1"/>
                </a:solidFill>
                <a:latin typeface="+mj-lt"/>
                <a:ea typeface="+mj-ea"/>
                <a:cs typeface="+mj-cs"/>
              </a:rPr>
              <a:t>Autopsies</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88920" y="4143589"/>
            <a:ext cx="3566160" cy="2057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40576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158B67-F4DB-7672-3BF0-F1E353A6A10B}"/>
            </a:ext>
          </a:extLst>
        </p:cNvPr>
        <p:cNvGrpSpPr/>
        <p:nvPr/>
      </p:nvGrpSpPr>
      <p:grpSpPr>
        <a:xfrm>
          <a:off x="0" y="0"/>
          <a:ext cx="0" cy="0"/>
          <a:chOff x="0" y="0"/>
          <a:chExt cx="0" cy="0"/>
        </a:xfrm>
      </p:grpSpPr>
      <p:pic>
        <p:nvPicPr>
          <p:cNvPr id="10" name="Picture 9" descr="A group of red and blue bars&#10;&#10;AI-generated content may be incorrect.">
            <a:extLst>
              <a:ext uri="{FF2B5EF4-FFF2-40B4-BE49-F238E27FC236}">
                <a16:creationId xmlns:a16="http://schemas.microsoft.com/office/drawing/2014/main" id="{5974EFA1-C4DC-74FC-689B-0E18096B3B99}"/>
              </a:ext>
            </a:extLst>
          </p:cNvPr>
          <p:cNvPicPr>
            <a:picLocks noChangeAspect="1"/>
          </p:cNvPicPr>
          <p:nvPr/>
        </p:nvPicPr>
        <p:blipFill>
          <a:blip r:embed="rId2"/>
          <a:srcRect b="23990"/>
          <a:stretch>
            <a:fillRect/>
          </a:stretch>
        </p:blipFill>
        <p:spPr>
          <a:xfrm>
            <a:off x="168621" y="188595"/>
            <a:ext cx="8879910" cy="4821174"/>
          </a:xfrm>
          <a:prstGeom prst="rect">
            <a:avLst/>
          </a:prstGeom>
        </p:spPr>
      </p:pic>
    </p:spTree>
    <p:extLst>
      <p:ext uri="{BB962C8B-B14F-4D97-AF65-F5344CB8AC3E}">
        <p14:creationId xmlns:p14="http://schemas.microsoft.com/office/powerpoint/2010/main" val="38782979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E6363-ECF6-E281-DC74-68504A5C966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0014D9A-AC98-24D3-BFA9-8E5E2DCC97C9}"/>
              </a:ext>
            </a:extLst>
          </p:cNvPr>
          <p:cNvSpPr txBox="1"/>
          <p:nvPr/>
        </p:nvSpPr>
        <p:spPr>
          <a:xfrm>
            <a:off x="1007033" y="898498"/>
            <a:ext cx="7277431" cy="2585323"/>
          </a:xfrm>
          <a:prstGeom prst="rect">
            <a:avLst/>
          </a:prstGeom>
          <a:noFill/>
        </p:spPr>
        <p:txBody>
          <a:bodyPr wrap="square" rtlCol="0">
            <a:spAutoFit/>
          </a:bodyPr>
          <a:lstStyle/>
          <a:p>
            <a:r>
              <a:rPr lang="en-US" b="1" dirty="0"/>
              <a:t>Men were more than twice as likely as women to be autopsied (11.6% </a:t>
            </a:r>
            <a:r>
              <a:rPr lang="en-US" b="1" dirty="0" err="1"/>
              <a:t>v.s</a:t>
            </a:r>
            <a:r>
              <a:rPr lang="en-US" b="1" dirty="0"/>
              <a:t>. 5.4%).</a:t>
            </a:r>
          </a:p>
          <a:p>
            <a:endParaRPr lang="en-US" dirty="0"/>
          </a:p>
          <a:p>
            <a:r>
              <a:rPr lang="en-US" dirty="0"/>
              <a:t>Some of this is explained by men dying younger and likely also that they die less “natural” CODs which are more likely autopsied (see the extra charts at the end with the frequency of autopsy for each 113 types of CODs). </a:t>
            </a:r>
          </a:p>
          <a:p>
            <a:endParaRPr lang="en-US" dirty="0"/>
          </a:p>
          <a:p>
            <a:r>
              <a:rPr lang="en-US" dirty="0"/>
              <a:t>After controlling for age of death, there remains a 3% difference in the likelihood of men </a:t>
            </a:r>
            <a:r>
              <a:rPr lang="en-US" dirty="0" err="1"/>
              <a:t>v.s</a:t>
            </a:r>
            <a:r>
              <a:rPr lang="en-US" dirty="0"/>
              <a:t>. women getting an autopsy. </a:t>
            </a:r>
          </a:p>
        </p:txBody>
      </p:sp>
      <p:sp>
        <p:nvSpPr>
          <p:cNvPr id="3" name="TextBox 2">
            <a:extLst>
              <a:ext uri="{FF2B5EF4-FFF2-40B4-BE49-F238E27FC236}">
                <a16:creationId xmlns:a16="http://schemas.microsoft.com/office/drawing/2014/main" id="{470DC456-5903-A0D5-83A9-664E526C2756}"/>
              </a:ext>
            </a:extLst>
          </p:cNvPr>
          <p:cNvSpPr txBox="1"/>
          <p:nvPr/>
        </p:nvSpPr>
        <p:spPr>
          <a:xfrm>
            <a:off x="1007032" y="3787353"/>
            <a:ext cx="7277431" cy="646331"/>
          </a:xfrm>
          <a:prstGeom prst="rect">
            <a:avLst/>
          </a:prstGeom>
          <a:noFill/>
        </p:spPr>
        <p:txBody>
          <a:bodyPr wrap="square" rtlCol="0">
            <a:spAutoFit/>
          </a:bodyPr>
          <a:lstStyle/>
          <a:p>
            <a:r>
              <a:rPr lang="en-US" dirty="0"/>
              <a:t>Even controlling for age, we don’t see that married/widowed people are more likely to get autopsies.</a:t>
            </a:r>
          </a:p>
        </p:txBody>
      </p:sp>
    </p:spTree>
    <p:extLst>
      <p:ext uri="{BB962C8B-B14F-4D97-AF65-F5344CB8AC3E}">
        <p14:creationId xmlns:p14="http://schemas.microsoft.com/office/powerpoint/2010/main" val="7908703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7964F-3755-D205-B98C-C9DD4E0687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41D9A2-F5ED-01B0-4E27-11B6F22CAD0D}"/>
              </a:ext>
            </a:extLst>
          </p:cNvPr>
          <p:cNvSpPr>
            <a:spLocks noGrp="1"/>
          </p:cNvSpPr>
          <p:nvPr>
            <p:ph type="title"/>
          </p:nvPr>
        </p:nvSpPr>
        <p:spPr>
          <a:xfrm>
            <a:off x="989726" y="242705"/>
            <a:ext cx="7164547" cy="880877"/>
          </a:xfrm>
        </p:spPr>
        <p:txBody>
          <a:bodyPr vert="horz" lIns="91440" tIns="45720" rIns="91440" bIns="45720" rtlCol="0" anchor="ctr">
            <a:normAutofit/>
          </a:bodyPr>
          <a:lstStyle/>
          <a:p>
            <a:pPr algn="ctr" defTabSz="914400"/>
            <a:r>
              <a:rPr lang="en-US" sz="2800" kern="1200" dirty="0">
                <a:solidFill>
                  <a:schemeClr val="tx1"/>
                </a:solidFill>
                <a:latin typeface="+mj-lt"/>
                <a:ea typeface="+mj-ea"/>
                <a:cs typeface="+mj-cs"/>
              </a:rPr>
              <a:t>How correlated are the various indices?</a:t>
            </a:r>
          </a:p>
        </p:txBody>
      </p:sp>
      <p:graphicFrame>
        <p:nvGraphicFramePr>
          <p:cNvPr id="3" name="Table 2">
            <a:extLst>
              <a:ext uri="{FF2B5EF4-FFF2-40B4-BE49-F238E27FC236}">
                <a16:creationId xmlns:a16="http://schemas.microsoft.com/office/drawing/2014/main" id="{C3293098-34D3-5354-2E18-83CDA499244F}"/>
              </a:ext>
            </a:extLst>
          </p:cNvPr>
          <p:cNvGraphicFramePr>
            <a:graphicFrameLocks noGrp="1"/>
          </p:cNvGraphicFramePr>
          <p:nvPr>
            <p:extLst>
              <p:ext uri="{D42A27DB-BD31-4B8C-83A1-F6EECF244321}">
                <p14:modId xmlns:p14="http://schemas.microsoft.com/office/powerpoint/2010/main" val="957123598"/>
              </p:ext>
            </p:extLst>
          </p:nvPr>
        </p:nvGraphicFramePr>
        <p:xfrm>
          <a:off x="1523999" y="1564987"/>
          <a:ext cx="6096000" cy="3205480"/>
        </p:xfrm>
        <a:graphic>
          <a:graphicData uri="http://schemas.openxmlformats.org/drawingml/2006/table">
            <a:tbl>
              <a:tblPr firstRow="1" bandRow="1">
                <a:tableStyleId>{BFA11F67-8BD6-47EC-9F71-6CD8F6C066F8}</a:tableStyleId>
              </a:tblPr>
              <a:tblGrid>
                <a:gridCol w="1219200">
                  <a:extLst>
                    <a:ext uri="{9D8B030D-6E8A-4147-A177-3AD203B41FA5}">
                      <a16:colId xmlns:a16="http://schemas.microsoft.com/office/drawing/2014/main" val="2572032102"/>
                    </a:ext>
                  </a:extLst>
                </a:gridCol>
                <a:gridCol w="1219200">
                  <a:extLst>
                    <a:ext uri="{9D8B030D-6E8A-4147-A177-3AD203B41FA5}">
                      <a16:colId xmlns:a16="http://schemas.microsoft.com/office/drawing/2014/main" val="2250459716"/>
                    </a:ext>
                  </a:extLst>
                </a:gridCol>
                <a:gridCol w="1219200">
                  <a:extLst>
                    <a:ext uri="{9D8B030D-6E8A-4147-A177-3AD203B41FA5}">
                      <a16:colId xmlns:a16="http://schemas.microsoft.com/office/drawing/2014/main" val="1316372145"/>
                    </a:ext>
                  </a:extLst>
                </a:gridCol>
                <a:gridCol w="1219200">
                  <a:extLst>
                    <a:ext uri="{9D8B030D-6E8A-4147-A177-3AD203B41FA5}">
                      <a16:colId xmlns:a16="http://schemas.microsoft.com/office/drawing/2014/main" val="801414885"/>
                    </a:ext>
                  </a:extLst>
                </a:gridCol>
                <a:gridCol w="1219200">
                  <a:extLst>
                    <a:ext uri="{9D8B030D-6E8A-4147-A177-3AD203B41FA5}">
                      <a16:colId xmlns:a16="http://schemas.microsoft.com/office/drawing/2014/main" val="1213647871"/>
                    </a:ext>
                  </a:extLst>
                </a:gridCol>
              </a:tblGrid>
              <a:tr h="370840">
                <a:tc>
                  <a:txBody>
                    <a:bodyPr/>
                    <a:lstStyle/>
                    <a:p>
                      <a:endParaRPr lang="en-US"/>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Has no secondary factor</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Number of Secondary factors</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Proportion Garbage Codes</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Has autopsy</a:t>
                      </a:r>
                    </a:p>
                  </a:txBody>
                  <a:tcPr/>
                </a:tc>
                <a:extLst>
                  <a:ext uri="{0D108BD9-81ED-4DB2-BD59-A6C34878D82A}">
                    <a16:rowId xmlns:a16="http://schemas.microsoft.com/office/drawing/2014/main" val="3377668949"/>
                  </a:ext>
                </a:extLst>
              </a:tr>
              <a:tr h="370840">
                <a:tc>
                  <a:txBody>
                    <a:bodyPr/>
                    <a:lstStyle/>
                    <a:p>
                      <a:r>
                        <a:rPr lang="en-US" dirty="0"/>
                        <a:t>Has no secondary factor</a:t>
                      </a:r>
                    </a:p>
                  </a:txBody>
                  <a:tcPr/>
                </a:tc>
                <a:tc>
                  <a:txBody>
                    <a:bodyPr/>
                    <a:lstStyle/>
                    <a:p>
                      <a:r>
                        <a:rPr lang="en-US" dirty="0"/>
                        <a:t>1</a:t>
                      </a:r>
                    </a:p>
                  </a:txBody>
                  <a:tcPr/>
                </a:tc>
                <a:tc>
                  <a:txBody>
                    <a:bodyPr/>
                    <a:lstStyle/>
                    <a:p>
                      <a:r>
                        <a:rPr lang="en-US" dirty="0"/>
                        <a:t>-0.75</a:t>
                      </a:r>
                    </a:p>
                  </a:txBody>
                  <a:tcPr/>
                </a:tc>
                <a:tc>
                  <a:txBody>
                    <a:bodyPr/>
                    <a:lstStyle/>
                    <a:p>
                      <a:r>
                        <a:rPr lang="en-US" dirty="0"/>
                        <a:t>-0.01</a:t>
                      </a:r>
                    </a:p>
                  </a:txBody>
                  <a:tcPr/>
                </a:tc>
                <a:tc>
                  <a:txBody>
                    <a:bodyPr/>
                    <a:lstStyle/>
                    <a:p>
                      <a:r>
                        <a:rPr lang="en-US" dirty="0"/>
                        <a:t>-0.08</a:t>
                      </a:r>
                    </a:p>
                  </a:txBody>
                  <a:tcPr/>
                </a:tc>
                <a:extLst>
                  <a:ext uri="{0D108BD9-81ED-4DB2-BD59-A6C34878D82A}">
                    <a16:rowId xmlns:a16="http://schemas.microsoft.com/office/drawing/2014/main" val="1246191932"/>
                  </a:ext>
                </a:extLst>
              </a:tr>
              <a:tr h="370840">
                <a:tc>
                  <a:txBody>
                    <a:bodyPr/>
                    <a:lstStyle/>
                    <a:p>
                      <a:r>
                        <a:rPr lang="en-US" dirty="0"/>
                        <a:t>Number of Secondary factors</a:t>
                      </a:r>
                    </a:p>
                  </a:txBody>
                  <a:tcPr/>
                </a:tc>
                <a:tc>
                  <a:txBody>
                    <a:bodyPr/>
                    <a:lstStyle/>
                    <a:p>
                      <a:r>
                        <a:rPr lang="en-US" dirty="0"/>
                        <a:t>-0.75</a:t>
                      </a:r>
                    </a:p>
                  </a:txBody>
                  <a:tcPr/>
                </a:tc>
                <a:tc>
                  <a:txBody>
                    <a:bodyPr/>
                    <a:lstStyle/>
                    <a:p>
                      <a:r>
                        <a:rPr lang="en-US" dirty="0"/>
                        <a:t>1</a:t>
                      </a:r>
                    </a:p>
                  </a:txBody>
                  <a:tcPr/>
                </a:tc>
                <a:tc>
                  <a:txBody>
                    <a:bodyPr/>
                    <a:lstStyle/>
                    <a:p>
                      <a:r>
                        <a:rPr lang="en-US" dirty="0"/>
                        <a:t>0.04</a:t>
                      </a:r>
                    </a:p>
                  </a:txBody>
                  <a:tcPr/>
                </a:tc>
                <a:tc>
                  <a:txBody>
                    <a:bodyPr/>
                    <a:lstStyle/>
                    <a:p>
                      <a:r>
                        <a:rPr lang="en-US" dirty="0"/>
                        <a:t>0.04</a:t>
                      </a:r>
                    </a:p>
                  </a:txBody>
                  <a:tcPr/>
                </a:tc>
                <a:extLst>
                  <a:ext uri="{0D108BD9-81ED-4DB2-BD59-A6C34878D82A}">
                    <a16:rowId xmlns:a16="http://schemas.microsoft.com/office/drawing/2014/main" val="1366650135"/>
                  </a:ext>
                </a:extLst>
              </a:tr>
              <a:tr h="370840">
                <a:tc>
                  <a:txBody>
                    <a:bodyPr/>
                    <a:lstStyle/>
                    <a:p>
                      <a:r>
                        <a:rPr lang="en-US" dirty="0"/>
                        <a:t>Proportion Garbage Codes</a:t>
                      </a:r>
                    </a:p>
                  </a:txBody>
                  <a:tcPr>
                    <a:solidFill>
                      <a:schemeClr val="bg2">
                        <a:lumMod val="90000"/>
                      </a:schemeClr>
                    </a:solidFill>
                  </a:tcPr>
                </a:tc>
                <a:tc>
                  <a:txBody>
                    <a:bodyPr/>
                    <a:lstStyle/>
                    <a:p>
                      <a:r>
                        <a:rPr lang="en-US" dirty="0">
                          <a:solidFill>
                            <a:schemeClr val="tx1"/>
                          </a:solidFill>
                        </a:rPr>
                        <a:t>-0.01</a:t>
                      </a:r>
                    </a:p>
                  </a:txBody>
                  <a:tcPr>
                    <a:solidFill>
                      <a:schemeClr val="accent6">
                        <a:lumMod val="40000"/>
                        <a:lumOff val="60000"/>
                      </a:schemeClr>
                    </a:solidFill>
                  </a:tcPr>
                </a:tc>
                <a:tc>
                  <a:txBody>
                    <a:bodyPr/>
                    <a:lstStyle/>
                    <a:p>
                      <a:r>
                        <a:rPr lang="en-US" dirty="0">
                          <a:solidFill>
                            <a:schemeClr val="tx1"/>
                          </a:solidFill>
                        </a:rPr>
                        <a:t>0.04</a:t>
                      </a:r>
                    </a:p>
                  </a:txBody>
                  <a:tcPr>
                    <a:solidFill>
                      <a:schemeClr val="bg2">
                        <a:lumMod val="90000"/>
                      </a:schemeClr>
                    </a:solidFill>
                  </a:tcPr>
                </a:tc>
                <a:tc>
                  <a:txBody>
                    <a:bodyPr/>
                    <a:lstStyle/>
                    <a:p>
                      <a:r>
                        <a:rPr lang="en-US" dirty="0"/>
                        <a:t>1</a:t>
                      </a:r>
                    </a:p>
                  </a:txBody>
                  <a:tcPr>
                    <a:solidFill>
                      <a:schemeClr val="bg2">
                        <a:lumMod val="90000"/>
                      </a:schemeClr>
                    </a:solidFill>
                  </a:tcPr>
                </a:tc>
                <a:tc>
                  <a:txBody>
                    <a:bodyPr/>
                    <a:lstStyle/>
                    <a:p>
                      <a:r>
                        <a:rPr lang="en-US" dirty="0"/>
                        <a:t>0.2</a:t>
                      </a:r>
                    </a:p>
                  </a:txBody>
                  <a:tcPr>
                    <a:solidFill>
                      <a:schemeClr val="bg2">
                        <a:lumMod val="90000"/>
                      </a:schemeClr>
                    </a:solidFill>
                  </a:tcPr>
                </a:tc>
                <a:extLst>
                  <a:ext uri="{0D108BD9-81ED-4DB2-BD59-A6C34878D82A}">
                    <a16:rowId xmlns:a16="http://schemas.microsoft.com/office/drawing/2014/main" val="1068586889"/>
                  </a:ext>
                </a:extLst>
              </a:tr>
              <a:tr h="370840">
                <a:tc>
                  <a:txBody>
                    <a:bodyPr/>
                    <a:lstStyle/>
                    <a:p>
                      <a:r>
                        <a:rPr lang="en-US" dirty="0"/>
                        <a:t>Has autopsy</a:t>
                      </a:r>
                    </a:p>
                  </a:txBody>
                  <a:tcPr/>
                </a:tc>
                <a:tc>
                  <a:txBody>
                    <a:bodyPr/>
                    <a:lstStyle/>
                    <a:p>
                      <a:r>
                        <a:rPr lang="en-US" dirty="0"/>
                        <a:t>-0.08</a:t>
                      </a:r>
                    </a:p>
                  </a:txBody>
                  <a:tcPr/>
                </a:tc>
                <a:tc>
                  <a:txBody>
                    <a:bodyPr/>
                    <a:lstStyle/>
                    <a:p>
                      <a:r>
                        <a:rPr lang="en-US" dirty="0"/>
                        <a:t>0.04</a:t>
                      </a:r>
                    </a:p>
                  </a:txBody>
                  <a:tcPr/>
                </a:tc>
                <a:tc>
                  <a:txBody>
                    <a:bodyPr/>
                    <a:lstStyle/>
                    <a:p>
                      <a:r>
                        <a:rPr lang="en-US" dirty="0"/>
                        <a:t>0.2</a:t>
                      </a:r>
                    </a:p>
                  </a:txBody>
                  <a:tcPr/>
                </a:tc>
                <a:tc>
                  <a:txBody>
                    <a:bodyPr/>
                    <a:lstStyle/>
                    <a:p>
                      <a:r>
                        <a:rPr lang="en-US" dirty="0"/>
                        <a:t>1</a:t>
                      </a:r>
                    </a:p>
                  </a:txBody>
                  <a:tcPr/>
                </a:tc>
                <a:extLst>
                  <a:ext uri="{0D108BD9-81ED-4DB2-BD59-A6C34878D82A}">
                    <a16:rowId xmlns:a16="http://schemas.microsoft.com/office/drawing/2014/main" val="1656283439"/>
                  </a:ext>
                </a:extLst>
              </a:tr>
            </a:tbl>
          </a:graphicData>
        </a:graphic>
      </p:graphicFrame>
      <p:sp>
        <p:nvSpPr>
          <p:cNvPr id="4" name="Title 1">
            <a:extLst>
              <a:ext uri="{FF2B5EF4-FFF2-40B4-BE49-F238E27FC236}">
                <a16:creationId xmlns:a16="http://schemas.microsoft.com/office/drawing/2014/main" id="{2B432554-F866-36E1-FC28-D41B47C44075}"/>
              </a:ext>
            </a:extLst>
          </p:cNvPr>
          <p:cNvSpPr txBox="1">
            <a:spLocks/>
          </p:cNvSpPr>
          <p:nvPr/>
        </p:nvSpPr>
        <p:spPr>
          <a:xfrm>
            <a:off x="712636" y="821690"/>
            <a:ext cx="7164547" cy="880877"/>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defTabSz="914400"/>
            <a:r>
              <a:rPr lang="en-US" sz="1600" dirty="0">
                <a:latin typeface="+mn-lt"/>
              </a:rPr>
              <a:t>The correlation matrix of 4 of the indices. </a:t>
            </a:r>
          </a:p>
        </p:txBody>
      </p:sp>
    </p:spTree>
    <p:extLst>
      <p:ext uri="{BB962C8B-B14F-4D97-AF65-F5344CB8AC3E}">
        <p14:creationId xmlns:p14="http://schemas.microsoft.com/office/powerpoint/2010/main" val="32302628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E08D8EF3-C701-558B-40B0-ABD2EA931F89}"/>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BB813300-28B5-67D6-F9A4-A9C32E09AAFD}"/>
              </a:ext>
            </a:extLst>
          </p:cNvPr>
          <p:cNvSpPr txBox="1">
            <a:spLocks noGrp="1"/>
          </p:cNvSpPr>
          <p:nvPr>
            <p:ph type="ctrTitle"/>
          </p:nvPr>
        </p:nvSpPr>
        <p:spPr>
          <a:xfrm>
            <a:off x="1353741" y="1081629"/>
            <a:ext cx="6436518" cy="1632996"/>
          </a:xfrm>
          <a:prstGeom prst="rect">
            <a:avLst/>
          </a:prstGeom>
        </p:spPr>
        <p:txBody>
          <a:bodyPr spcFirstLastPara="1" lIns="91425" tIns="91425" rIns="91425" bIns="91425" anchor="ctr" anchorCtr="0">
            <a:normAutofit/>
          </a:bodyPr>
          <a:lstStyle/>
          <a:p>
            <a:pPr marL="0" lvl="0" indent="0" rtl="0">
              <a:spcBef>
                <a:spcPts val="0"/>
              </a:spcBef>
              <a:spcAft>
                <a:spcPts val="0"/>
              </a:spcAft>
              <a:buNone/>
            </a:pPr>
            <a:r>
              <a:rPr lang="en-CA" sz="5000" dirty="0"/>
              <a:t>Timeseries</a:t>
            </a:r>
          </a:p>
        </p:txBody>
      </p:sp>
    </p:spTree>
    <p:extLst>
      <p:ext uri="{BB962C8B-B14F-4D97-AF65-F5344CB8AC3E}">
        <p14:creationId xmlns:p14="http://schemas.microsoft.com/office/powerpoint/2010/main" val="1663831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8D1A6819-D912-7D79-AE49-ACAD9B39C6FC}"/>
            </a:ext>
          </a:extLst>
        </p:cNvPr>
        <p:cNvGrpSpPr/>
        <p:nvPr/>
      </p:nvGrpSpPr>
      <p:grpSpPr>
        <a:xfrm>
          <a:off x="0" y="0"/>
          <a:ext cx="0" cy="0"/>
          <a:chOff x="0" y="0"/>
          <a:chExt cx="0" cy="0"/>
        </a:xfrm>
      </p:grpSpPr>
      <p:pic>
        <p:nvPicPr>
          <p:cNvPr id="3" name="Picture 2" descr="A graph showing the number of deaths classified as garbage&#10;&#10;AI-generated content may be incorrect.">
            <a:extLst>
              <a:ext uri="{FF2B5EF4-FFF2-40B4-BE49-F238E27FC236}">
                <a16:creationId xmlns:a16="http://schemas.microsoft.com/office/drawing/2014/main" id="{75A9F1E1-A98F-C37E-57E9-7571E39B0ABF}"/>
              </a:ext>
            </a:extLst>
          </p:cNvPr>
          <p:cNvPicPr>
            <a:picLocks noChangeAspect="1"/>
          </p:cNvPicPr>
          <p:nvPr/>
        </p:nvPicPr>
        <p:blipFill>
          <a:blip r:embed="rId3"/>
          <a:stretch>
            <a:fillRect/>
          </a:stretch>
        </p:blipFill>
        <p:spPr>
          <a:xfrm>
            <a:off x="1225826" y="536595"/>
            <a:ext cx="7123043" cy="4070310"/>
          </a:xfrm>
          <a:prstGeom prst="rect">
            <a:avLst/>
          </a:prstGeom>
        </p:spPr>
      </p:pic>
    </p:spTree>
    <p:extLst>
      <p:ext uri="{BB962C8B-B14F-4D97-AF65-F5344CB8AC3E}">
        <p14:creationId xmlns:p14="http://schemas.microsoft.com/office/powerpoint/2010/main" val="37360267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59D78D9E-D1A7-43AE-C140-415923D33744}"/>
            </a:ext>
          </a:extLst>
        </p:cNvPr>
        <p:cNvGrpSpPr/>
        <p:nvPr/>
      </p:nvGrpSpPr>
      <p:grpSpPr>
        <a:xfrm>
          <a:off x="0" y="0"/>
          <a:ext cx="0" cy="0"/>
          <a:chOff x="0" y="0"/>
          <a:chExt cx="0" cy="0"/>
        </a:xfrm>
      </p:grpSpPr>
      <p:pic>
        <p:nvPicPr>
          <p:cNvPr id="3" name="Picture 2" descr="A graph of a number of garbage-coded deaths&#10;&#10;AI-generated content may be incorrect.">
            <a:extLst>
              <a:ext uri="{FF2B5EF4-FFF2-40B4-BE49-F238E27FC236}">
                <a16:creationId xmlns:a16="http://schemas.microsoft.com/office/drawing/2014/main" id="{6D5364FB-76E6-830B-08CD-10678B3201CE}"/>
              </a:ext>
            </a:extLst>
          </p:cNvPr>
          <p:cNvPicPr>
            <a:picLocks noChangeAspect="1"/>
          </p:cNvPicPr>
          <p:nvPr/>
        </p:nvPicPr>
        <p:blipFill>
          <a:blip r:embed="rId3"/>
          <a:stretch>
            <a:fillRect/>
          </a:stretch>
        </p:blipFill>
        <p:spPr>
          <a:xfrm>
            <a:off x="762932" y="470866"/>
            <a:ext cx="7353091" cy="4201767"/>
          </a:xfrm>
          <a:prstGeom prst="rect">
            <a:avLst/>
          </a:prstGeom>
        </p:spPr>
      </p:pic>
    </p:spTree>
    <p:extLst>
      <p:ext uri="{BB962C8B-B14F-4D97-AF65-F5344CB8AC3E}">
        <p14:creationId xmlns:p14="http://schemas.microsoft.com/office/powerpoint/2010/main" val="32513151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FCC73CEE-BEAD-B79B-1351-65039A1B808F}"/>
            </a:ext>
          </a:extLst>
        </p:cNvPr>
        <p:cNvGrpSpPr/>
        <p:nvPr/>
      </p:nvGrpSpPr>
      <p:grpSpPr>
        <a:xfrm>
          <a:off x="0" y="0"/>
          <a:ext cx="0" cy="0"/>
          <a:chOff x="0" y="0"/>
          <a:chExt cx="0" cy="0"/>
        </a:xfrm>
      </p:grpSpPr>
      <p:pic>
        <p:nvPicPr>
          <p:cNvPr id="4" name="Picture 3" descr="A graph showing the number of garbage-coded deaths&#10;&#10;AI-generated content may be incorrect.">
            <a:extLst>
              <a:ext uri="{FF2B5EF4-FFF2-40B4-BE49-F238E27FC236}">
                <a16:creationId xmlns:a16="http://schemas.microsoft.com/office/drawing/2014/main" id="{40ECF8D5-8D0E-1D7D-43F7-EC5BD39A70CF}"/>
              </a:ext>
            </a:extLst>
          </p:cNvPr>
          <p:cNvPicPr>
            <a:picLocks noChangeAspect="1"/>
          </p:cNvPicPr>
          <p:nvPr/>
        </p:nvPicPr>
        <p:blipFill>
          <a:blip r:embed="rId3"/>
          <a:stretch>
            <a:fillRect/>
          </a:stretch>
        </p:blipFill>
        <p:spPr>
          <a:xfrm>
            <a:off x="1225826" y="742950"/>
            <a:ext cx="6400800" cy="3657600"/>
          </a:xfrm>
          <a:prstGeom prst="rect">
            <a:avLst/>
          </a:prstGeom>
        </p:spPr>
      </p:pic>
    </p:spTree>
    <p:extLst>
      <p:ext uri="{BB962C8B-B14F-4D97-AF65-F5344CB8AC3E}">
        <p14:creationId xmlns:p14="http://schemas.microsoft.com/office/powerpoint/2010/main" val="13990610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E1542769-35EA-7D1D-90C6-50FE7C3D7FE0}"/>
            </a:ext>
          </a:extLst>
        </p:cNvPr>
        <p:cNvGrpSpPr/>
        <p:nvPr/>
      </p:nvGrpSpPr>
      <p:grpSpPr>
        <a:xfrm>
          <a:off x="0" y="0"/>
          <a:ext cx="0" cy="0"/>
          <a:chOff x="0" y="0"/>
          <a:chExt cx="0" cy="0"/>
        </a:xfrm>
      </p:grpSpPr>
      <p:pic>
        <p:nvPicPr>
          <p:cNvPr id="3" name="Picture 2" descr="A graph showing the number of garbage-coded deaths&#10;&#10;AI-generated content may be incorrect.">
            <a:extLst>
              <a:ext uri="{FF2B5EF4-FFF2-40B4-BE49-F238E27FC236}">
                <a16:creationId xmlns:a16="http://schemas.microsoft.com/office/drawing/2014/main" id="{A9D5243B-1CAC-75B4-819C-2A251ACDBBF8}"/>
              </a:ext>
            </a:extLst>
          </p:cNvPr>
          <p:cNvPicPr>
            <a:picLocks noChangeAspect="1"/>
          </p:cNvPicPr>
          <p:nvPr/>
        </p:nvPicPr>
        <p:blipFill>
          <a:blip r:embed="rId3"/>
          <a:stretch>
            <a:fillRect/>
          </a:stretch>
        </p:blipFill>
        <p:spPr>
          <a:xfrm>
            <a:off x="1000539" y="695621"/>
            <a:ext cx="6566452" cy="3752258"/>
          </a:xfrm>
          <a:prstGeom prst="rect">
            <a:avLst/>
          </a:prstGeom>
        </p:spPr>
      </p:pic>
    </p:spTree>
    <p:extLst>
      <p:ext uri="{BB962C8B-B14F-4D97-AF65-F5344CB8AC3E}">
        <p14:creationId xmlns:p14="http://schemas.microsoft.com/office/powerpoint/2010/main" val="2876937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3AC2951B-C42A-EE08-933D-DAC09BEE04A4}"/>
            </a:ext>
          </a:extLst>
        </p:cNvPr>
        <p:cNvGrpSpPr/>
        <p:nvPr/>
      </p:nvGrpSpPr>
      <p:grpSpPr>
        <a:xfrm>
          <a:off x="0" y="0"/>
          <a:ext cx="0" cy="0"/>
          <a:chOff x="0" y="0"/>
          <a:chExt cx="0" cy="0"/>
        </a:xfrm>
      </p:grpSpPr>
      <p:pic>
        <p:nvPicPr>
          <p:cNvPr id="3" name="Picture 2" descr="A graph of different colored lines&#10;&#10;AI-generated content may be incorrect.">
            <a:extLst>
              <a:ext uri="{FF2B5EF4-FFF2-40B4-BE49-F238E27FC236}">
                <a16:creationId xmlns:a16="http://schemas.microsoft.com/office/drawing/2014/main" id="{613C6085-872C-28AC-22DE-9AB6F0F0A484}"/>
              </a:ext>
            </a:extLst>
          </p:cNvPr>
          <p:cNvPicPr>
            <a:picLocks noChangeAspect="1"/>
          </p:cNvPicPr>
          <p:nvPr/>
        </p:nvPicPr>
        <p:blipFill>
          <a:blip r:embed="rId3"/>
          <a:stretch>
            <a:fillRect/>
          </a:stretch>
        </p:blipFill>
        <p:spPr>
          <a:xfrm>
            <a:off x="341290" y="742950"/>
            <a:ext cx="6400800" cy="3657600"/>
          </a:xfrm>
          <a:prstGeom prst="rect">
            <a:avLst/>
          </a:prstGeom>
        </p:spPr>
      </p:pic>
      <p:graphicFrame>
        <p:nvGraphicFramePr>
          <p:cNvPr id="5" name="Table 4">
            <a:extLst>
              <a:ext uri="{FF2B5EF4-FFF2-40B4-BE49-F238E27FC236}">
                <a16:creationId xmlns:a16="http://schemas.microsoft.com/office/drawing/2014/main" id="{54AFBE42-3CD7-041B-0448-310EC6863117}"/>
              </a:ext>
            </a:extLst>
          </p:cNvPr>
          <p:cNvGraphicFramePr>
            <a:graphicFrameLocks noGrp="1"/>
          </p:cNvGraphicFramePr>
          <p:nvPr>
            <p:extLst>
              <p:ext uri="{D42A27DB-BD31-4B8C-83A1-F6EECF244321}">
                <p14:modId xmlns:p14="http://schemas.microsoft.com/office/powerpoint/2010/main" val="201357463"/>
              </p:ext>
            </p:extLst>
          </p:nvPr>
        </p:nvGraphicFramePr>
        <p:xfrm>
          <a:off x="6742090" y="647043"/>
          <a:ext cx="1849634" cy="4089529"/>
        </p:xfrm>
        <a:graphic>
          <a:graphicData uri="http://schemas.openxmlformats.org/drawingml/2006/table">
            <a:tbl>
              <a:tblPr firstRow="1" bandRow="1">
                <a:tableStyleId>{BFA11F67-8BD6-47EC-9F71-6CD8F6C066F8}</a:tableStyleId>
              </a:tblPr>
              <a:tblGrid>
                <a:gridCol w="1849634">
                  <a:extLst>
                    <a:ext uri="{9D8B030D-6E8A-4147-A177-3AD203B41FA5}">
                      <a16:colId xmlns:a16="http://schemas.microsoft.com/office/drawing/2014/main" val="1755757978"/>
                    </a:ext>
                  </a:extLst>
                </a:gridCol>
              </a:tblGrid>
              <a:tr h="318273">
                <a:tc>
                  <a:txBody>
                    <a:bodyPr/>
                    <a:lstStyle/>
                    <a:p>
                      <a:r>
                        <a:rPr lang="en-US" sz="1200" dirty="0"/>
                        <a:t>Hospital, clinic or Medical Center</a:t>
                      </a:r>
                      <a:br>
                        <a:rPr lang="en-US" sz="1200" dirty="0"/>
                      </a:br>
                      <a:r>
                        <a:rPr lang="en-US" sz="1200" dirty="0"/>
                        <a:t>- Inpatient</a:t>
                      </a:r>
                    </a:p>
                  </a:txBody>
                  <a:tcPr>
                    <a:noFill/>
                  </a:tcPr>
                </a:tc>
                <a:extLst>
                  <a:ext uri="{0D108BD9-81ED-4DB2-BD59-A6C34878D82A}">
                    <a16:rowId xmlns:a16="http://schemas.microsoft.com/office/drawing/2014/main" val="2139523851"/>
                  </a:ext>
                </a:extLst>
              </a:tr>
              <a:tr h="327887">
                <a:tc>
                  <a:txBody>
                    <a:bodyPr/>
                    <a:lstStyle/>
                    <a:p>
                      <a:r>
                        <a:rPr lang="en-US" sz="1200" dirty="0"/>
                        <a:t>Hospital, Clinic or Medical Center</a:t>
                      </a:r>
                      <a:br>
                        <a:rPr lang="en-US" sz="1200" dirty="0"/>
                      </a:br>
                      <a:r>
                        <a:rPr lang="en-US" sz="1200" dirty="0"/>
                        <a:t>- Outpatient or admitted to Emergency Room </a:t>
                      </a:r>
                    </a:p>
                  </a:txBody>
                  <a:tcPr>
                    <a:noFill/>
                  </a:tcPr>
                </a:tc>
                <a:extLst>
                  <a:ext uri="{0D108BD9-81ED-4DB2-BD59-A6C34878D82A}">
                    <a16:rowId xmlns:a16="http://schemas.microsoft.com/office/drawing/2014/main" val="3463553036"/>
                  </a:ext>
                </a:extLst>
              </a:tr>
              <a:tr h="444668">
                <a:tc>
                  <a:txBody>
                    <a:bodyPr/>
                    <a:lstStyle/>
                    <a:p>
                      <a:r>
                        <a:rPr lang="en-US" sz="1200" dirty="0"/>
                        <a:t>Hospital, Clinic or Medical Center </a:t>
                      </a:r>
                    </a:p>
                    <a:p>
                      <a:r>
                        <a:rPr lang="en-US" sz="1200" dirty="0"/>
                        <a:t>- Dead on Arrival</a:t>
                      </a:r>
                    </a:p>
                  </a:txBody>
                  <a:tcPr>
                    <a:noFill/>
                  </a:tcPr>
                </a:tc>
                <a:extLst>
                  <a:ext uri="{0D108BD9-81ED-4DB2-BD59-A6C34878D82A}">
                    <a16:rowId xmlns:a16="http://schemas.microsoft.com/office/drawing/2014/main" val="1615279990"/>
                  </a:ext>
                </a:extLst>
              </a:tr>
              <a:tr h="444668">
                <a:tc>
                  <a:txBody>
                    <a:bodyPr/>
                    <a:lstStyle/>
                    <a:p>
                      <a:r>
                        <a:rPr lang="en-US" sz="1200" dirty="0"/>
                        <a:t>Decedent’s home</a:t>
                      </a:r>
                    </a:p>
                  </a:txBody>
                  <a:tcPr>
                    <a:noFill/>
                  </a:tcPr>
                </a:tc>
                <a:extLst>
                  <a:ext uri="{0D108BD9-81ED-4DB2-BD59-A6C34878D82A}">
                    <a16:rowId xmlns:a16="http://schemas.microsoft.com/office/drawing/2014/main" val="296775920"/>
                  </a:ext>
                </a:extLst>
              </a:tr>
              <a:tr h="327887">
                <a:tc>
                  <a:txBody>
                    <a:bodyPr/>
                    <a:lstStyle/>
                    <a:p>
                      <a:r>
                        <a:rPr lang="en-US" sz="1200" dirty="0"/>
                        <a:t>Hospice facility</a:t>
                      </a:r>
                    </a:p>
                  </a:txBody>
                  <a:tcPr>
                    <a:noFill/>
                  </a:tcPr>
                </a:tc>
                <a:extLst>
                  <a:ext uri="{0D108BD9-81ED-4DB2-BD59-A6C34878D82A}">
                    <a16:rowId xmlns:a16="http://schemas.microsoft.com/office/drawing/2014/main" val="3388873559"/>
                  </a:ext>
                </a:extLst>
              </a:tr>
              <a:tr h="327887">
                <a:tc>
                  <a:txBody>
                    <a:bodyPr/>
                    <a:lstStyle/>
                    <a:p>
                      <a:r>
                        <a:rPr lang="en-US" sz="1200" dirty="0"/>
                        <a:t>Nursing home/long term care </a:t>
                      </a:r>
                    </a:p>
                  </a:txBody>
                  <a:tcPr>
                    <a:noFill/>
                  </a:tcPr>
                </a:tc>
                <a:extLst>
                  <a:ext uri="{0D108BD9-81ED-4DB2-BD59-A6C34878D82A}">
                    <a16:rowId xmlns:a16="http://schemas.microsoft.com/office/drawing/2014/main" val="437703312"/>
                  </a:ext>
                </a:extLst>
              </a:tr>
              <a:tr h="327887">
                <a:tc>
                  <a:txBody>
                    <a:bodyPr/>
                    <a:lstStyle/>
                    <a:p>
                      <a:r>
                        <a:rPr lang="en-US" sz="1200" dirty="0"/>
                        <a:t>Other</a:t>
                      </a:r>
                    </a:p>
                  </a:txBody>
                  <a:tcPr>
                    <a:noFill/>
                  </a:tcPr>
                </a:tc>
                <a:extLst>
                  <a:ext uri="{0D108BD9-81ED-4DB2-BD59-A6C34878D82A}">
                    <a16:rowId xmlns:a16="http://schemas.microsoft.com/office/drawing/2014/main" val="1451017037"/>
                  </a:ext>
                </a:extLst>
              </a:tr>
              <a:tr h="428767">
                <a:tc>
                  <a:txBody>
                    <a:bodyPr/>
                    <a:lstStyle/>
                    <a:p>
                      <a:r>
                        <a:rPr lang="en-US" sz="1200" dirty="0"/>
                        <a:t>Unknown* (very few)</a:t>
                      </a:r>
                    </a:p>
                  </a:txBody>
                  <a:tcPr>
                    <a:noFill/>
                  </a:tcPr>
                </a:tc>
                <a:extLst>
                  <a:ext uri="{0D108BD9-81ED-4DB2-BD59-A6C34878D82A}">
                    <a16:rowId xmlns:a16="http://schemas.microsoft.com/office/drawing/2014/main" val="987815933"/>
                  </a:ext>
                </a:extLst>
              </a:tr>
            </a:tbl>
          </a:graphicData>
        </a:graphic>
      </p:graphicFrame>
    </p:spTree>
    <p:extLst>
      <p:ext uri="{BB962C8B-B14F-4D97-AF65-F5344CB8AC3E}">
        <p14:creationId xmlns:p14="http://schemas.microsoft.com/office/powerpoint/2010/main" val="14589234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18A0E0E1-AD3C-3748-F093-F250CCF126B3}"/>
            </a:ext>
          </a:extLst>
        </p:cNvPr>
        <p:cNvGrpSpPr/>
        <p:nvPr/>
      </p:nvGrpSpPr>
      <p:grpSpPr>
        <a:xfrm>
          <a:off x="0" y="0"/>
          <a:ext cx="0" cy="0"/>
          <a:chOff x="0" y="0"/>
          <a:chExt cx="0" cy="0"/>
        </a:xfrm>
      </p:grpSpPr>
      <p:pic>
        <p:nvPicPr>
          <p:cNvPr id="4" name="Picture 3" descr="A graph showing the number of years&#10;&#10;AI-generated content may be incorrect.">
            <a:extLst>
              <a:ext uri="{FF2B5EF4-FFF2-40B4-BE49-F238E27FC236}">
                <a16:creationId xmlns:a16="http://schemas.microsoft.com/office/drawing/2014/main" id="{D626FE4D-53A0-7E44-8F62-671EDD9CD9D6}"/>
              </a:ext>
            </a:extLst>
          </p:cNvPr>
          <p:cNvPicPr>
            <a:picLocks noChangeAspect="1"/>
          </p:cNvPicPr>
          <p:nvPr/>
        </p:nvPicPr>
        <p:blipFill>
          <a:blip r:embed="rId3"/>
          <a:stretch>
            <a:fillRect/>
          </a:stretch>
        </p:blipFill>
        <p:spPr>
          <a:xfrm>
            <a:off x="1371600" y="742950"/>
            <a:ext cx="6400800" cy="3657600"/>
          </a:xfrm>
          <a:prstGeom prst="rect">
            <a:avLst/>
          </a:prstGeom>
        </p:spPr>
      </p:pic>
    </p:spTree>
    <p:extLst>
      <p:ext uri="{BB962C8B-B14F-4D97-AF65-F5344CB8AC3E}">
        <p14:creationId xmlns:p14="http://schemas.microsoft.com/office/powerpoint/2010/main" val="15316049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3">
          <a:extLst>
            <a:ext uri="{FF2B5EF4-FFF2-40B4-BE49-F238E27FC236}">
              <a16:creationId xmlns:a16="http://schemas.microsoft.com/office/drawing/2014/main" id="{58C31703-52CE-EF1D-8E61-D366F0851EDC}"/>
            </a:ext>
          </a:extLst>
        </p:cNvPr>
        <p:cNvGrpSpPr/>
        <p:nvPr/>
      </p:nvGrpSpPr>
      <p:grpSpPr>
        <a:xfrm>
          <a:off x="0" y="0"/>
          <a:ext cx="0" cy="0"/>
          <a:chOff x="0" y="0"/>
          <a:chExt cx="0" cy="0"/>
        </a:xfrm>
      </p:grpSpPr>
      <p:sp>
        <p:nvSpPr>
          <p:cNvPr id="54" name="Google Shape;54;p13">
            <a:extLst>
              <a:ext uri="{FF2B5EF4-FFF2-40B4-BE49-F238E27FC236}">
                <a16:creationId xmlns:a16="http://schemas.microsoft.com/office/drawing/2014/main" id="{86CF17FC-8913-FF0E-648A-8B3733842AA4}"/>
              </a:ext>
            </a:extLst>
          </p:cNvPr>
          <p:cNvSpPr txBox="1">
            <a:spLocks noGrp="1"/>
          </p:cNvSpPr>
          <p:nvPr>
            <p:ph type="ctrTitle"/>
          </p:nvPr>
        </p:nvSpPr>
        <p:spPr>
          <a:xfrm>
            <a:off x="1353741" y="1081629"/>
            <a:ext cx="6436518" cy="1632996"/>
          </a:xfrm>
          <a:prstGeom prst="rect">
            <a:avLst/>
          </a:prstGeom>
        </p:spPr>
        <p:txBody>
          <a:bodyPr spcFirstLastPara="1" lIns="91425" tIns="91425" rIns="91425" bIns="91425" anchor="ctr" anchorCtr="0">
            <a:normAutofit/>
          </a:bodyPr>
          <a:lstStyle/>
          <a:p>
            <a:pPr marL="0" lvl="0" indent="0" rtl="0">
              <a:spcBef>
                <a:spcPts val="0"/>
              </a:spcBef>
              <a:spcAft>
                <a:spcPts val="0"/>
              </a:spcAft>
              <a:buNone/>
            </a:pPr>
            <a:r>
              <a:rPr lang="en-CA" sz="5000" dirty="0"/>
              <a:t>Quality of 2020 US Mortality Data</a:t>
            </a:r>
          </a:p>
        </p:txBody>
      </p:sp>
    </p:spTree>
    <p:extLst>
      <p:ext uri="{BB962C8B-B14F-4D97-AF65-F5344CB8AC3E}">
        <p14:creationId xmlns:p14="http://schemas.microsoft.com/office/powerpoint/2010/main" val="37629953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4">
          <a:extLst>
            <a:ext uri="{FF2B5EF4-FFF2-40B4-BE49-F238E27FC236}">
              <a16:creationId xmlns:a16="http://schemas.microsoft.com/office/drawing/2014/main" id="{CC51B29E-BC57-A7DB-1142-7F848B38E24B}"/>
            </a:ext>
          </a:extLst>
        </p:cNvPr>
        <p:cNvGrpSpPr/>
        <p:nvPr/>
      </p:nvGrpSpPr>
      <p:grpSpPr>
        <a:xfrm>
          <a:off x="0" y="0"/>
          <a:ext cx="0" cy="0"/>
          <a:chOff x="0" y="0"/>
          <a:chExt cx="0" cy="0"/>
        </a:xfrm>
      </p:grpSpPr>
      <p:sp>
        <p:nvSpPr>
          <p:cNvPr id="65" name="Google Shape;65;p15">
            <a:extLst>
              <a:ext uri="{FF2B5EF4-FFF2-40B4-BE49-F238E27FC236}">
                <a16:creationId xmlns:a16="http://schemas.microsoft.com/office/drawing/2014/main" id="{AE6A7B41-C963-3A9E-A725-1939D4B9E812}"/>
              </a:ext>
            </a:extLst>
          </p:cNvPr>
          <p:cNvSpPr txBox="1">
            <a:spLocks noGrp="1"/>
          </p:cNvSpPr>
          <p:nvPr>
            <p:ph type="title"/>
          </p:nvPr>
        </p:nvSpPr>
        <p:spPr>
          <a:xfrm>
            <a:off x="311700" y="4013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t>Fraction of Garbage Codes and GBD Severity Profile</a:t>
            </a:r>
            <a:endParaRPr dirty="0"/>
          </a:p>
        </p:txBody>
      </p:sp>
      <p:graphicFrame>
        <p:nvGraphicFramePr>
          <p:cNvPr id="66" name="Google Shape;66;p15">
            <a:extLst>
              <a:ext uri="{FF2B5EF4-FFF2-40B4-BE49-F238E27FC236}">
                <a16:creationId xmlns:a16="http://schemas.microsoft.com/office/drawing/2014/main" id="{B96B8111-1F57-8750-A973-A872D36725C6}"/>
              </a:ext>
            </a:extLst>
          </p:cNvPr>
          <p:cNvGraphicFramePr/>
          <p:nvPr>
            <p:extLst>
              <p:ext uri="{D42A27DB-BD31-4B8C-83A1-F6EECF244321}">
                <p14:modId xmlns:p14="http://schemas.microsoft.com/office/powerpoint/2010/main" val="133047626"/>
              </p:ext>
            </p:extLst>
          </p:nvPr>
        </p:nvGraphicFramePr>
        <p:xfrm>
          <a:off x="493200" y="2038675"/>
          <a:ext cx="7239000" cy="1942950"/>
        </p:xfrm>
        <a:graphic>
          <a:graphicData uri="http://schemas.openxmlformats.org/drawingml/2006/table">
            <a:tbl>
              <a:tblPr>
                <a:noFill/>
                <a:tableStyleId>{BFA11F67-8BD6-47EC-9F71-6CD8F6C066F8}</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381000">
                <a:tc>
                  <a:txBody>
                    <a:bodyPr/>
                    <a:lstStyle/>
                    <a:p>
                      <a:pPr marL="0" lvl="0" indent="0" algn="l" rtl="0">
                        <a:spcBef>
                          <a:spcPts val="0"/>
                        </a:spcBef>
                        <a:spcAft>
                          <a:spcPts val="0"/>
                        </a:spcAft>
                        <a:buNone/>
                      </a:pPr>
                      <a:r>
                        <a:rPr lang="en"/>
                        <a:t>GBD Severity</a:t>
                      </a:r>
                      <a:endParaRPr/>
                    </a:p>
                  </a:txBody>
                  <a:tcPr marL="91425" marR="91425" marT="91425" marB="91425"/>
                </a:tc>
                <a:tc>
                  <a:txBody>
                    <a:bodyPr/>
                    <a:lstStyle/>
                    <a:p>
                      <a:pPr marL="0" lvl="0" indent="0" algn="l" rtl="0">
                        <a:spcBef>
                          <a:spcPts val="0"/>
                        </a:spcBef>
                        <a:spcAft>
                          <a:spcPts val="0"/>
                        </a:spcAft>
                        <a:buNone/>
                      </a:pPr>
                      <a:r>
                        <a:rPr lang="en"/>
                        <a:t>Deaths</a:t>
                      </a:r>
                      <a:endParaRPr/>
                    </a:p>
                  </a:txBody>
                  <a:tcPr marL="91425" marR="91425" marT="91425" marB="91425"/>
                </a:tc>
                <a:tc>
                  <a:txBody>
                    <a:bodyPr/>
                    <a:lstStyle/>
                    <a:p>
                      <a:pPr marL="0" lvl="0" indent="0" algn="l" rtl="0">
                        <a:spcBef>
                          <a:spcPts val="0"/>
                        </a:spcBef>
                        <a:spcAft>
                          <a:spcPts val="0"/>
                        </a:spcAft>
                        <a:buNone/>
                      </a:pPr>
                      <a:r>
                        <a:rPr lang="en"/>
                        <a:t>Share (of garbage codes)</a:t>
                      </a: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 dirty="0"/>
                        <a:t>1</a:t>
                      </a:r>
                      <a:endParaRPr dirty="0"/>
                    </a:p>
                  </a:txBody>
                  <a:tcPr marL="91425" marR="91425" marT="91425" marB="91425"/>
                </a:tc>
                <a:tc>
                  <a:txBody>
                    <a:bodyPr/>
                    <a:lstStyle/>
                    <a:p>
                      <a:pPr marL="0" lvl="0" indent="0" algn="l" rtl="0">
                        <a:spcBef>
                          <a:spcPts val="0"/>
                        </a:spcBef>
                        <a:spcAft>
                          <a:spcPts val="0"/>
                        </a:spcAft>
                        <a:buNone/>
                      </a:pPr>
                      <a:r>
                        <a:rPr lang="en"/>
                        <a:t>119513</a:t>
                      </a:r>
                      <a:endParaRPr dirty="0"/>
                    </a:p>
                  </a:txBody>
                  <a:tcPr marL="91425" marR="91425" marT="91425" marB="91425"/>
                </a:tc>
                <a:tc>
                  <a:txBody>
                    <a:bodyPr/>
                    <a:lstStyle/>
                    <a:p>
                      <a:pPr marL="0" lvl="0" indent="0" algn="l" rtl="0">
                        <a:spcBef>
                          <a:spcPts val="0"/>
                        </a:spcBef>
                        <a:spcAft>
                          <a:spcPts val="0"/>
                        </a:spcAft>
                        <a:buNone/>
                      </a:pPr>
                      <a:r>
                        <a:rPr lang="en" dirty="0">
                          <a:solidFill>
                            <a:schemeClr val="dk1"/>
                          </a:solidFill>
                          <a:highlight>
                            <a:srgbClr val="FFFFFF"/>
                          </a:highlight>
                        </a:rPr>
                        <a:t>47.7%</a:t>
                      </a:r>
                      <a:endParaRPr dirty="0"/>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
                        <a:t>2</a:t>
                      </a:r>
                      <a:endParaRPr/>
                    </a:p>
                  </a:txBody>
                  <a:tcPr marL="91425" marR="91425" marT="91425" marB="91425"/>
                </a:tc>
                <a:tc>
                  <a:txBody>
                    <a:bodyPr/>
                    <a:lstStyle/>
                    <a:p>
                      <a:pPr marL="0" lvl="0" indent="0" algn="l" rtl="0">
                        <a:spcBef>
                          <a:spcPts val="0"/>
                        </a:spcBef>
                        <a:spcAft>
                          <a:spcPts val="0"/>
                        </a:spcAft>
                        <a:buNone/>
                      </a:pPr>
                      <a:r>
                        <a:rPr lang="en" dirty="0"/>
                        <a:t>33498</a:t>
                      </a:r>
                      <a:endParaRPr dirty="0"/>
                    </a:p>
                  </a:txBody>
                  <a:tcPr marL="91425" marR="91425" marT="91425" marB="91425"/>
                </a:tc>
                <a:tc>
                  <a:txBody>
                    <a:bodyPr/>
                    <a:lstStyle/>
                    <a:p>
                      <a:pPr marL="0" lvl="0" indent="0" algn="l" rtl="0">
                        <a:spcBef>
                          <a:spcPts val="0"/>
                        </a:spcBef>
                        <a:spcAft>
                          <a:spcPts val="0"/>
                        </a:spcAft>
                        <a:buNone/>
                      </a:pPr>
                      <a:r>
                        <a:rPr lang="en" dirty="0"/>
                        <a:t>13.3%</a:t>
                      </a:r>
                      <a:endParaRPr dirty="0"/>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
                        <a:t>3</a:t>
                      </a:r>
                      <a:endParaRPr/>
                    </a:p>
                  </a:txBody>
                  <a:tcPr marL="91425" marR="91425" marT="91425" marB="91425"/>
                </a:tc>
                <a:tc>
                  <a:txBody>
                    <a:bodyPr/>
                    <a:lstStyle/>
                    <a:p>
                      <a:pPr marL="0" lvl="0" indent="0" algn="l" rtl="0">
                        <a:spcBef>
                          <a:spcPts val="0"/>
                        </a:spcBef>
                        <a:spcAft>
                          <a:spcPts val="0"/>
                        </a:spcAft>
                        <a:buNone/>
                      </a:pPr>
                      <a:r>
                        <a:rPr lang="en" dirty="0"/>
                        <a:t>42151</a:t>
                      </a:r>
                      <a:endParaRPr dirty="0"/>
                    </a:p>
                  </a:txBody>
                  <a:tcPr marL="91425" marR="91425" marT="91425" marB="91425"/>
                </a:tc>
                <a:tc>
                  <a:txBody>
                    <a:bodyPr/>
                    <a:lstStyle/>
                    <a:p>
                      <a:pPr marL="0" lvl="0" indent="0" algn="l" rtl="0">
                        <a:spcBef>
                          <a:spcPts val="0"/>
                        </a:spcBef>
                        <a:spcAft>
                          <a:spcPts val="0"/>
                        </a:spcAft>
                        <a:buNone/>
                      </a:pPr>
                      <a:r>
                        <a:rPr lang="en" dirty="0"/>
                        <a:t>16.8%</a:t>
                      </a:r>
                      <a:endParaRPr dirty="0"/>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
                        <a:t>4</a:t>
                      </a:r>
                      <a:endParaRPr/>
                    </a:p>
                  </a:txBody>
                  <a:tcPr marL="91425" marR="91425" marT="91425" marB="91425"/>
                </a:tc>
                <a:tc>
                  <a:txBody>
                    <a:bodyPr/>
                    <a:lstStyle/>
                    <a:p>
                      <a:pPr marL="0" lvl="0" indent="0" algn="l" rtl="0">
                        <a:spcBef>
                          <a:spcPts val="0"/>
                        </a:spcBef>
                        <a:spcAft>
                          <a:spcPts val="0"/>
                        </a:spcAft>
                        <a:buNone/>
                      </a:pPr>
                      <a:r>
                        <a:rPr lang="en" dirty="0"/>
                        <a:t>55389</a:t>
                      </a:r>
                      <a:endParaRPr dirty="0"/>
                    </a:p>
                  </a:txBody>
                  <a:tcPr marL="91425" marR="91425" marT="91425" marB="91425"/>
                </a:tc>
                <a:tc>
                  <a:txBody>
                    <a:bodyPr/>
                    <a:lstStyle/>
                    <a:p>
                      <a:pPr marL="0" lvl="0" indent="0" algn="l" rtl="0">
                        <a:spcBef>
                          <a:spcPts val="0"/>
                        </a:spcBef>
                        <a:spcAft>
                          <a:spcPts val="0"/>
                        </a:spcAft>
                        <a:buNone/>
                      </a:pPr>
                      <a:r>
                        <a:rPr lang="en" dirty="0"/>
                        <a:t>22.1%</a:t>
                      </a:r>
                      <a:endParaRPr dirty="0"/>
                    </a:p>
                  </a:txBody>
                  <a:tcPr marL="91425" marR="91425" marT="91425" marB="91425"/>
                </a:tc>
                <a:extLst>
                  <a:ext uri="{0D108BD9-81ED-4DB2-BD59-A6C34878D82A}">
                    <a16:rowId xmlns:a16="http://schemas.microsoft.com/office/drawing/2014/main" val="10004"/>
                  </a:ext>
                </a:extLst>
              </a:tr>
            </a:tbl>
          </a:graphicData>
        </a:graphic>
      </p:graphicFrame>
      <p:sp>
        <p:nvSpPr>
          <p:cNvPr id="67" name="Google Shape;67;p15">
            <a:extLst>
              <a:ext uri="{FF2B5EF4-FFF2-40B4-BE49-F238E27FC236}">
                <a16:creationId xmlns:a16="http://schemas.microsoft.com/office/drawing/2014/main" id="{97579242-265C-2886-1212-B8A1DC59F455}"/>
              </a:ext>
            </a:extLst>
          </p:cNvPr>
          <p:cNvSpPr txBox="1"/>
          <p:nvPr/>
        </p:nvSpPr>
        <p:spPr>
          <a:xfrm>
            <a:off x="517914" y="1262200"/>
            <a:ext cx="6822000" cy="430857"/>
          </a:xfrm>
          <a:prstGeom prst="rect">
            <a:avLst/>
          </a:prstGeom>
          <a:noFill/>
          <a:ln>
            <a:noFill/>
          </a:ln>
        </p:spPr>
        <p:txBody>
          <a:bodyPr spcFirstLastPara="1" wrap="square" lIns="91425" tIns="91425" rIns="91425" bIns="91425" anchor="t" anchorCtr="0">
            <a:spAutoFit/>
          </a:bodyPr>
          <a:lstStyle/>
          <a:p>
            <a:pPr lvl="0"/>
            <a:r>
              <a:rPr lang="en" sz="1600" dirty="0">
                <a:solidFill>
                  <a:schemeClr val="dk1"/>
                </a:solidFill>
              </a:rPr>
              <a:t>In 2020, 7.4% of codes were garbage. </a:t>
            </a:r>
            <a:endParaRPr sz="1600" dirty="0">
              <a:solidFill>
                <a:schemeClr val="dk1"/>
              </a:solidFill>
            </a:endParaRPr>
          </a:p>
        </p:txBody>
      </p:sp>
    </p:spTree>
    <p:extLst>
      <p:ext uri="{BB962C8B-B14F-4D97-AF65-F5344CB8AC3E}">
        <p14:creationId xmlns:p14="http://schemas.microsoft.com/office/powerpoint/2010/main" val="133037403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C4215C5D-B70C-9FDA-643E-D65BFCDD3847}"/>
            </a:ext>
          </a:extLst>
        </p:cNvPr>
        <p:cNvGrpSpPr/>
        <p:nvPr/>
      </p:nvGrpSpPr>
      <p:grpSpPr>
        <a:xfrm>
          <a:off x="0" y="0"/>
          <a:ext cx="0" cy="0"/>
          <a:chOff x="0" y="0"/>
          <a:chExt cx="0" cy="0"/>
        </a:xfrm>
      </p:grpSpPr>
      <p:sp>
        <p:nvSpPr>
          <p:cNvPr id="59" name="Google Shape;59;p14">
            <a:extLst>
              <a:ext uri="{FF2B5EF4-FFF2-40B4-BE49-F238E27FC236}">
                <a16:creationId xmlns:a16="http://schemas.microsoft.com/office/drawing/2014/main" id="{27D8EEF1-D367-08EF-0821-DFF3A85B3599}"/>
              </a:ext>
            </a:extLst>
          </p:cNvPr>
          <p:cNvSpPr txBox="1">
            <a:spLocks noGrp="1"/>
          </p:cNvSpPr>
          <p:nvPr>
            <p:ph type="ctrTitle"/>
          </p:nvPr>
        </p:nvSpPr>
        <p:spPr>
          <a:xfrm>
            <a:off x="311700" y="0"/>
            <a:ext cx="8520600" cy="627300"/>
          </a:xfrm>
          <a:prstGeom prst="rect">
            <a:avLst/>
          </a:prstGeom>
        </p:spPr>
        <p:txBody>
          <a:bodyPr spcFirstLastPara="1" wrap="square" lIns="91425" tIns="91425" rIns="91425" bIns="91425" anchor="b" anchorCtr="0">
            <a:noAutofit/>
          </a:bodyPr>
          <a:lstStyle/>
          <a:p>
            <a:pPr lvl="0">
              <a:spcBef>
                <a:spcPts val="0"/>
              </a:spcBef>
              <a:buSzPts val="990"/>
            </a:pPr>
            <a:r>
              <a:rPr lang="en" sz="2400" dirty="0"/>
              <a:t>Demographics and Percentage Garbage Codes</a:t>
            </a:r>
            <a:endParaRPr sz="2400" dirty="0"/>
          </a:p>
        </p:txBody>
      </p:sp>
      <p:graphicFrame>
        <p:nvGraphicFramePr>
          <p:cNvPr id="2" name="Table 1">
            <a:extLst>
              <a:ext uri="{FF2B5EF4-FFF2-40B4-BE49-F238E27FC236}">
                <a16:creationId xmlns:a16="http://schemas.microsoft.com/office/drawing/2014/main" id="{128DADD7-909A-0784-0D76-9DBA8812645A}"/>
              </a:ext>
            </a:extLst>
          </p:cNvPr>
          <p:cNvGraphicFramePr>
            <a:graphicFrameLocks noGrp="1"/>
          </p:cNvGraphicFramePr>
          <p:nvPr>
            <p:extLst>
              <p:ext uri="{D42A27DB-BD31-4B8C-83A1-F6EECF244321}">
                <p14:modId xmlns:p14="http://schemas.microsoft.com/office/powerpoint/2010/main" val="2570130295"/>
              </p:ext>
            </p:extLst>
          </p:nvPr>
        </p:nvGraphicFramePr>
        <p:xfrm>
          <a:off x="311700" y="727976"/>
          <a:ext cx="4973532" cy="1817388"/>
        </p:xfrm>
        <a:graphic>
          <a:graphicData uri="http://schemas.openxmlformats.org/drawingml/2006/table">
            <a:tbl>
              <a:tblPr firstRow="1" bandRow="1">
                <a:tableStyleId>{BFA11F67-8BD6-47EC-9F71-6CD8F6C066F8}</a:tableStyleId>
              </a:tblPr>
              <a:tblGrid>
                <a:gridCol w="2486766">
                  <a:extLst>
                    <a:ext uri="{9D8B030D-6E8A-4147-A177-3AD203B41FA5}">
                      <a16:colId xmlns:a16="http://schemas.microsoft.com/office/drawing/2014/main" val="3989279615"/>
                    </a:ext>
                  </a:extLst>
                </a:gridCol>
                <a:gridCol w="2486766">
                  <a:extLst>
                    <a:ext uri="{9D8B030D-6E8A-4147-A177-3AD203B41FA5}">
                      <a16:colId xmlns:a16="http://schemas.microsoft.com/office/drawing/2014/main" val="4010461188"/>
                    </a:ext>
                  </a:extLst>
                </a:gridCol>
              </a:tblGrid>
              <a:tr h="445659">
                <a:tc>
                  <a:txBody>
                    <a:bodyPr/>
                    <a:lstStyle/>
                    <a:p>
                      <a:r>
                        <a:rPr lang="en-US" dirty="0"/>
                        <a:t>Race</a:t>
                      </a:r>
                    </a:p>
                  </a:txBody>
                  <a:tcPr/>
                </a:tc>
                <a:tc>
                  <a:txBody>
                    <a:bodyPr/>
                    <a:lstStyle/>
                    <a:p>
                      <a:r>
                        <a:rPr lang="en-US" dirty="0"/>
                        <a:t>Percentage garbage codes (%)</a:t>
                      </a:r>
                    </a:p>
                  </a:txBody>
                  <a:tcPr/>
                </a:tc>
                <a:extLst>
                  <a:ext uri="{0D108BD9-81ED-4DB2-BD59-A6C34878D82A}">
                    <a16:rowId xmlns:a16="http://schemas.microsoft.com/office/drawing/2014/main" val="3441494424"/>
                  </a:ext>
                </a:extLst>
              </a:tr>
              <a:tr h="328617">
                <a:tc>
                  <a:txBody>
                    <a:bodyPr/>
                    <a:lstStyle/>
                    <a:p>
                      <a:r>
                        <a:rPr lang="en-US" dirty="0"/>
                        <a:t>White</a:t>
                      </a:r>
                    </a:p>
                  </a:txBody>
                  <a:tcPr>
                    <a:solidFill>
                      <a:schemeClr val="bg2"/>
                    </a:solidFill>
                  </a:tcPr>
                </a:tc>
                <a:tc>
                  <a:txBody>
                    <a:bodyPr/>
                    <a:lstStyle/>
                    <a:p>
                      <a:r>
                        <a:rPr lang="en-US" dirty="0"/>
                        <a:t>7.2</a:t>
                      </a:r>
                    </a:p>
                  </a:txBody>
                  <a:tcPr>
                    <a:solidFill>
                      <a:schemeClr val="bg2"/>
                    </a:solidFill>
                  </a:tcPr>
                </a:tc>
                <a:extLst>
                  <a:ext uri="{0D108BD9-81ED-4DB2-BD59-A6C34878D82A}">
                    <a16:rowId xmlns:a16="http://schemas.microsoft.com/office/drawing/2014/main" val="1978091271"/>
                  </a:ext>
                </a:extLst>
              </a:tr>
              <a:tr h="328617">
                <a:tc>
                  <a:txBody>
                    <a:bodyPr/>
                    <a:lstStyle/>
                    <a:p>
                      <a:r>
                        <a:rPr lang="en-US" dirty="0"/>
                        <a:t>Black</a:t>
                      </a:r>
                    </a:p>
                  </a:txBody>
                  <a:tcPr>
                    <a:solidFill>
                      <a:schemeClr val="bg2"/>
                    </a:solidFill>
                  </a:tcPr>
                </a:tc>
                <a:tc>
                  <a:txBody>
                    <a:bodyPr/>
                    <a:lstStyle/>
                    <a:p>
                      <a:r>
                        <a:rPr lang="en-US" dirty="0"/>
                        <a:t>8.7</a:t>
                      </a:r>
                    </a:p>
                  </a:txBody>
                  <a:tcPr>
                    <a:solidFill>
                      <a:schemeClr val="bg2"/>
                    </a:solidFill>
                  </a:tcPr>
                </a:tc>
                <a:extLst>
                  <a:ext uri="{0D108BD9-81ED-4DB2-BD59-A6C34878D82A}">
                    <a16:rowId xmlns:a16="http://schemas.microsoft.com/office/drawing/2014/main" val="446706471"/>
                  </a:ext>
                </a:extLst>
              </a:tr>
              <a:tr h="328617">
                <a:tc>
                  <a:txBody>
                    <a:bodyPr/>
                    <a:lstStyle/>
                    <a:p>
                      <a:r>
                        <a:rPr lang="en-US" dirty="0"/>
                        <a:t>Indigenous</a:t>
                      </a:r>
                    </a:p>
                  </a:txBody>
                  <a:tcPr>
                    <a:solidFill>
                      <a:schemeClr val="bg2"/>
                    </a:solidFill>
                  </a:tcPr>
                </a:tc>
                <a:tc>
                  <a:txBody>
                    <a:bodyPr/>
                    <a:lstStyle/>
                    <a:p>
                      <a:r>
                        <a:rPr lang="en-US" dirty="0"/>
                        <a:t>8.7</a:t>
                      </a:r>
                    </a:p>
                  </a:txBody>
                  <a:tcPr>
                    <a:solidFill>
                      <a:schemeClr val="bg2"/>
                    </a:solidFill>
                  </a:tcPr>
                </a:tc>
                <a:extLst>
                  <a:ext uri="{0D108BD9-81ED-4DB2-BD59-A6C34878D82A}">
                    <a16:rowId xmlns:a16="http://schemas.microsoft.com/office/drawing/2014/main" val="3537160196"/>
                  </a:ext>
                </a:extLst>
              </a:tr>
              <a:tr h="328617">
                <a:tc>
                  <a:txBody>
                    <a:bodyPr/>
                    <a:lstStyle/>
                    <a:p>
                      <a:r>
                        <a:rPr lang="en-US" dirty="0"/>
                        <a:t>Asian or Pacific Islander </a:t>
                      </a:r>
                    </a:p>
                  </a:txBody>
                  <a:tcPr>
                    <a:solidFill>
                      <a:schemeClr val="bg2"/>
                    </a:solidFill>
                  </a:tcPr>
                </a:tc>
                <a:tc>
                  <a:txBody>
                    <a:bodyPr/>
                    <a:lstStyle/>
                    <a:p>
                      <a:r>
                        <a:rPr lang="en-US" dirty="0"/>
                        <a:t>6.5</a:t>
                      </a:r>
                    </a:p>
                  </a:txBody>
                  <a:tcPr>
                    <a:solidFill>
                      <a:schemeClr val="bg2"/>
                    </a:solidFill>
                  </a:tcPr>
                </a:tc>
                <a:extLst>
                  <a:ext uri="{0D108BD9-81ED-4DB2-BD59-A6C34878D82A}">
                    <a16:rowId xmlns:a16="http://schemas.microsoft.com/office/drawing/2014/main" val="2050751449"/>
                  </a:ext>
                </a:extLst>
              </a:tr>
            </a:tbl>
          </a:graphicData>
        </a:graphic>
      </p:graphicFrame>
      <p:graphicFrame>
        <p:nvGraphicFramePr>
          <p:cNvPr id="4" name="Table 3">
            <a:extLst>
              <a:ext uri="{FF2B5EF4-FFF2-40B4-BE49-F238E27FC236}">
                <a16:creationId xmlns:a16="http://schemas.microsoft.com/office/drawing/2014/main" id="{4EF4AA55-B9AF-6673-D837-4343DDA77410}"/>
              </a:ext>
            </a:extLst>
          </p:cNvPr>
          <p:cNvGraphicFramePr>
            <a:graphicFrameLocks noGrp="1"/>
          </p:cNvGraphicFramePr>
          <p:nvPr>
            <p:extLst>
              <p:ext uri="{D42A27DB-BD31-4B8C-83A1-F6EECF244321}">
                <p14:modId xmlns:p14="http://schemas.microsoft.com/office/powerpoint/2010/main" val="630298680"/>
              </p:ext>
            </p:extLst>
          </p:nvPr>
        </p:nvGraphicFramePr>
        <p:xfrm>
          <a:off x="5517581" y="903261"/>
          <a:ext cx="2962656" cy="1466818"/>
        </p:xfrm>
        <a:graphic>
          <a:graphicData uri="http://schemas.openxmlformats.org/drawingml/2006/table">
            <a:tbl>
              <a:tblPr firstRow="1" bandRow="1">
                <a:tableStyleId>{BFA11F67-8BD6-47EC-9F71-6CD8F6C066F8}</a:tableStyleId>
              </a:tblPr>
              <a:tblGrid>
                <a:gridCol w="1078992">
                  <a:extLst>
                    <a:ext uri="{9D8B030D-6E8A-4147-A177-3AD203B41FA5}">
                      <a16:colId xmlns:a16="http://schemas.microsoft.com/office/drawing/2014/main" val="1142209065"/>
                    </a:ext>
                  </a:extLst>
                </a:gridCol>
                <a:gridCol w="1883664">
                  <a:extLst>
                    <a:ext uri="{9D8B030D-6E8A-4147-A177-3AD203B41FA5}">
                      <a16:colId xmlns:a16="http://schemas.microsoft.com/office/drawing/2014/main" val="2977386956"/>
                    </a:ext>
                  </a:extLst>
                </a:gridCol>
              </a:tblGrid>
              <a:tr h="527302">
                <a:tc>
                  <a:txBody>
                    <a:bodyPr/>
                    <a:lstStyle/>
                    <a:p>
                      <a:r>
                        <a:rPr lang="en-US" dirty="0"/>
                        <a:t>Sex</a:t>
                      </a:r>
                    </a:p>
                  </a:txBody>
                  <a:tcPr/>
                </a:tc>
                <a:tc>
                  <a:txBody>
                    <a:bodyPr/>
                    <a:lstStyle/>
                    <a:p>
                      <a:r>
                        <a:rPr lang="en-US" dirty="0"/>
                        <a:t>Percentage garbage codes (%)</a:t>
                      </a:r>
                    </a:p>
                  </a:txBody>
                  <a:tcPr/>
                </a:tc>
                <a:extLst>
                  <a:ext uri="{0D108BD9-81ED-4DB2-BD59-A6C34878D82A}">
                    <a16:rowId xmlns:a16="http://schemas.microsoft.com/office/drawing/2014/main" val="1392087711"/>
                  </a:ext>
                </a:extLst>
              </a:tr>
              <a:tr h="469758">
                <a:tc>
                  <a:txBody>
                    <a:bodyPr/>
                    <a:lstStyle/>
                    <a:p>
                      <a:r>
                        <a:rPr lang="en-US" dirty="0"/>
                        <a:t>Female</a:t>
                      </a:r>
                    </a:p>
                  </a:txBody>
                  <a:tcPr/>
                </a:tc>
                <a:tc>
                  <a:txBody>
                    <a:bodyPr/>
                    <a:lstStyle/>
                    <a:p>
                      <a:r>
                        <a:rPr lang="en-US" dirty="0"/>
                        <a:t>6.9</a:t>
                      </a:r>
                    </a:p>
                  </a:txBody>
                  <a:tcPr/>
                </a:tc>
                <a:extLst>
                  <a:ext uri="{0D108BD9-81ED-4DB2-BD59-A6C34878D82A}">
                    <a16:rowId xmlns:a16="http://schemas.microsoft.com/office/drawing/2014/main" val="30744591"/>
                  </a:ext>
                </a:extLst>
              </a:tr>
              <a:tr h="469758">
                <a:tc>
                  <a:txBody>
                    <a:bodyPr/>
                    <a:lstStyle/>
                    <a:p>
                      <a:r>
                        <a:rPr lang="en-US" dirty="0"/>
                        <a:t>Male</a:t>
                      </a:r>
                    </a:p>
                  </a:txBody>
                  <a:tcPr/>
                </a:tc>
                <a:tc>
                  <a:txBody>
                    <a:bodyPr/>
                    <a:lstStyle/>
                    <a:p>
                      <a:r>
                        <a:rPr lang="en-US" dirty="0"/>
                        <a:t>7.8</a:t>
                      </a:r>
                    </a:p>
                  </a:txBody>
                  <a:tcPr/>
                </a:tc>
                <a:extLst>
                  <a:ext uri="{0D108BD9-81ED-4DB2-BD59-A6C34878D82A}">
                    <a16:rowId xmlns:a16="http://schemas.microsoft.com/office/drawing/2014/main" val="3998251909"/>
                  </a:ext>
                </a:extLst>
              </a:tr>
            </a:tbl>
          </a:graphicData>
        </a:graphic>
      </p:graphicFrame>
      <p:graphicFrame>
        <p:nvGraphicFramePr>
          <p:cNvPr id="3" name="Table 2">
            <a:extLst>
              <a:ext uri="{FF2B5EF4-FFF2-40B4-BE49-F238E27FC236}">
                <a16:creationId xmlns:a16="http://schemas.microsoft.com/office/drawing/2014/main" id="{E29F8505-737B-EB61-1F51-5C28E6D39D43}"/>
              </a:ext>
            </a:extLst>
          </p:cNvPr>
          <p:cNvGraphicFramePr>
            <a:graphicFrameLocks noGrp="1"/>
          </p:cNvGraphicFramePr>
          <p:nvPr>
            <p:extLst>
              <p:ext uri="{D42A27DB-BD31-4B8C-83A1-F6EECF244321}">
                <p14:modId xmlns:p14="http://schemas.microsoft.com/office/powerpoint/2010/main" val="693345311"/>
              </p:ext>
            </p:extLst>
          </p:nvPr>
        </p:nvGraphicFramePr>
        <p:xfrm>
          <a:off x="311700" y="2646040"/>
          <a:ext cx="4973532" cy="2346045"/>
        </p:xfrm>
        <a:graphic>
          <a:graphicData uri="http://schemas.openxmlformats.org/drawingml/2006/table">
            <a:tbl>
              <a:tblPr firstRow="1" bandRow="1">
                <a:tableStyleId>{BFA11F67-8BD6-47EC-9F71-6CD8F6C066F8}</a:tableStyleId>
              </a:tblPr>
              <a:tblGrid>
                <a:gridCol w="2486766">
                  <a:extLst>
                    <a:ext uri="{9D8B030D-6E8A-4147-A177-3AD203B41FA5}">
                      <a16:colId xmlns:a16="http://schemas.microsoft.com/office/drawing/2014/main" val="3989279615"/>
                    </a:ext>
                  </a:extLst>
                </a:gridCol>
                <a:gridCol w="2486766">
                  <a:extLst>
                    <a:ext uri="{9D8B030D-6E8A-4147-A177-3AD203B41FA5}">
                      <a16:colId xmlns:a16="http://schemas.microsoft.com/office/drawing/2014/main" val="4010461188"/>
                    </a:ext>
                  </a:extLst>
                </a:gridCol>
              </a:tblGrid>
              <a:tr h="499916">
                <a:tc>
                  <a:txBody>
                    <a:bodyPr/>
                    <a:lstStyle/>
                    <a:p>
                      <a:r>
                        <a:rPr lang="en-US" dirty="0"/>
                        <a:t>Marital Status</a:t>
                      </a:r>
                    </a:p>
                  </a:txBody>
                  <a:tcPr>
                    <a:solidFill>
                      <a:schemeClr val="accent6">
                        <a:lumMod val="40000"/>
                        <a:lumOff val="60000"/>
                      </a:schemeClr>
                    </a:solidFill>
                  </a:tcPr>
                </a:tc>
                <a:tc>
                  <a:txBody>
                    <a:bodyPr/>
                    <a:lstStyle/>
                    <a:p>
                      <a:r>
                        <a:rPr lang="en-US" dirty="0"/>
                        <a:t>Percentage garbage codes (%)</a:t>
                      </a:r>
                    </a:p>
                  </a:txBody>
                  <a:tcPr>
                    <a:solidFill>
                      <a:schemeClr val="accent6">
                        <a:lumMod val="40000"/>
                        <a:lumOff val="60000"/>
                      </a:schemeClr>
                    </a:solidFill>
                  </a:tcPr>
                </a:tc>
                <a:extLst>
                  <a:ext uri="{0D108BD9-81ED-4DB2-BD59-A6C34878D82A}">
                    <a16:rowId xmlns:a16="http://schemas.microsoft.com/office/drawing/2014/main" val="3441494424"/>
                  </a:ext>
                </a:extLst>
              </a:tr>
              <a:tr h="368625">
                <a:tc>
                  <a:txBody>
                    <a:bodyPr/>
                    <a:lstStyle/>
                    <a:p>
                      <a:r>
                        <a:rPr lang="en-US" dirty="0"/>
                        <a:t>Single</a:t>
                      </a:r>
                    </a:p>
                  </a:txBody>
                  <a:tcPr>
                    <a:solidFill>
                      <a:schemeClr val="accent6">
                        <a:lumMod val="40000"/>
                        <a:lumOff val="60000"/>
                      </a:schemeClr>
                    </a:solidFill>
                  </a:tcPr>
                </a:tc>
                <a:tc>
                  <a:txBody>
                    <a:bodyPr/>
                    <a:lstStyle/>
                    <a:p>
                      <a:r>
                        <a:rPr lang="en-US" dirty="0"/>
                        <a:t>14.4</a:t>
                      </a:r>
                    </a:p>
                  </a:txBody>
                  <a:tcPr>
                    <a:solidFill>
                      <a:schemeClr val="accent6">
                        <a:lumMod val="40000"/>
                        <a:lumOff val="60000"/>
                      </a:schemeClr>
                    </a:solidFill>
                  </a:tcPr>
                </a:tc>
                <a:extLst>
                  <a:ext uri="{0D108BD9-81ED-4DB2-BD59-A6C34878D82A}">
                    <a16:rowId xmlns:a16="http://schemas.microsoft.com/office/drawing/2014/main" val="1978091271"/>
                  </a:ext>
                </a:extLst>
              </a:tr>
              <a:tr h="368625">
                <a:tc>
                  <a:txBody>
                    <a:bodyPr/>
                    <a:lstStyle/>
                    <a:p>
                      <a:r>
                        <a:rPr lang="en-US" dirty="0"/>
                        <a:t>Unknown</a:t>
                      </a:r>
                    </a:p>
                  </a:txBody>
                  <a:tcPr>
                    <a:solidFill>
                      <a:schemeClr val="accent6">
                        <a:lumMod val="40000"/>
                        <a:lumOff val="60000"/>
                      </a:schemeClr>
                    </a:solidFill>
                  </a:tcPr>
                </a:tc>
                <a:tc>
                  <a:txBody>
                    <a:bodyPr/>
                    <a:lstStyle/>
                    <a:p>
                      <a:r>
                        <a:rPr lang="en-US" dirty="0"/>
                        <a:t>12.4</a:t>
                      </a:r>
                    </a:p>
                  </a:txBody>
                  <a:tcPr>
                    <a:solidFill>
                      <a:schemeClr val="accent6">
                        <a:lumMod val="40000"/>
                        <a:lumOff val="60000"/>
                      </a:schemeClr>
                    </a:solidFill>
                  </a:tcPr>
                </a:tc>
                <a:extLst>
                  <a:ext uri="{0D108BD9-81ED-4DB2-BD59-A6C34878D82A}">
                    <a16:rowId xmlns:a16="http://schemas.microsoft.com/office/drawing/2014/main" val="446706471"/>
                  </a:ext>
                </a:extLst>
              </a:tr>
              <a:tr h="368625">
                <a:tc>
                  <a:txBody>
                    <a:bodyPr/>
                    <a:lstStyle/>
                    <a:p>
                      <a:r>
                        <a:rPr lang="en-US" dirty="0"/>
                        <a:t>Divorced</a:t>
                      </a:r>
                    </a:p>
                  </a:txBody>
                  <a:tcPr>
                    <a:solidFill>
                      <a:schemeClr val="accent6">
                        <a:lumMod val="40000"/>
                        <a:lumOff val="60000"/>
                      </a:schemeClr>
                    </a:solidFill>
                  </a:tcPr>
                </a:tc>
                <a:tc>
                  <a:txBody>
                    <a:bodyPr/>
                    <a:lstStyle/>
                    <a:p>
                      <a:r>
                        <a:rPr lang="en-US" dirty="0"/>
                        <a:t>8.1</a:t>
                      </a:r>
                    </a:p>
                  </a:txBody>
                  <a:tcPr>
                    <a:solidFill>
                      <a:schemeClr val="accent6">
                        <a:lumMod val="40000"/>
                        <a:lumOff val="60000"/>
                      </a:schemeClr>
                    </a:solidFill>
                  </a:tcPr>
                </a:tc>
                <a:extLst>
                  <a:ext uri="{0D108BD9-81ED-4DB2-BD59-A6C34878D82A}">
                    <a16:rowId xmlns:a16="http://schemas.microsoft.com/office/drawing/2014/main" val="3537160196"/>
                  </a:ext>
                </a:extLst>
              </a:tr>
              <a:tr h="368625">
                <a:tc>
                  <a:txBody>
                    <a:bodyPr/>
                    <a:lstStyle/>
                    <a:p>
                      <a:r>
                        <a:rPr lang="en-US" dirty="0"/>
                        <a:t>Widowed</a:t>
                      </a:r>
                    </a:p>
                  </a:txBody>
                  <a:tcPr>
                    <a:solidFill>
                      <a:schemeClr val="accent6">
                        <a:lumMod val="40000"/>
                        <a:lumOff val="60000"/>
                      </a:schemeClr>
                    </a:solidFill>
                  </a:tcPr>
                </a:tc>
                <a:tc>
                  <a:txBody>
                    <a:bodyPr/>
                    <a:lstStyle/>
                    <a:p>
                      <a:r>
                        <a:rPr lang="en-US" dirty="0"/>
                        <a:t>5.7</a:t>
                      </a:r>
                    </a:p>
                  </a:txBody>
                  <a:tcPr>
                    <a:solidFill>
                      <a:schemeClr val="accent6">
                        <a:lumMod val="40000"/>
                        <a:lumOff val="60000"/>
                      </a:schemeClr>
                    </a:solidFill>
                  </a:tcPr>
                </a:tc>
                <a:extLst>
                  <a:ext uri="{0D108BD9-81ED-4DB2-BD59-A6C34878D82A}">
                    <a16:rowId xmlns:a16="http://schemas.microsoft.com/office/drawing/2014/main" val="2050751449"/>
                  </a:ext>
                </a:extLst>
              </a:tr>
              <a:tr h="368625">
                <a:tc>
                  <a:txBody>
                    <a:bodyPr/>
                    <a:lstStyle/>
                    <a:p>
                      <a:r>
                        <a:rPr lang="en-US" dirty="0"/>
                        <a:t>Married</a:t>
                      </a:r>
                    </a:p>
                  </a:txBody>
                  <a:tcPr>
                    <a:solidFill>
                      <a:schemeClr val="accent6">
                        <a:lumMod val="40000"/>
                        <a:lumOff val="60000"/>
                      </a:schemeClr>
                    </a:solidFill>
                  </a:tcPr>
                </a:tc>
                <a:tc>
                  <a:txBody>
                    <a:bodyPr/>
                    <a:lstStyle/>
                    <a:p>
                      <a:r>
                        <a:rPr lang="en-US" dirty="0"/>
                        <a:t>5.5</a:t>
                      </a:r>
                    </a:p>
                  </a:txBody>
                  <a:tcPr>
                    <a:solidFill>
                      <a:schemeClr val="accent6">
                        <a:lumMod val="40000"/>
                        <a:lumOff val="60000"/>
                      </a:schemeClr>
                    </a:solidFill>
                  </a:tcPr>
                </a:tc>
                <a:extLst>
                  <a:ext uri="{0D108BD9-81ED-4DB2-BD59-A6C34878D82A}">
                    <a16:rowId xmlns:a16="http://schemas.microsoft.com/office/drawing/2014/main" val="4210811717"/>
                  </a:ext>
                </a:extLst>
              </a:tr>
            </a:tbl>
          </a:graphicData>
        </a:graphic>
      </p:graphicFrame>
    </p:spTree>
    <p:extLst>
      <p:ext uri="{BB962C8B-B14F-4D97-AF65-F5344CB8AC3E}">
        <p14:creationId xmlns:p14="http://schemas.microsoft.com/office/powerpoint/2010/main" val="32450639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A2898B52-5AEC-35DE-B65E-E0B7822EF46F}"/>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FA0174A2-2CA0-C07C-B60D-FDFBB6071811}"/>
              </a:ext>
            </a:extLst>
          </p:cNvPr>
          <p:cNvGraphicFramePr>
            <a:graphicFrameLocks noGrp="1"/>
          </p:cNvGraphicFramePr>
          <p:nvPr>
            <p:extLst>
              <p:ext uri="{D42A27DB-BD31-4B8C-83A1-F6EECF244321}">
                <p14:modId xmlns:p14="http://schemas.microsoft.com/office/powerpoint/2010/main" val="1344757087"/>
              </p:ext>
            </p:extLst>
          </p:nvPr>
        </p:nvGraphicFramePr>
        <p:xfrm>
          <a:off x="219456" y="489966"/>
          <a:ext cx="3979884" cy="3925435"/>
        </p:xfrm>
        <a:graphic>
          <a:graphicData uri="http://schemas.openxmlformats.org/drawingml/2006/table">
            <a:tbl>
              <a:tblPr firstRow="1" bandRow="1">
                <a:tableStyleId>{BFA11F67-8BD6-47EC-9F71-6CD8F6C066F8}</a:tableStyleId>
              </a:tblPr>
              <a:tblGrid>
                <a:gridCol w="1989942">
                  <a:extLst>
                    <a:ext uri="{9D8B030D-6E8A-4147-A177-3AD203B41FA5}">
                      <a16:colId xmlns:a16="http://schemas.microsoft.com/office/drawing/2014/main" val="3989279615"/>
                    </a:ext>
                  </a:extLst>
                </a:gridCol>
                <a:gridCol w="1989942">
                  <a:extLst>
                    <a:ext uri="{9D8B030D-6E8A-4147-A177-3AD203B41FA5}">
                      <a16:colId xmlns:a16="http://schemas.microsoft.com/office/drawing/2014/main" val="4010461188"/>
                    </a:ext>
                  </a:extLst>
                </a:gridCol>
              </a:tblGrid>
              <a:tr h="444668">
                <a:tc>
                  <a:txBody>
                    <a:bodyPr/>
                    <a:lstStyle/>
                    <a:p>
                      <a:r>
                        <a:rPr lang="en-US" sz="1200" dirty="0"/>
                        <a:t>Education Status</a:t>
                      </a:r>
                    </a:p>
                  </a:txBody>
                  <a:tcPr>
                    <a:solidFill>
                      <a:schemeClr val="accent6">
                        <a:lumMod val="40000"/>
                        <a:lumOff val="60000"/>
                      </a:schemeClr>
                    </a:solidFill>
                  </a:tcPr>
                </a:tc>
                <a:tc>
                  <a:txBody>
                    <a:bodyPr/>
                    <a:lstStyle/>
                    <a:p>
                      <a:r>
                        <a:rPr lang="en-US" sz="1200" dirty="0"/>
                        <a:t>Percentage garbage codes (%)</a:t>
                      </a:r>
                    </a:p>
                  </a:txBody>
                  <a:tcPr>
                    <a:solidFill>
                      <a:schemeClr val="accent6">
                        <a:lumMod val="40000"/>
                        <a:lumOff val="60000"/>
                      </a:schemeClr>
                    </a:solidFill>
                  </a:tcPr>
                </a:tc>
                <a:extLst>
                  <a:ext uri="{0D108BD9-81ED-4DB2-BD59-A6C34878D82A}">
                    <a16:rowId xmlns:a16="http://schemas.microsoft.com/office/drawing/2014/main" val="3441494424"/>
                  </a:ext>
                </a:extLst>
              </a:tr>
              <a:tr h="327887">
                <a:tc>
                  <a:txBody>
                    <a:bodyPr/>
                    <a:lstStyle/>
                    <a:p>
                      <a:r>
                        <a:rPr lang="en-US" sz="1200" dirty="0"/>
                        <a:t>8</a:t>
                      </a:r>
                      <a:r>
                        <a:rPr lang="en-US" sz="1200" baseline="30000" dirty="0"/>
                        <a:t>th</a:t>
                      </a:r>
                      <a:r>
                        <a:rPr lang="en-US" sz="1200" dirty="0"/>
                        <a:t> grade or less</a:t>
                      </a:r>
                    </a:p>
                  </a:txBody>
                  <a:tcPr>
                    <a:solidFill>
                      <a:schemeClr val="accent6">
                        <a:lumMod val="40000"/>
                        <a:lumOff val="60000"/>
                      </a:schemeClr>
                    </a:solidFill>
                  </a:tcPr>
                </a:tc>
                <a:tc>
                  <a:txBody>
                    <a:bodyPr/>
                    <a:lstStyle/>
                    <a:p>
                      <a:r>
                        <a:rPr lang="en-US" sz="1200" dirty="0"/>
                        <a:t>5.8</a:t>
                      </a:r>
                    </a:p>
                  </a:txBody>
                  <a:tcPr>
                    <a:solidFill>
                      <a:schemeClr val="accent6">
                        <a:lumMod val="40000"/>
                        <a:lumOff val="60000"/>
                      </a:schemeClr>
                    </a:solidFill>
                  </a:tcPr>
                </a:tc>
                <a:extLst>
                  <a:ext uri="{0D108BD9-81ED-4DB2-BD59-A6C34878D82A}">
                    <a16:rowId xmlns:a16="http://schemas.microsoft.com/office/drawing/2014/main" val="1978091271"/>
                  </a:ext>
                </a:extLst>
              </a:tr>
              <a:tr h="327887">
                <a:tc>
                  <a:txBody>
                    <a:bodyPr/>
                    <a:lstStyle/>
                    <a:p>
                      <a:r>
                        <a:rPr lang="en-US" sz="1200" dirty="0"/>
                        <a:t>9</a:t>
                      </a:r>
                      <a:r>
                        <a:rPr lang="en-US" sz="1200" baseline="30000" dirty="0"/>
                        <a:t>th</a:t>
                      </a:r>
                      <a:r>
                        <a:rPr lang="en-US" sz="1200" dirty="0"/>
                        <a:t> - 12</a:t>
                      </a:r>
                      <a:r>
                        <a:rPr lang="en-US" sz="1200" baseline="30000" dirty="0"/>
                        <a:t>th</a:t>
                      </a:r>
                      <a:r>
                        <a:rPr lang="en-US" sz="1200" dirty="0"/>
                        <a:t> grade, no diploma</a:t>
                      </a:r>
                    </a:p>
                  </a:txBody>
                  <a:tcPr>
                    <a:solidFill>
                      <a:schemeClr val="accent6">
                        <a:lumMod val="40000"/>
                        <a:lumOff val="60000"/>
                      </a:schemeClr>
                    </a:solidFill>
                  </a:tcPr>
                </a:tc>
                <a:tc>
                  <a:txBody>
                    <a:bodyPr/>
                    <a:lstStyle/>
                    <a:p>
                      <a:r>
                        <a:rPr lang="en-US" sz="1200" dirty="0"/>
                        <a:t>9.0</a:t>
                      </a:r>
                    </a:p>
                  </a:txBody>
                  <a:tcPr>
                    <a:solidFill>
                      <a:schemeClr val="accent6">
                        <a:lumMod val="40000"/>
                        <a:lumOff val="60000"/>
                      </a:schemeClr>
                    </a:solidFill>
                  </a:tcPr>
                </a:tc>
                <a:extLst>
                  <a:ext uri="{0D108BD9-81ED-4DB2-BD59-A6C34878D82A}">
                    <a16:rowId xmlns:a16="http://schemas.microsoft.com/office/drawing/2014/main" val="446706471"/>
                  </a:ext>
                </a:extLst>
              </a:tr>
              <a:tr h="444668">
                <a:tc>
                  <a:txBody>
                    <a:bodyPr/>
                    <a:lstStyle/>
                    <a:p>
                      <a:r>
                        <a:rPr lang="en-US" sz="1200" dirty="0"/>
                        <a:t>High school graduate or GED completed</a:t>
                      </a:r>
                    </a:p>
                  </a:txBody>
                  <a:tcPr>
                    <a:solidFill>
                      <a:schemeClr val="accent6">
                        <a:lumMod val="40000"/>
                        <a:lumOff val="60000"/>
                      </a:schemeClr>
                    </a:solidFill>
                  </a:tcPr>
                </a:tc>
                <a:tc>
                  <a:txBody>
                    <a:bodyPr/>
                    <a:lstStyle/>
                    <a:p>
                      <a:r>
                        <a:rPr lang="en-US" sz="1200" dirty="0"/>
                        <a:t>7.8</a:t>
                      </a:r>
                    </a:p>
                  </a:txBody>
                  <a:tcPr>
                    <a:solidFill>
                      <a:schemeClr val="accent6">
                        <a:lumMod val="40000"/>
                        <a:lumOff val="60000"/>
                      </a:schemeClr>
                    </a:solidFill>
                  </a:tcPr>
                </a:tc>
                <a:extLst>
                  <a:ext uri="{0D108BD9-81ED-4DB2-BD59-A6C34878D82A}">
                    <a16:rowId xmlns:a16="http://schemas.microsoft.com/office/drawing/2014/main" val="3537160196"/>
                  </a:ext>
                </a:extLst>
              </a:tr>
              <a:tr h="444668">
                <a:tc>
                  <a:txBody>
                    <a:bodyPr/>
                    <a:lstStyle/>
                    <a:p>
                      <a:r>
                        <a:rPr lang="en-US" sz="1200" dirty="0"/>
                        <a:t>Some college credit, but no degree</a:t>
                      </a:r>
                    </a:p>
                  </a:txBody>
                  <a:tcPr>
                    <a:solidFill>
                      <a:schemeClr val="accent6">
                        <a:lumMod val="40000"/>
                        <a:lumOff val="60000"/>
                      </a:schemeClr>
                    </a:solidFill>
                  </a:tcPr>
                </a:tc>
                <a:tc>
                  <a:txBody>
                    <a:bodyPr/>
                    <a:lstStyle/>
                    <a:p>
                      <a:r>
                        <a:rPr lang="en-US" sz="1200" dirty="0"/>
                        <a:t>7.8</a:t>
                      </a:r>
                    </a:p>
                  </a:txBody>
                  <a:tcPr>
                    <a:solidFill>
                      <a:schemeClr val="accent6">
                        <a:lumMod val="40000"/>
                        <a:lumOff val="60000"/>
                      </a:schemeClr>
                    </a:solidFill>
                  </a:tcPr>
                </a:tc>
                <a:extLst>
                  <a:ext uri="{0D108BD9-81ED-4DB2-BD59-A6C34878D82A}">
                    <a16:rowId xmlns:a16="http://schemas.microsoft.com/office/drawing/2014/main" val="2050751449"/>
                  </a:ext>
                </a:extLst>
              </a:tr>
              <a:tr h="327887">
                <a:tc>
                  <a:txBody>
                    <a:bodyPr/>
                    <a:lstStyle/>
                    <a:p>
                      <a:r>
                        <a:rPr lang="en-US" sz="1200" dirty="0"/>
                        <a:t>Associate degree</a:t>
                      </a:r>
                    </a:p>
                  </a:txBody>
                  <a:tcPr>
                    <a:solidFill>
                      <a:schemeClr val="accent6">
                        <a:lumMod val="40000"/>
                        <a:lumOff val="60000"/>
                      </a:schemeClr>
                    </a:solidFill>
                  </a:tcPr>
                </a:tc>
                <a:tc>
                  <a:txBody>
                    <a:bodyPr/>
                    <a:lstStyle/>
                    <a:p>
                      <a:r>
                        <a:rPr lang="en-US" sz="1200" dirty="0"/>
                        <a:t>7.0</a:t>
                      </a:r>
                    </a:p>
                  </a:txBody>
                  <a:tcPr>
                    <a:solidFill>
                      <a:schemeClr val="accent6">
                        <a:lumMod val="40000"/>
                        <a:lumOff val="60000"/>
                      </a:schemeClr>
                    </a:solidFill>
                  </a:tcPr>
                </a:tc>
                <a:extLst>
                  <a:ext uri="{0D108BD9-81ED-4DB2-BD59-A6C34878D82A}">
                    <a16:rowId xmlns:a16="http://schemas.microsoft.com/office/drawing/2014/main" val="3600230402"/>
                  </a:ext>
                </a:extLst>
              </a:tr>
              <a:tr h="327887">
                <a:tc>
                  <a:txBody>
                    <a:bodyPr/>
                    <a:lstStyle/>
                    <a:p>
                      <a:r>
                        <a:rPr lang="en-US" sz="1200" dirty="0"/>
                        <a:t>Bachelor’s degree</a:t>
                      </a:r>
                    </a:p>
                  </a:txBody>
                  <a:tcPr>
                    <a:solidFill>
                      <a:schemeClr val="accent6">
                        <a:lumMod val="40000"/>
                        <a:lumOff val="60000"/>
                      </a:schemeClr>
                    </a:solidFill>
                  </a:tcPr>
                </a:tc>
                <a:tc>
                  <a:txBody>
                    <a:bodyPr/>
                    <a:lstStyle/>
                    <a:p>
                      <a:r>
                        <a:rPr lang="en-US" sz="1200" dirty="0"/>
                        <a:t>6.1</a:t>
                      </a:r>
                    </a:p>
                  </a:txBody>
                  <a:tcPr>
                    <a:solidFill>
                      <a:schemeClr val="accent6">
                        <a:lumMod val="40000"/>
                        <a:lumOff val="60000"/>
                      </a:schemeClr>
                    </a:solidFill>
                  </a:tcPr>
                </a:tc>
                <a:extLst>
                  <a:ext uri="{0D108BD9-81ED-4DB2-BD59-A6C34878D82A}">
                    <a16:rowId xmlns:a16="http://schemas.microsoft.com/office/drawing/2014/main" val="2302135002"/>
                  </a:ext>
                </a:extLst>
              </a:tr>
              <a:tr h="327887">
                <a:tc>
                  <a:txBody>
                    <a:bodyPr/>
                    <a:lstStyle/>
                    <a:p>
                      <a:r>
                        <a:rPr lang="en-US" sz="1200" dirty="0"/>
                        <a:t>Master’s degree</a:t>
                      </a:r>
                    </a:p>
                  </a:txBody>
                  <a:tcPr>
                    <a:solidFill>
                      <a:schemeClr val="accent6">
                        <a:lumMod val="40000"/>
                        <a:lumOff val="60000"/>
                      </a:schemeClr>
                    </a:solidFill>
                  </a:tcPr>
                </a:tc>
                <a:tc>
                  <a:txBody>
                    <a:bodyPr/>
                    <a:lstStyle/>
                    <a:p>
                      <a:r>
                        <a:rPr lang="en-US" sz="1200" dirty="0"/>
                        <a:t>5.5</a:t>
                      </a:r>
                    </a:p>
                  </a:txBody>
                  <a:tcPr>
                    <a:solidFill>
                      <a:schemeClr val="accent6">
                        <a:lumMod val="40000"/>
                        <a:lumOff val="60000"/>
                      </a:schemeClr>
                    </a:solidFill>
                  </a:tcPr>
                </a:tc>
                <a:extLst>
                  <a:ext uri="{0D108BD9-81ED-4DB2-BD59-A6C34878D82A}">
                    <a16:rowId xmlns:a16="http://schemas.microsoft.com/office/drawing/2014/main" val="1840912725"/>
                  </a:ext>
                </a:extLst>
              </a:tr>
              <a:tr h="444668">
                <a:tc>
                  <a:txBody>
                    <a:bodyPr/>
                    <a:lstStyle/>
                    <a:p>
                      <a:r>
                        <a:rPr lang="en-US" sz="1200" dirty="0"/>
                        <a:t>Doctorate or professional degree</a:t>
                      </a:r>
                    </a:p>
                  </a:txBody>
                  <a:tcPr>
                    <a:solidFill>
                      <a:schemeClr val="accent6">
                        <a:lumMod val="40000"/>
                        <a:lumOff val="60000"/>
                      </a:schemeClr>
                    </a:solidFill>
                  </a:tcPr>
                </a:tc>
                <a:tc>
                  <a:txBody>
                    <a:bodyPr/>
                    <a:lstStyle/>
                    <a:p>
                      <a:r>
                        <a:rPr lang="en-US" sz="1200" dirty="0"/>
                        <a:t>5.0</a:t>
                      </a:r>
                    </a:p>
                  </a:txBody>
                  <a:tcPr>
                    <a:solidFill>
                      <a:schemeClr val="accent6">
                        <a:lumMod val="40000"/>
                        <a:lumOff val="60000"/>
                      </a:schemeClr>
                    </a:solidFill>
                  </a:tcPr>
                </a:tc>
                <a:extLst>
                  <a:ext uri="{0D108BD9-81ED-4DB2-BD59-A6C34878D82A}">
                    <a16:rowId xmlns:a16="http://schemas.microsoft.com/office/drawing/2014/main" val="1468553211"/>
                  </a:ext>
                </a:extLst>
              </a:tr>
              <a:tr h="327887">
                <a:tc>
                  <a:txBody>
                    <a:bodyPr/>
                    <a:lstStyle/>
                    <a:p>
                      <a:r>
                        <a:rPr lang="en-US" sz="1200" dirty="0"/>
                        <a:t>Unknown</a:t>
                      </a:r>
                    </a:p>
                  </a:txBody>
                  <a:tcPr>
                    <a:solidFill>
                      <a:schemeClr val="accent6">
                        <a:lumMod val="40000"/>
                        <a:lumOff val="60000"/>
                      </a:schemeClr>
                    </a:solidFill>
                  </a:tcPr>
                </a:tc>
                <a:tc>
                  <a:txBody>
                    <a:bodyPr/>
                    <a:lstStyle/>
                    <a:p>
                      <a:r>
                        <a:rPr lang="en-US" sz="1200" dirty="0"/>
                        <a:t>9.5</a:t>
                      </a:r>
                    </a:p>
                  </a:txBody>
                  <a:tcPr>
                    <a:solidFill>
                      <a:schemeClr val="accent6">
                        <a:lumMod val="40000"/>
                        <a:lumOff val="60000"/>
                      </a:schemeClr>
                    </a:solidFill>
                  </a:tcPr>
                </a:tc>
                <a:extLst>
                  <a:ext uri="{0D108BD9-81ED-4DB2-BD59-A6C34878D82A}">
                    <a16:rowId xmlns:a16="http://schemas.microsoft.com/office/drawing/2014/main" val="3446963874"/>
                  </a:ext>
                </a:extLst>
              </a:tr>
            </a:tbl>
          </a:graphicData>
        </a:graphic>
      </p:graphicFrame>
      <p:graphicFrame>
        <p:nvGraphicFramePr>
          <p:cNvPr id="2" name="Table 1">
            <a:extLst>
              <a:ext uri="{FF2B5EF4-FFF2-40B4-BE49-F238E27FC236}">
                <a16:creationId xmlns:a16="http://schemas.microsoft.com/office/drawing/2014/main" id="{01544B8E-2664-E965-1884-69CC43D8C208}"/>
              </a:ext>
            </a:extLst>
          </p:cNvPr>
          <p:cNvGraphicFramePr>
            <a:graphicFrameLocks noGrp="1"/>
          </p:cNvGraphicFramePr>
          <p:nvPr>
            <p:extLst>
              <p:ext uri="{D42A27DB-BD31-4B8C-83A1-F6EECF244321}">
                <p14:modId xmlns:p14="http://schemas.microsoft.com/office/powerpoint/2010/main" val="558365693"/>
              </p:ext>
            </p:extLst>
          </p:nvPr>
        </p:nvGraphicFramePr>
        <p:xfrm>
          <a:off x="4572000" y="489965"/>
          <a:ext cx="3979884" cy="3332527"/>
        </p:xfrm>
        <a:graphic>
          <a:graphicData uri="http://schemas.openxmlformats.org/drawingml/2006/table">
            <a:tbl>
              <a:tblPr firstRow="1" bandRow="1">
                <a:tableStyleId>{BFA11F67-8BD6-47EC-9F71-6CD8F6C066F8}</a:tableStyleId>
              </a:tblPr>
              <a:tblGrid>
                <a:gridCol w="1989942">
                  <a:extLst>
                    <a:ext uri="{9D8B030D-6E8A-4147-A177-3AD203B41FA5}">
                      <a16:colId xmlns:a16="http://schemas.microsoft.com/office/drawing/2014/main" val="3989279615"/>
                    </a:ext>
                  </a:extLst>
                </a:gridCol>
                <a:gridCol w="1989942">
                  <a:extLst>
                    <a:ext uri="{9D8B030D-6E8A-4147-A177-3AD203B41FA5}">
                      <a16:colId xmlns:a16="http://schemas.microsoft.com/office/drawing/2014/main" val="4010461188"/>
                    </a:ext>
                  </a:extLst>
                </a:gridCol>
              </a:tblGrid>
              <a:tr h="444668">
                <a:tc>
                  <a:txBody>
                    <a:bodyPr/>
                    <a:lstStyle/>
                    <a:p>
                      <a:r>
                        <a:rPr lang="en-US" sz="1200" dirty="0"/>
                        <a:t>Day of the Week</a:t>
                      </a:r>
                    </a:p>
                  </a:txBody>
                  <a:tcPr>
                    <a:solidFill>
                      <a:schemeClr val="accent6">
                        <a:lumMod val="40000"/>
                        <a:lumOff val="60000"/>
                      </a:schemeClr>
                    </a:solidFill>
                  </a:tcPr>
                </a:tc>
                <a:tc>
                  <a:txBody>
                    <a:bodyPr/>
                    <a:lstStyle/>
                    <a:p>
                      <a:r>
                        <a:rPr lang="en-US" sz="1200" dirty="0"/>
                        <a:t>Percentage garbage codes (%)</a:t>
                      </a:r>
                    </a:p>
                  </a:txBody>
                  <a:tcPr>
                    <a:solidFill>
                      <a:schemeClr val="accent6">
                        <a:lumMod val="40000"/>
                        <a:lumOff val="60000"/>
                      </a:schemeClr>
                    </a:solidFill>
                  </a:tcPr>
                </a:tc>
                <a:extLst>
                  <a:ext uri="{0D108BD9-81ED-4DB2-BD59-A6C34878D82A}">
                    <a16:rowId xmlns:a16="http://schemas.microsoft.com/office/drawing/2014/main" val="3441494424"/>
                  </a:ext>
                </a:extLst>
              </a:tr>
              <a:tr h="327887">
                <a:tc>
                  <a:txBody>
                    <a:bodyPr/>
                    <a:lstStyle/>
                    <a:p>
                      <a:r>
                        <a:rPr lang="en-US" sz="1200" dirty="0"/>
                        <a:t>Monday</a:t>
                      </a:r>
                    </a:p>
                  </a:txBody>
                  <a:tcPr>
                    <a:solidFill>
                      <a:schemeClr val="accent6">
                        <a:lumMod val="40000"/>
                        <a:lumOff val="60000"/>
                      </a:schemeClr>
                    </a:solidFill>
                  </a:tcPr>
                </a:tc>
                <a:tc>
                  <a:txBody>
                    <a:bodyPr/>
                    <a:lstStyle/>
                    <a:p>
                      <a:r>
                        <a:rPr lang="en-US" sz="1200" dirty="0"/>
                        <a:t>7.7</a:t>
                      </a:r>
                    </a:p>
                  </a:txBody>
                  <a:tcPr>
                    <a:solidFill>
                      <a:schemeClr val="accent6">
                        <a:lumMod val="40000"/>
                        <a:lumOff val="60000"/>
                      </a:schemeClr>
                    </a:solidFill>
                  </a:tcPr>
                </a:tc>
                <a:extLst>
                  <a:ext uri="{0D108BD9-81ED-4DB2-BD59-A6C34878D82A}">
                    <a16:rowId xmlns:a16="http://schemas.microsoft.com/office/drawing/2014/main" val="1978091271"/>
                  </a:ext>
                </a:extLst>
              </a:tr>
              <a:tr h="327887">
                <a:tc>
                  <a:txBody>
                    <a:bodyPr/>
                    <a:lstStyle/>
                    <a:p>
                      <a:r>
                        <a:rPr lang="en-US" sz="1200" dirty="0"/>
                        <a:t>Tuesday</a:t>
                      </a:r>
                    </a:p>
                  </a:txBody>
                  <a:tcPr>
                    <a:solidFill>
                      <a:schemeClr val="accent6">
                        <a:lumMod val="40000"/>
                        <a:lumOff val="60000"/>
                      </a:schemeClr>
                    </a:solidFill>
                  </a:tcPr>
                </a:tc>
                <a:tc>
                  <a:txBody>
                    <a:bodyPr/>
                    <a:lstStyle/>
                    <a:p>
                      <a:r>
                        <a:rPr lang="en-US" sz="1200" dirty="0"/>
                        <a:t>7.3</a:t>
                      </a:r>
                    </a:p>
                  </a:txBody>
                  <a:tcPr>
                    <a:solidFill>
                      <a:schemeClr val="accent6">
                        <a:lumMod val="40000"/>
                        <a:lumOff val="60000"/>
                      </a:schemeClr>
                    </a:solidFill>
                  </a:tcPr>
                </a:tc>
                <a:extLst>
                  <a:ext uri="{0D108BD9-81ED-4DB2-BD59-A6C34878D82A}">
                    <a16:rowId xmlns:a16="http://schemas.microsoft.com/office/drawing/2014/main" val="446706471"/>
                  </a:ext>
                </a:extLst>
              </a:tr>
              <a:tr h="444668">
                <a:tc>
                  <a:txBody>
                    <a:bodyPr/>
                    <a:lstStyle/>
                    <a:p>
                      <a:r>
                        <a:rPr lang="en-US" sz="1200" dirty="0"/>
                        <a:t>Wednesday</a:t>
                      </a:r>
                    </a:p>
                  </a:txBody>
                  <a:tcPr>
                    <a:solidFill>
                      <a:schemeClr val="accent6">
                        <a:lumMod val="40000"/>
                        <a:lumOff val="60000"/>
                      </a:schemeClr>
                    </a:solidFill>
                  </a:tcPr>
                </a:tc>
                <a:tc>
                  <a:txBody>
                    <a:bodyPr/>
                    <a:lstStyle/>
                    <a:p>
                      <a:r>
                        <a:rPr lang="en-US" sz="1200" dirty="0"/>
                        <a:t>7.3</a:t>
                      </a:r>
                    </a:p>
                  </a:txBody>
                  <a:tcPr>
                    <a:solidFill>
                      <a:schemeClr val="accent6">
                        <a:lumMod val="40000"/>
                        <a:lumOff val="60000"/>
                      </a:schemeClr>
                    </a:solidFill>
                  </a:tcPr>
                </a:tc>
                <a:extLst>
                  <a:ext uri="{0D108BD9-81ED-4DB2-BD59-A6C34878D82A}">
                    <a16:rowId xmlns:a16="http://schemas.microsoft.com/office/drawing/2014/main" val="3537160196"/>
                  </a:ext>
                </a:extLst>
              </a:tr>
              <a:tr h="444668">
                <a:tc>
                  <a:txBody>
                    <a:bodyPr/>
                    <a:lstStyle/>
                    <a:p>
                      <a:r>
                        <a:rPr lang="en-US" sz="1200" dirty="0"/>
                        <a:t>Thursday</a:t>
                      </a:r>
                    </a:p>
                  </a:txBody>
                  <a:tcPr>
                    <a:solidFill>
                      <a:schemeClr val="accent6">
                        <a:lumMod val="40000"/>
                        <a:lumOff val="60000"/>
                      </a:schemeClr>
                    </a:solidFill>
                  </a:tcPr>
                </a:tc>
                <a:tc>
                  <a:txBody>
                    <a:bodyPr/>
                    <a:lstStyle/>
                    <a:p>
                      <a:r>
                        <a:rPr lang="en-US" sz="1200" dirty="0"/>
                        <a:t>7.3</a:t>
                      </a:r>
                    </a:p>
                  </a:txBody>
                  <a:tcPr>
                    <a:solidFill>
                      <a:schemeClr val="accent6">
                        <a:lumMod val="40000"/>
                        <a:lumOff val="60000"/>
                      </a:schemeClr>
                    </a:solidFill>
                  </a:tcPr>
                </a:tc>
                <a:extLst>
                  <a:ext uri="{0D108BD9-81ED-4DB2-BD59-A6C34878D82A}">
                    <a16:rowId xmlns:a16="http://schemas.microsoft.com/office/drawing/2014/main" val="2050751449"/>
                  </a:ext>
                </a:extLst>
              </a:tr>
              <a:tr h="327887">
                <a:tc>
                  <a:txBody>
                    <a:bodyPr/>
                    <a:lstStyle/>
                    <a:p>
                      <a:r>
                        <a:rPr lang="en-US" sz="1200" dirty="0"/>
                        <a:t>Friday</a:t>
                      </a:r>
                    </a:p>
                  </a:txBody>
                  <a:tcPr>
                    <a:solidFill>
                      <a:schemeClr val="accent6">
                        <a:lumMod val="40000"/>
                        <a:lumOff val="60000"/>
                      </a:schemeClr>
                    </a:solidFill>
                  </a:tcPr>
                </a:tc>
                <a:tc>
                  <a:txBody>
                    <a:bodyPr/>
                    <a:lstStyle/>
                    <a:p>
                      <a:r>
                        <a:rPr lang="en-US" sz="1200" dirty="0"/>
                        <a:t>7.3</a:t>
                      </a:r>
                    </a:p>
                  </a:txBody>
                  <a:tcPr>
                    <a:solidFill>
                      <a:schemeClr val="accent6">
                        <a:lumMod val="40000"/>
                        <a:lumOff val="60000"/>
                      </a:schemeClr>
                    </a:solidFill>
                  </a:tcPr>
                </a:tc>
                <a:extLst>
                  <a:ext uri="{0D108BD9-81ED-4DB2-BD59-A6C34878D82A}">
                    <a16:rowId xmlns:a16="http://schemas.microsoft.com/office/drawing/2014/main" val="3600230402"/>
                  </a:ext>
                </a:extLst>
              </a:tr>
              <a:tr h="327887">
                <a:tc>
                  <a:txBody>
                    <a:bodyPr/>
                    <a:lstStyle/>
                    <a:p>
                      <a:r>
                        <a:rPr lang="en-US" sz="1200" dirty="0"/>
                        <a:t>Saturday</a:t>
                      </a:r>
                    </a:p>
                  </a:txBody>
                  <a:tcPr>
                    <a:solidFill>
                      <a:schemeClr val="accent6">
                        <a:lumMod val="40000"/>
                        <a:lumOff val="60000"/>
                      </a:schemeClr>
                    </a:solidFill>
                  </a:tcPr>
                </a:tc>
                <a:tc>
                  <a:txBody>
                    <a:bodyPr/>
                    <a:lstStyle/>
                    <a:p>
                      <a:r>
                        <a:rPr lang="en-US" sz="1200" dirty="0"/>
                        <a:t>7.4</a:t>
                      </a:r>
                    </a:p>
                  </a:txBody>
                  <a:tcPr>
                    <a:solidFill>
                      <a:schemeClr val="accent6">
                        <a:lumMod val="40000"/>
                        <a:lumOff val="60000"/>
                      </a:schemeClr>
                    </a:solidFill>
                  </a:tcPr>
                </a:tc>
                <a:extLst>
                  <a:ext uri="{0D108BD9-81ED-4DB2-BD59-A6C34878D82A}">
                    <a16:rowId xmlns:a16="http://schemas.microsoft.com/office/drawing/2014/main" val="2302135002"/>
                  </a:ext>
                </a:extLst>
              </a:tr>
              <a:tr h="327887">
                <a:tc>
                  <a:txBody>
                    <a:bodyPr/>
                    <a:lstStyle/>
                    <a:p>
                      <a:r>
                        <a:rPr lang="en-US" sz="1200" dirty="0"/>
                        <a:t>Sunday</a:t>
                      </a:r>
                    </a:p>
                  </a:txBody>
                  <a:tcPr>
                    <a:solidFill>
                      <a:schemeClr val="accent6">
                        <a:lumMod val="40000"/>
                        <a:lumOff val="60000"/>
                      </a:schemeClr>
                    </a:solidFill>
                  </a:tcPr>
                </a:tc>
                <a:tc>
                  <a:txBody>
                    <a:bodyPr/>
                    <a:lstStyle/>
                    <a:p>
                      <a:r>
                        <a:rPr lang="en-US" sz="1200" dirty="0"/>
                        <a:t>7.6</a:t>
                      </a:r>
                    </a:p>
                  </a:txBody>
                  <a:tcPr>
                    <a:solidFill>
                      <a:schemeClr val="accent6">
                        <a:lumMod val="40000"/>
                        <a:lumOff val="60000"/>
                      </a:schemeClr>
                    </a:solidFill>
                  </a:tcPr>
                </a:tc>
                <a:extLst>
                  <a:ext uri="{0D108BD9-81ED-4DB2-BD59-A6C34878D82A}">
                    <a16:rowId xmlns:a16="http://schemas.microsoft.com/office/drawing/2014/main" val="1840912725"/>
                  </a:ext>
                </a:extLst>
              </a:tr>
              <a:tr h="346556">
                <a:tc>
                  <a:txBody>
                    <a:bodyPr/>
                    <a:lstStyle/>
                    <a:p>
                      <a:r>
                        <a:rPr lang="en-US" sz="1200" dirty="0"/>
                        <a:t>Unknown</a:t>
                      </a:r>
                    </a:p>
                  </a:txBody>
                  <a:tcPr>
                    <a:solidFill>
                      <a:schemeClr val="accent6">
                        <a:lumMod val="40000"/>
                        <a:lumOff val="60000"/>
                      </a:schemeClr>
                    </a:solidFill>
                  </a:tcPr>
                </a:tc>
                <a:tc>
                  <a:txBody>
                    <a:bodyPr/>
                    <a:lstStyle/>
                    <a:p>
                      <a:r>
                        <a:rPr lang="en-US" sz="1200" dirty="0"/>
                        <a:t>14.1</a:t>
                      </a:r>
                    </a:p>
                  </a:txBody>
                  <a:tcPr>
                    <a:solidFill>
                      <a:schemeClr val="accent6">
                        <a:lumMod val="40000"/>
                        <a:lumOff val="60000"/>
                      </a:schemeClr>
                    </a:solidFill>
                  </a:tcPr>
                </a:tc>
                <a:extLst>
                  <a:ext uri="{0D108BD9-81ED-4DB2-BD59-A6C34878D82A}">
                    <a16:rowId xmlns:a16="http://schemas.microsoft.com/office/drawing/2014/main" val="1468553211"/>
                  </a:ext>
                </a:extLst>
              </a:tr>
            </a:tbl>
          </a:graphicData>
        </a:graphic>
      </p:graphicFrame>
      <p:sp>
        <p:nvSpPr>
          <p:cNvPr id="3" name="TextBox 2">
            <a:extLst>
              <a:ext uri="{FF2B5EF4-FFF2-40B4-BE49-F238E27FC236}">
                <a16:creationId xmlns:a16="http://schemas.microsoft.com/office/drawing/2014/main" id="{DA502DE9-D606-6587-5A58-309864AEFDEC}"/>
              </a:ext>
            </a:extLst>
          </p:cNvPr>
          <p:cNvSpPr txBox="1"/>
          <p:nvPr/>
        </p:nvSpPr>
        <p:spPr>
          <a:xfrm>
            <a:off x="219456" y="4512158"/>
            <a:ext cx="5338118" cy="523220"/>
          </a:xfrm>
          <a:prstGeom prst="rect">
            <a:avLst/>
          </a:prstGeom>
          <a:noFill/>
        </p:spPr>
        <p:txBody>
          <a:bodyPr wrap="square" rtlCol="0">
            <a:spAutoFit/>
          </a:bodyPr>
          <a:lstStyle/>
          <a:p>
            <a:r>
              <a:rPr lang="en-US" sz="1400" dirty="0"/>
              <a:t>The educational gap widened considerably since 2016. (8</a:t>
            </a:r>
            <a:r>
              <a:rPr lang="en-US" sz="1400" baseline="30000" dirty="0"/>
              <a:t>th</a:t>
            </a:r>
            <a:r>
              <a:rPr lang="en-US" sz="1400" dirty="0"/>
              <a:t> grade or less could be that they are in an older age cohort)</a:t>
            </a:r>
          </a:p>
        </p:txBody>
      </p:sp>
    </p:spTree>
    <p:extLst>
      <p:ext uri="{BB962C8B-B14F-4D97-AF65-F5344CB8AC3E}">
        <p14:creationId xmlns:p14="http://schemas.microsoft.com/office/powerpoint/2010/main" val="9916453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235C41E1-C0F9-9920-378F-CD24A62B8BE3}"/>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AC75F023-15D3-AB9C-20EA-0F449BAF18CF}"/>
              </a:ext>
            </a:extLst>
          </p:cNvPr>
          <p:cNvGraphicFramePr>
            <a:graphicFrameLocks noGrp="1"/>
          </p:cNvGraphicFramePr>
          <p:nvPr>
            <p:extLst>
              <p:ext uri="{D42A27DB-BD31-4B8C-83A1-F6EECF244321}">
                <p14:modId xmlns:p14="http://schemas.microsoft.com/office/powerpoint/2010/main" val="3615936240"/>
              </p:ext>
            </p:extLst>
          </p:nvPr>
        </p:nvGraphicFramePr>
        <p:xfrm>
          <a:off x="462602" y="298385"/>
          <a:ext cx="3839576" cy="4575162"/>
        </p:xfrm>
        <a:graphic>
          <a:graphicData uri="http://schemas.openxmlformats.org/drawingml/2006/table">
            <a:tbl>
              <a:tblPr firstRow="1" bandRow="1">
                <a:tableStyleId>{BFA11F67-8BD6-47EC-9F71-6CD8F6C066F8}</a:tableStyleId>
              </a:tblPr>
              <a:tblGrid>
                <a:gridCol w="1849634">
                  <a:extLst>
                    <a:ext uri="{9D8B030D-6E8A-4147-A177-3AD203B41FA5}">
                      <a16:colId xmlns:a16="http://schemas.microsoft.com/office/drawing/2014/main" val="3989279615"/>
                    </a:ext>
                  </a:extLst>
                </a:gridCol>
                <a:gridCol w="1989942">
                  <a:extLst>
                    <a:ext uri="{9D8B030D-6E8A-4147-A177-3AD203B41FA5}">
                      <a16:colId xmlns:a16="http://schemas.microsoft.com/office/drawing/2014/main" val="4010461188"/>
                    </a:ext>
                  </a:extLst>
                </a:gridCol>
              </a:tblGrid>
              <a:tr h="444668">
                <a:tc>
                  <a:txBody>
                    <a:bodyPr/>
                    <a:lstStyle/>
                    <a:p>
                      <a:r>
                        <a:rPr lang="en-US" sz="1200" dirty="0"/>
                        <a:t>Place of Death</a:t>
                      </a:r>
                    </a:p>
                  </a:txBody>
                  <a:tcPr>
                    <a:solidFill>
                      <a:schemeClr val="accent6">
                        <a:lumMod val="40000"/>
                        <a:lumOff val="60000"/>
                      </a:schemeClr>
                    </a:solidFill>
                  </a:tcPr>
                </a:tc>
                <a:tc>
                  <a:txBody>
                    <a:bodyPr/>
                    <a:lstStyle/>
                    <a:p>
                      <a:r>
                        <a:rPr lang="en-US" sz="1200" dirty="0"/>
                        <a:t>Percentage garbage codes (%)</a:t>
                      </a:r>
                    </a:p>
                  </a:txBody>
                  <a:tcPr>
                    <a:solidFill>
                      <a:schemeClr val="accent6">
                        <a:lumMod val="40000"/>
                        <a:lumOff val="60000"/>
                      </a:schemeClr>
                    </a:solidFill>
                  </a:tcPr>
                </a:tc>
                <a:extLst>
                  <a:ext uri="{0D108BD9-81ED-4DB2-BD59-A6C34878D82A}">
                    <a16:rowId xmlns:a16="http://schemas.microsoft.com/office/drawing/2014/main" val="3441494424"/>
                  </a:ext>
                </a:extLst>
              </a:tr>
              <a:tr h="327887">
                <a:tc>
                  <a:txBody>
                    <a:bodyPr/>
                    <a:lstStyle/>
                    <a:p>
                      <a:r>
                        <a:rPr lang="en-US" sz="1200" dirty="0"/>
                        <a:t>Hospital, clinic or Medical Center</a:t>
                      </a:r>
                      <a:br>
                        <a:rPr lang="en-US" sz="1200" dirty="0"/>
                      </a:br>
                      <a:r>
                        <a:rPr lang="en-US" sz="1200" dirty="0"/>
                        <a:t>- Inpatient</a:t>
                      </a:r>
                    </a:p>
                  </a:txBody>
                  <a:tcPr>
                    <a:solidFill>
                      <a:schemeClr val="accent6">
                        <a:lumMod val="40000"/>
                        <a:lumOff val="60000"/>
                      </a:schemeClr>
                    </a:solidFill>
                  </a:tcPr>
                </a:tc>
                <a:tc>
                  <a:txBody>
                    <a:bodyPr/>
                    <a:lstStyle/>
                    <a:p>
                      <a:r>
                        <a:rPr lang="en-US" sz="1200" dirty="0"/>
                        <a:t>5.4</a:t>
                      </a:r>
                    </a:p>
                  </a:txBody>
                  <a:tcPr>
                    <a:solidFill>
                      <a:schemeClr val="accent6">
                        <a:lumMod val="40000"/>
                        <a:lumOff val="60000"/>
                      </a:schemeClr>
                    </a:solidFill>
                  </a:tcPr>
                </a:tc>
                <a:extLst>
                  <a:ext uri="{0D108BD9-81ED-4DB2-BD59-A6C34878D82A}">
                    <a16:rowId xmlns:a16="http://schemas.microsoft.com/office/drawing/2014/main" val="1978091271"/>
                  </a:ext>
                </a:extLst>
              </a:tr>
              <a:tr h="327887">
                <a:tc>
                  <a:txBody>
                    <a:bodyPr/>
                    <a:lstStyle/>
                    <a:p>
                      <a:r>
                        <a:rPr lang="en-US" sz="1200" dirty="0"/>
                        <a:t>Hospital, Clinic or Medical Center</a:t>
                      </a:r>
                      <a:br>
                        <a:rPr lang="en-US" sz="1200" dirty="0"/>
                      </a:br>
                      <a:r>
                        <a:rPr lang="en-US" sz="1200" dirty="0"/>
                        <a:t>- Outpatient or admitted to Emergency Room </a:t>
                      </a:r>
                    </a:p>
                  </a:txBody>
                  <a:tcPr>
                    <a:solidFill>
                      <a:schemeClr val="accent6">
                        <a:lumMod val="40000"/>
                        <a:lumOff val="60000"/>
                      </a:schemeClr>
                    </a:solidFill>
                  </a:tcPr>
                </a:tc>
                <a:tc>
                  <a:txBody>
                    <a:bodyPr/>
                    <a:lstStyle/>
                    <a:p>
                      <a:r>
                        <a:rPr lang="en-US" sz="1200" dirty="0"/>
                        <a:t>10.0</a:t>
                      </a:r>
                    </a:p>
                  </a:txBody>
                  <a:tcPr>
                    <a:solidFill>
                      <a:schemeClr val="accent6">
                        <a:lumMod val="40000"/>
                        <a:lumOff val="60000"/>
                      </a:schemeClr>
                    </a:solidFill>
                  </a:tcPr>
                </a:tc>
                <a:extLst>
                  <a:ext uri="{0D108BD9-81ED-4DB2-BD59-A6C34878D82A}">
                    <a16:rowId xmlns:a16="http://schemas.microsoft.com/office/drawing/2014/main" val="446706471"/>
                  </a:ext>
                </a:extLst>
              </a:tr>
              <a:tr h="444668">
                <a:tc>
                  <a:txBody>
                    <a:bodyPr/>
                    <a:lstStyle/>
                    <a:p>
                      <a:r>
                        <a:rPr lang="en-US" sz="1200" dirty="0"/>
                        <a:t>Hospital, Clinic or Medical Center </a:t>
                      </a:r>
                    </a:p>
                    <a:p>
                      <a:r>
                        <a:rPr lang="en-US" sz="1200" dirty="0"/>
                        <a:t>- Dead on Arrival</a:t>
                      </a:r>
                    </a:p>
                  </a:txBody>
                  <a:tcPr>
                    <a:solidFill>
                      <a:schemeClr val="accent6">
                        <a:lumMod val="40000"/>
                        <a:lumOff val="60000"/>
                      </a:schemeClr>
                    </a:solidFill>
                  </a:tcPr>
                </a:tc>
                <a:tc>
                  <a:txBody>
                    <a:bodyPr/>
                    <a:lstStyle/>
                    <a:p>
                      <a:r>
                        <a:rPr lang="en-US" sz="1200" dirty="0"/>
                        <a:t>14.2</a:t>
                      </a:r>
                    </a:p>
                  </a:txBody>
                  <a:tcPr>
                    <a:solidFill>
                      <a:schemeClr val="accent6">
                        <a:lumMod val="40000"/>
                        <a:lumOff val="60000"/>
                      </a:schemeClr>
                    </a:solidFill>
                  </a:tcPr>
                </a:tc>
                <a:extLst>
                  <a:ext uri="{0D108BD9-81ED-4DB2-BD59-A6C34878D82A}">
                    <a16:rowId xmlns:a16="http://schemas.microsoft.com/office/drawing/2014/main" val="3537160196"/>
                  </a:ext>
                </a:extLst>
              </a:tr>
              <a:tr h="444668">
                <a:tc>
                  <a:txBody>
                    <a:bodyPr/>
                    <a:lstStyle/>
                    <a:p>
                      <a:r>
                        <a:rPr lang="en-US" sz="1200" dirty="0"/>
                        <a:t>Decedent’s home</a:t>
                      </a:r>
                    </a:p>
                  </a:txBody>
                  <a:tcPr>
                    <a:solidFill>
                      <a:schemeClr val="accent6">
                        <a:lumMod val="40000"/>
                        <a:lumOff val="60000"/>
                      </a:schemeClr>
                    </a:solidFill>
                  </a:tcPr>
                </a:tc>
                <a:tc>
                  <a:txBody>
                    <a:bodyPr/>
                    <a:lstStyle/>
                    <a:p>
                      <a:r>
                        <a:rPr lang="en-US" sz="1200" dirty="0"/>
                        <a:t>8.7</a:t>
                      </a:r>
                    </a:p>
                  </a:txBody>
                  <a:tcPr>
                    <a:solidFill>
                      <a:schemeClr val="accent6">
                        <a:lumMod val="40000"/>
                        <a:lumOff val="60000"/>
                      </a:schemeClr>
                    </a:solidFill>
                  </a:tcPr>
                </a:tc>
                <a:extLst>
                  <a:ext uri="{0D108BD9-81ED-4DB2-BD59-A6C34878D82A}">
                    <a16:rowId xmlns:a16="http://schemas.microsoft.com/office/drawing/2014/main" val="2050751449"/>
                  </a:ext>
                </a:extLst>
              </a:tr>
              <a:tr h="327887">
                <a:tc>
                  <a:txBody>
                    <a:bodyPr/>
                    <a:lstStyle/>
                    <a:p>
                      <a:r>
                        <a:rPr lang="en-US" sz="1200" dirty="0"/>
                        <a:t>Hospice facility</a:t>
                      </a:r>
                    </a:p>
                  </a:txBody>
                  <a:tcPr>
                    <a:solidFill>
                      <a:schemeClr val="accent6">
                        <a:lumMod val="40000"/>
                        <a:lumOff val="60000"/>
                      </a:schemeClr>
                    </a:solidFill>
                  </a:tcPr>
                </a:tc>
                <a:tc>
                  <a:txBody>
                    <a:bodyPr/>
                    <a:lstStyle/>
                    <a:p>
                      <a:r>
                        <a:rPr lang="en-US" sz="1200" dirty="0"/>
                        <a:t>6.0</a:t>
                      </a:r>
                    </a:p>
                  </a:txBody>
                  <a:tcPr>
                    <a:solidFill>
                      <a:schemeClr val="accent6">
                        <a:lumMod val="40000"/>
                        <a:lumOff val="60000"/>
                      </a:schemeClr>
                    </a:solidFill>
                  </a:tcPr>
                </a:tc>
                <a:extLst>
                  <a:ext uri="{0D108BD9-81ED-4DB2-BD59-A6C34878D82A}">
                    <a16:rowId xmlns:a16="http://schemas.microsoft.com/office/drawing/2014/main" val="3600230402"/>
                  </a:ext>
                </a:extLst>
              </a:tr>
              <a:tr h="327887">
                <a:tc>
                  <a:txBody>
                    <a:bodyPr/>
                    <a:lstStyle/>
                    <a:p>
                      <a:r>
                        <a:rPr lang="en-US" sz="1200" dirty="0"/>
                        <a:t>Nursing home/long term care </a:t>
                      </a:r>
                    </a:p>
                  </a:txBody>
                  <a:tcPr>
                    <a:solidFill>
                      <a:schemeClr val="accent6">
                        <a:lumMod val="40000"/>
                        <a:lumOff val="60000"/>
                      </a:schemeClr>
                    </a:solidFill>
                  </a:tcPr>
                </a:tc>
                <a:tc>
                  <a:txBody>
                    <a:bodyPr/>
                    <a:lstStyle/>
                    <a:p>
                      <a:r>
                        <a:rPr lang="en-US" sz="1200" dirty="0"/>
                        <a:t>4.9</a:t>
                      </a:r>
                    </a:p>
                  </a:txBody>
                  <a:tcPr>
                    <a:solidFill>
                      <a:schemeClr val="accent6">
                        <a:lumMod val="40000"/>
                        <a:lumOff val="60000"/>
                      </a:schemeClr>
                    </a:solidFill>
                  </a:tcPr>
                </a:tc>
                <a:extLst>
                  <a:ext uri="{0D108BD9-81ED-4DB2-BD59-A6C34878D82A}">
                    <a16:rowId xmlns:a16="http://schemas.microsoft.com/office/drawing/2014/main" val="2302135002"/>
                  </a:ext>
                </a:extLst>
              </a:tr>
              <a:tr h="327887">
                <a:tc>
                  <a:txBody>
                    <a:bodyPr/>
                    <a:lstStyle/>
                    <a:p>
                      <a:r>
                        <a:rPr lang="en-US" sz="1200" dirty="0"/>
                        <a:t>Other</a:t>
                      </a:r>
                    </a:p>
                  </a:txBody>
                  <a:tcPr>
                    <a:solidFill>
                      <a:schemeClr val="accent6">
                        <a:lumMod val="40000"/>
                        <a:lumOff val="60000"/>
                      </a:schemeClr>
                    </a:solidFill>
                  </a:tcPr>
                </a:tc>
                <a:tc>
                  <a:txBody>
                    <a:bodyPr/>
                    <a:lstStyle/>
                    <a:p>
                      <a:r>
                        <a:rPr lang="en-US" sz="1200" dirty="0"/>
                        <a:t>14.4</a:t>
                      </a:r>
                    </a:p>
                  </a:txBody>
                  <a:tcPr>
                    <a:solidFill>
                      <a:schemeClr val="accent6">
                        <a:lumMod val="40000"/>
                        <a:lumOff val="60000"/>
                      </a:schemeClr>
                    </a:solidFill>
                  </a:tcPr>
                </a:tc>
                <a:extLst>
                  <a:ext uri="{0D108BD9-81ED-4DB2-BD59-A6C34878D82A}">
                    <a16:rowId xmlns:a16="http://schemas.microsoft.com/office/drawing/2014/main" val="1840912725"/>
                  </a:ext>
                </a:extLst>
              </a:tr>
              <a:tr h="428767">
                <a:tc>
                  <a:txBody>
                    <a:bodyPr/>
                    <a:lstStyle/>
                    <a:p>
                      <a:r>
                        <a:rPr lang="en-US" sz="1200" dirty="0"/>
                        <a:t>Unknown* (only 70 deaths unknown)</a:t>
                      </a:r>
                    </a:p>
                  </a:txBody>
                  <a:tcPr>
                    <a:solidFill>
                      <a:schemeClr val="accent6">
                        <a:lumMod val="40000"/>
                        <a:lumOff val="60000"/>
                      </a:schemeClr>
                    </a:solidFill>
                  </a:tcPr>
                </a:tc>
                <a:tc>
                  <a:txBody>
                    <a:bodyPr/>
                    <a:lstStyle/>
                    <a:p>
                      <a:r>
                        <a:rPr lang="en-US" sz="1200" dirty="0"/>
                        <a:t>10.7</a:t>
                      </a:r>
                    </a:p>
                  </a:txBody>
                  <a:tcPr>
                    <a:solidFill>
                      <a:schemeClr val="accent6">
                        <a:lumMod val="40000"/>
                        <a:lumOff val="60000"/>
                      </a:schemeClr>
                    </a:solidFill>
                  </a:tcPr>
                </a:tc>
                <a:extLst>
                  <a:ext uri="{0D108BD9-81ED-4DB2-BD59-A6C34878D82A}">
                    <a16:rowId xmlns:a16="http://schemas.microsoft.com/office/drawing/2014/main" val="1468553211"/>
                  </a:ext>
                </a:extLst>
              </a:tr>
            </a:tbl>
          </a:graphicData>
        </a:graphic>
      </p:graphicFrame>
    </p:spTree>
    <p:extLst>
      <p:ext uri="{BB962C8B-B14F-4D97-AF65-F5344CB8AC3E}">
        <p14:creationId xmlns:p14="http://schemas.microsoft.com/office/powerpoint/2010/main" val="13591273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46519C04-C826-B868-7D2D-869DD5DAF6A7}"/>
            </a:ext>
          </a:extLst>
        </p:cNvPr>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477A9291-8929-7C50-B651-B6B343947271}"/>
              </a:ext>
            </a:extLst>
          </p:cNvPr>
          <p:cNvGraphicFramePr>
            <a:graphicFrameLocks noGrp="1"/>
          </p:cNvGraphicFramePr>
          <p:nvPr>
            <p:extLst>
              <p:ext uri="{D42A27DB-BD31-4B8C-83A1-F6EECF244321}">
                <p14:modId xmlns:p14="http://schemas.microsoft.com/office/powerpoint/2010/main" val="622133209"/>
              </p:ext>
            </p:extLst>
          </p:nvPr>
        </p:nvGraphicFramePr>
        <p:xfrm>
          <a:off x="1600201" y="15132"/>
          <a:ext cx="5244164" cy="5128368"/>
        </p:xfrm>
        <a:graphic>
          <a:graphicData uri="http://schemas.openxmlformats.org/drawingml/2006/table">
            <a:tbl>
              <a:tblPr/>
              <a:tblGrid>
                <a:gridCol w="3046781">
                  <a:extLst>
                    <a:ext uri="{9D8B030D-6E8A-4147-A177-3AD203B41FA5}">
                      <a16:colId xmlns:a16="http://schemas.microsoft.com/office/drawing/2014/main" val="2994954477"/>
                    </a:ext>
                  </a:extLst>
                </a:gridCol>
                <a:gridCol w="1113002">
                  <a:extLst>
                    <a:ext uri="{9D8B030D-6E8A-4147-A177-3AD203B41FA5}">
                      <a16:colId xmlns:a16="http://schemas.microsoft.com/office/drawing/2014/main" val="2804029453"/>
                    </a:ext>
                  </a:extLst>
                </a:gridCol>
                <a:gridCol w="1084381">
                  <a:extLst>
                    <a:ext uri="{9D8B030D-6E8A-4147-A177-3AD203B41FA5}">
                      <a16:colId xmlns:a16="http://schemas.microsoft.com/office/drawing/2014/main" val="2550618445"/>
                    </a:ext>
                  </a:extLst>
                </a:gridCol>
              </a:tblGrid>
              <a:tr h="375642">
                <a:tc>
                  <a:txBody>
                    <a:bodyPr/>
                    <a:lstStyle/>
                    <a:p>
                      <a:pPr>
                        <a:buNone/>
                      </a:pPr>
                      <a:r>
                        <a:rPr lang="en-CA" sz="1200" dirty="0">
                          <a:effectLst/>
                          <a:latin typeface="+mn-lt"/>
                        </a:rPr>
                        <a:t>Industry</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effectLst/>
                          <a:latin typeface="+mn-lt"/>
                        </a:rPr>
                        <a:t>Number of Deaths</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effectLst/>
                          <a:latin typeface="+mn-lt"/>
                        </a:rPr>
                        <a:t>Percentage Garbage (%)</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65529052"/>
                  </a:ext>
                </a:extLst>
              </a:tr>
              <a:tr h="199016">
                <a:tc>
                  <a:txBody>
                    <a:bodyPr/>
                    <a:lstStyle/>
                    <a:p>
                      <a:pPr>
                        <a:buNone/>
                      </a:pPr>
                      <a:r>
                        <a:rPr lang="en-CA" sz="1200" dirty="0">
                          <a:effectLst/>
                          <a:latin typeface="+mn-lt"/>
                        </a:rPr>
                        <a:t>Accommodation and food services </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effectLst/>
                          <a:latin typeface="+mn-lt"/>
                        </a:rPr>
                        <a:t>114297</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effectLst/>
                          <a:latin typeface="+mn-lt"/>
                        </a:rPr>
                        <a:t>11.4</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3513686"/>
                  </a:ext>
                </a:extLst>
              </a:tr>
              <a:tr h="199016">
                <a:tc>
                  <a:txBody>
                    <a:bodyPr/>
                    <a:lstStyle/>
                    <a:p>
                      <a:pPr>
                        <a:buNone/>
                      </a:pPr>
                      <a:r>
                        <a:rPr lang="en-CA" sz="1200" dirty="0">
                          <a:solidFill>
                            <a:srgbClr val="000000"/>
                          </a:solidFill>
                          <a:effectLst/>
                          <a:latin typeface="+mn-lt"/>
                        </a:rPr>
                        <a:t>Construction</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224718</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10.5</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89482963"/>
                  </a:ext>
                </a:extLst>
              </a:tr>
              <a:tr h="199016">
                <a:tc>
                  <a:txBody>
                    <a:bodyPr/>
                    <a:lstStyle/>
                    <a:p>
                      <a:pPr>
                        <a:buNone/>
                      </a:pPr>
                      <a:r>
                        <a:rPr lang="en-CA" sz="1200" dirty="0">
                          <a:effectLst/>
                          <a:latin typeface="+mn-lt"/>
                        </a:rPr>
                        <a:t>Administrative, support, and waste services </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a:solidFill>
                            <a:srgbClr val="000000"/>
                          </a:solidFill>
                          <a:effectLst/>
                          <a:latin typeface="+mn-lt"/>
                        </a:rPr>
                        <a:t>71397</a:t>
                      </a:r>
                      <a:endParaRPr lang="en-CA" sz="120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9.5</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6434906"/>
                  </a:ext>
                </a:extLst>
              </a:tr>
              <a:tr h="199016">
                <a:tc>
                  <a:txBody>
                    <a:bodyPr/>
                    <a:lstStyle/>
                    <a:p>
                      <a:pPr>
                        <a:buNone/>
                      </a:pPr>
                      <a:r>
                        <a:rPr lang="en-CA" sz="1200" dirty="0">
                          <a:effectLst/>
                          <a:latin typeface="+mn-lt"/>
                        </a:rPr>
                        <a:t>Arts, entertainment, and recreation </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40455</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8.7</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48722922"/>
                  </a:ext>
                </a:extLst>
              </a:tr>
              <a:tr h="199016">
                <a:tc>
                  <a:txBody>
                    <a:bodyPr/>
                    <a:lstStyle/>
                    <a:p>
                      <a:pPr>
                        <a:buNone/>
                      </a:pPr>
                      <a:r>
                        <a:rPr lang="en-CA" sz="1200" dirty="0">
                          <a:solidFill>
                            <a:srgbClr val="000000"/>
                          </a:solidFill>
                          <a:effectLst/>
                          <a:latin typeface="+mn-lt"/>
                        </a:rPr>
                        <a:t>Not submitted for I/O coding </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620735</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8.1</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2584277"/>
                  </a:ext>
                </a:extLst>
              </a:tr>
              <a:tr h="199016">
                <a:tc>
                  <a:txBody>
                    <a:bodyPr/>
                    <a:lstStyle/>
                    <a:p>
                      <a:pPr>
                        <a:buNone/>
                      </a:pPr>
                      <a:r>
                        <a:rPr lang="en-CA" sz="1200" dirty="0">
                          <a:solidFill>
                            <a:srgbClr val="000000"/>
                          </a:solidFill>
                          <a:effectLst/>
                          <a:latin typeface="+mn-lt"/>
                        </a:rPr>
                        <a:t>Military </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307735</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7.9</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49995640"/>
                  </a:ext>
                </a:extLst>
              </a:tr>
              <a:tr h="199016">
                <a:tc>
                  <a:txBody>
                    <a:bodyPr/>
                    <a:lstStyle/>
                    <a:p>
                      <a:pPr>
                        <a:buNone/>
                      </a:pPr>
                      <a:r>
                        <a:rPr lang="en-CA" sz="1200" dirty="0">
                          <a:effectLst/>
                          <a:latin typeface="+mn-lt"/>
                        </a:rPr>
                        <a:t>Other services (except public administration) </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146041</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7.5</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8472655"/>
                  </a:ext>
                </a:extLst>
              </a:tr>
              <a:tr h="199016">
                <a:tc>
                  <a:txBody>
                    <a:bodyPr/>
                    <a:lstStyle/>
                    <a:p>
                      <a:pPr>
                        <a:buNone/>
                      </a:pPr>
                      <a:r>
                        <a:rPr lang="en-CA" sz="1200" dirty="0">
                          <a:solidFill>
                            <a:srgbClr val="000000"/>
                          </a:solidFill>
                          <a:effectLst/>
                          <a:latin typeface="+mn-lt"/>
                        </a:rPr>
                        <a:t>Retail trade</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220468</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7.1</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54180252"/>
                  </a:ext>
                </a:extLst>
              </a:tr>
              <a:tr h="199016">
                <a:tc>
                  <a:txBody>
                    <a:bodyPr/>
                    <a:lstStyle/>
                    <a:p>
                      <a:pPr>
                        <a:buNone/>
                      </a:pPr>
                      <a:r>
                        <a:rPr lang="en-CA" sz="1200" dirty="0">
                          <a:effectLst/>
                          <a:latin typeface="+mn-lt"/>
                        </a:rPr>
                        <a:t>Healthcare and social assistance </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266800</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6.9</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2883290"/>
                  </a:ext>
                </a:extLst>
              </a:tr>
              <a:tr h="199016">
                <a:tc>
                  <a:txBody>
                    <a:bodyPr/>
                    <a:lstStyle/>
                    <a:p>
                      <a:pPr>
                        <a:buNone/>
                      </a:pPr>
                      <a:r>
                        <a:rPr lang="en-CA" sz="1200" dirty="0">
                          <a:solidFill>
                            <a:srgbClr val="000000"/>
                          </a:solidFill>
                          <a:effectLst/>
                          <a:latin typeface="+mn-lt"/>
                        </a:rPr>
                        <a:t>Transportation and warehousing</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161474</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6.8</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15480925"/>
                  </a:ext>
                </a:extLst>
              </a:tr>
              <a:tr h="199016">
                <a:tc>
                  <a:txBody>
                    <a:bodyPr/>
                    <a:lstStyle/>
                    <a:p>
                      <a:pPr>
                        <a:buNone/>
                      </a:pPr>
                      <a:r>
                        <a:rPr lang="en-CA" sz="1200" dirty="0">
                          <a:solidFill>
                            <a:srgbClr val="000000"/>
                          </a:solidFill>
                          <a:effectLst/>
                          <a:latin typeface="+mn-lt"/>
                        </a:rPr>
                        <a:t>Wholesale trade</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28368</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6.7</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62800759"/>
                  </a:ext>
                </a:extLst>
              </a:tr>
              <a:tr h="199016">
                <a:tc>
                  <a:txBody>
                    <a:bodyPr/>
                    <a:lstStyle/>
                    <a:p>
                      <a:r>
                        <a:rPr lang="en-CA" sz="1200" dirty="0">
                          <a:effectLst/>
                          <a:latin typeface="Calibri" panose="020F0502020204030204" pitchFamily="34" charset="0"/>
                        </a:rPr>
                        <a:t>Real estate, rental, and leasing </a:t>
                      </a:r>
                      <a:endParaRPr lang="en-CA" sz="1200" dirty="0"/>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a:solidFill>
                            <a:srgbClr val="000000"/>
                          </a:solidFill>
                          <a:effectLst/>
                          <a:latin typeface="+mn-lt"/>
                        </a:rPr>
                        <a:t>37330</a:t>
                      </a:r>
                      <a:endParaRPr lang="en-CA" sz="120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6.6</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592555"/>
                  </a:ext>
                </a:extLst>
              </a:tr>
              <a:tr h="199016">
                <a:tc>
                  <a:txBody>
                    <a:bodyPr/>
                    <a:lstStyle/>
                    <a:p>
                      <a:pPr>
                        <a:buNone/>
                      </a:pPr>
                      <a:r>
                        <a:rPr lang="en-CA" sz="1200" dirty="0">
                          <a:effectLst/>
                          <a:latin typeface="+mn-lt"/>
                        </a:rPr>
                        <a:t>Mining </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a:solidFill>
                            <a:srgbClr val="000000"/>
                          </a:solidFill>
                          <a:effectLst/>
                          <a:latin typeface="+mn-lt"/>
                        </a:rPr>
                        <a:t>22724</a:t>
                      </a:r>
                      <a:endParaRPr lang="en-CA" sz="120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6.5</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026865"/>
                  </a:ext>
                </a:extLst>
              </a:tr>
              <a:tr h="199016">
                <a:tc>
                  <a:txBody>
                    <a:bodyPr/>
                    <a:lstStyle/>
                    <a:p>
                      <a:pPr>
                        <a:buNone/>
                      </a:pPr>
                      <a:r>
                        <a:rPr lang="en-CA" sz="1200" dirty="0">
                          <a:solidFill>
                            <a:srgbClr val="000000"/>
                          </a:solidFill>
                          <a:effectLst/>
                          <a:latin typeface="+mn-lt"/>
                        </a:rPr>
                        <a:t>Information</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a:solidFill>
                            <a:srgbClr val="000000"/>
                          </a:solidFill>
                          <a:effectLst/>
                          <a:latin typeface="+mn-lt"/>
                        </a:rPr>
                        <a:t>55612</a:t>
                      </a:r>
                      <a:endParaRPr lang="en-CA" sz="120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6.4</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86351105"/>
                  </a:ext>
                </a:extLst>
              </a:tr>
              <a:tr h="199016">
                <a:tc>
                  <a:txBody>
                    <a:bodyPr/>
                    <a:lstStyle/>
                    <a:p>
                      <a:pPr>
                        <a:buNone/>
                      </a:pPr>
                      <a:r>
                        <a:rPr lang="en-CA" sz="1200" dirty="0">
                          <a:effectLst/>
                          <a:latin typeface="+mn-lt"/>
                        </a:rPr>
                        <a:t>Professional, scientific, and technical services</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a:solidFill>
                            <a:srgbClr val="000000"/>
                          </a:solidFill>
                          <a:effectLst/>
                          <a:latin typeface="+mn-lt"/>
                        </a:rPr>
                        <a:t>113433</a:t>
                      </a:r>
                      <a:endParaRPr lang="en-CA" sz="120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6.1</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08517114"/>
                  </a:ext>
                </a:extLst>
              </a:tr>
              <a:tr h="199016">
                <a:tc>
                  <a:txBody>
                    <a:bodyPr/>
                    <a:lstStyle/>
                    <a:p>
                      <a:pPr>
                        <a:buNone/>
                      </a:pPr>
                      <a:r>
                        <a:rPr lang="en-CA" sz="1200" dirty="0">
                          <a:solidFill>
                            <a:srgbClr val="000000"/>
                          </a:solidFill>
                          <a:effectLst/>
                          <a:latin typeface="+mn-lt"/>
                        </a:rPr>
                        <a:t>Manufacturing</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387090</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6.1</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903506574"/>
                  </a:ext>
                </a:extLst>
              </a:tr>
              <a:tr h="199016">
                <a:tc>
                  <a:txBody>
                    <a:bodyPr/>
                    <a:lstStyle/>
                    <a:p>
                      <a:pPr>
                        <a:buNone/>
                      </a:pPr>
                      <a:r>
                        <a:rPr lang="en-CA" sz="1200" dirty="0">
                          <a:solidFill>
                            <a:srgbClr val="000000"/>
                          </a:solidFill>
                          <a:effectLst/>
                          <a:latin typeface="+mn-lt"/>
                        </a:rPr>
                        <a:t>Agriculture, forestry, fishing, and hunting </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68696</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6.0</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14988038"/>
                  </a:ext>
                </a:extLst>
              </a:tr>
              <a:tr h="199016">
                <a:tc>
                  <a:txBody>
                    <a:bodyPr/>
                    <a:lstStyle/>
                    <a:p>
                      <a:pPr>
                        <a:buNone/>
                      </a:pPr>
                      <a:r>
                        <a:rPr lang="en-CA" sz="1200" dirty="0">
                          <a:solidFill>
                            <a:srgbClr val="000000"/>
                          </a:solidFill>
                          <a:effectLst/>
                          <a:latin typeface="+mn-lt"/>
                        </a:rPr>
                        <a:t>Utilities</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a:solidFill>
                            <a:srgbClr val="000000"/>
                          </a:solidFill>
                          <a:effectLst/>
                          <a:latin typeface="+mn-lt"/>
                        </a:rPr>
                        <a:t>30273</a:t>
                      </a:r>
                      <a:endParaRPr lang="en-CA" sz="120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5.9</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26476480"/>
                  </a:ext>
                </a:extLst>
              </a:tr>
              <a:tr h="199016">
                <a:tc>
                  <a:txBody>
                    <a:bodyPr/>
                    <a:lstStyle/>
                    <a:p>
                      <a:pPr>
                        <a:buNone/>
                      </a:pPr>
                      <a:r>
                        <a:rPr lang="en-CA" sz="1200" dirty="0">
                          <a:solidFill>
                            <a:srgbClr val="000000"/>
                          </a:solidFill>
                          <a:effectLst/>
                          <a:latin typeface="+mn-lt"/>
                        </a:rPr>
                        <a:t>Finance and Insurance</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a:solidFill>
                            <a:srgbClr val="000000"/>
                          </a:solidFill>
                          <a:effectLst/>
                          <a:latin typeface="+mn-lt"/>
                        </a:rPr>
                        <a:t>88187</a:t>
                      </a:r>
                      <a:endParaRPr lang="en-CA" sz="120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5.8</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94655988"/>
                  </a:ext>
                </a:extLst>
              </a:tr>
              <a:tr h="199016">
                <a:tc>
                  <a:txBody>
                    <a:bodyPr/>
                    <a:lstStyle/>
                    <a:p>
                      <a:pPr>
                        <a:buNone/>
                      </a:pPr>
                      <a:r>
                        <a:rPr lang="en-CA" sz="1200" dirty="0">
                          <a:effectLst/>
                          <a:latin typeface="+mn-lt"/>
                        </a:rPr>
                        <a:t>Education services</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a:solidFill>
                            <a:srgbClr val="000000"/>
                          </a:solidFill>
                          <a:effectLst/>
                          <a:latin typeface="+mn-lt"/>
                        </a:rPr>
                        <a:t>203755</a:t>
                      </a:r>
                      <a:endParaRPr lang="en-CA" sz="120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5.7</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0884497"/>
                  </a:ext>
                </a:extLst>
              </a:tr>
              <a:tr h="199016">
                <a:tc>
                  <a:txBody>
                    <a:bodyPr/>
                    <a:lstStyle/>
                    <a:p>
                      <a:pPr>
                        <a:buNone/>
                      </a:pPr>
                      <a:r>
                        <a:rPr lang="en-CA" sz="1200" dirty="0">
                          <a:effectLst/>
                          <a:latin typeface="+mn-lt"/>
                        </a:rPr>
                        <a:t>Public administration </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a:solidFill>
                            <a:srgbClr val="000000"/>
                          </a:solidFill>
                          <a:effectLst/>
                          <a:latin typeface="+mn-lt"/>
                        </a:rPr>
                        <a:t>145672</a:t>
                      </a:r>
                      <a:endParaRPr lang="en-CA" sz="120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5.5</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0878561"/>
                  </a:ext>
                </a:extLst>
              </a:tr>
              <a:tr h="199016">
                <a:tc>
                  <a:txBody>
                    <a:bodyPr/>
                    <a:lstStyle/>
                    <a:p>
                      <a:pPr>
                        <a:buNone/>
                      </a:pPr>
                      <a:r>
                        <a:rPr lang="en-CA" sz="1200" dirty="0">
                          <a:effectLst/>
                          <a:latin typeface="+mn-lt"/>
                        </a:rPr>
                        <a:t>Other–</a:t>
                      </a:r>
                      <a:r>
                        <a:rPr lang="en-CA" sz="1200" dirty="0" err="1">
                          <a:effectLst/>
                          <a:latin typeface="+mn-lt"/>
                        </a:rPr>
                        <a:t>misc</a:t>
                      </a:r>
                      <a:r>
                        <a:rPr lang="en-CA" sz="1200" dirty="0">
                          <a:effectLst/>
                          <a:latin typeface="+mn-lt"/>
                        </a:rPr>
                        <a:t>, missing </a:t>
                      </a: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a:solidFill>
                            <a:srgbClr val="000000"/>
                          </a:solidFill>
                          <a:effectLst/>
                          <a:latin typeface="+mn-lt"/>
                        </a:rPr>
                        <a:t>31078</a:t>
                      </a:r>
                      <a:endParaRPr lang="en-CA" sz="120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5.4</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160996"/>
                  </a:ext>
                </a:extLst>
              </a:tr>
              <a:tr h="199016">
                <a:tc>
                  <a:txBody>
                    <a:bodyPr/>
                    <a:lstStyle/>
                    <a:p>
                      <a:r>
                        <a:rPr lang="en-CA" sz="1200" dirty="0">
                          <a:effectLst/>
                          <a:latin typeface="Calibri" panose="020F0502020204030204" pitchFamily="34" charset="0"/>
                        </a:rPr>
                        <a:t>Management of companies and enterprises </a:t>
                      </a:r>
                      <a:endParaRPr lang="en-CA" sz="1200" dirty="0"/>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a:solidFill>
                            <a:srgbClr val="000000"/>
                          </a:solidFill>
                          <a:effectLst/>
                          <a:latin typeface="+mn-lt"/>
                        </a:rPr>
                        <a:t>4596</a:t>
                      </a:r>
                      <a:endParaRPr lang="en-CA" sz="120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tc>
                  <a:txBody>
                    <a:bodyPr/>
                    <a:lstStyle/>
                    <a:p>
                      <a:pPr>
                        <a:buNone/>
                      </a:pPr>
                      <a:r>
                        <a:rPr lang="en-CA" sz="1200" dirty="0">
                          <a:solidFill>
                            <a:srgbClr val="000000"/>
                          </a:solidFill>
                          <a:effectLst/>
                          <a:latin typeface="+mn-lt"/>
                        </a:rPr>
                        <a:t>5.0</a:t>
                      </a:r>
                      <a:endParaRPr lang="en-CA" sz="1200" dirty="0">
                        <a:effectLst/>
                        <a:latin typeface="+mn-lt"/>
                      </a:endParaRPr>
                    </a:p>
                  </a:txBody>
                  <a:tcPr marL="11591" marR="11591" marT="11591" marB="11591">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12723720"/>
                  </a:ext>
                </a:extLst>
              </a:tr>
            </a:tbl>
          </a:graphicData>
        </a:graphic>
      </p:graphicFrame>
    </p:spTree>
    <p:extLst>
      <p:ext uri="{BB962C8B-B14F-4D97-AF65-F5344CB8AC3E}">
        <p14:creationId xmlns:p14="http://schemas.microsoft.com/office/powerpoint/2010/main" val="28349848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87540B80-CEBB-D60A-8703-D533FE7C2C23}"/>
            </a:ext>
          </a:extLst>
        </p:cNvPr>
        <p:cNvGrpSpPr/>
        <p:nvPr/>
      </p:nvGrpSpPr>
      <p:grpSpPr>
        <a:xfrm>
          <a:off x="0" y="0"/>
          <a:ext cx="0" cy="0"/>
          <a:chOff x="0" y="0"/>
          <a:chExt cx="0" cy="0"/>
        </a:xfrm>
      </p:grpSpPr>
      <p:pic>
        <p:nvPicPr>
          <p:cNvPr id="6" name="Picture 5" descr="A graph of a graph&#10;&#10;AI-generated content may be incorrect.">
            <a:extLst>
              <a:ext uri="{FF2B5EF4-FFF2-40B4-BE49-F238E27FC236}">
                <a16:creationId xmlns:a16="http://schemas.microsoft.com/office/drawing/2014/main" id="{F9AA5471-59D8-CA87-457C-D36F02890D98}"/>
              </a:ext>
            </a:extLst>
          </p:cNvPr>
          <p:cNvPicPr>
            <a:picLocks noChangeAspect="1"/>
          </p:cNvPicPr>
          <p:nvPr/>
        </p:nvPicPr>
        <p:blipFill>
          <a:blip r:embed="rId3"/>
          <a:stretch>
            <a:fillRect/>
          </a:stretch>
        </p:blipFill>
        <p:spPr>
          <a:xfrm>
            <a:off x="298107" y="168052"/>
            <a:ext cx="7772400" cy="4663440"/>
          </a:xfrm>
          <a:prstGeom prst="rect">
            <a:avLst/>
          </a:prstGeom>
        </p:spPr>
      </p:pic>
      <p:sp>
        <p:nvSpPr>
          <p:cNvPr id="7" name="TextBox 6">
            <a:extLst>
              <a:ext uri="{FF2B5EF4-FFF2-40B4-BE49-F238E27FC236}">
                <a16:creationId xmlns:a16="http://schemas.microsoft.com/office/drawing/2014/main" id="{1354D3AA-F8D3-5363-0E66-35AC08B9FFA1}"/>
              </a:ext>
            </a:extLst>
          </p:cNvPr>
          <p:cNvSpPr txBox="1"/>
          <p:nvPr/>
        </p:nvSpPr>
        <p:spPr>
          <a:xfrm>
            <a:off x="2323070" y="4831492"/>
            <a:ext cx="4312508" cy="338554"/>
          </a:xfrm>
          <a:prstGeom prst="rect">
            <a:avLst/>
          </a:prstGeom>
          <a:noFill/>
        </p:spPr>
        <p:txBody>
          <a:bodyPr wrap="square" rtlCol="0">
            <a:spAutoFit/>
          </a:bodyPr>
          <a:lstStyle/>
          <a:p>
            <a:r>
              <a:rPr lang="en-US" sz="1600" dirty="0"/>
              <a:t>This looks almost the same as 2016.</a:t>
            </a:r>
          </a:p>
        </p:txBody>
      </p:sp>
    </p:spTree>
    <p:extLst>
      <p:ext uri="{BB962C8B-B14F-4D97-AF65-F5344CB8AC3E}">
        <p14:creationId xmlns:p14="http://schemas.microsoft.com/office/powerpoint/2010/main" val="7182730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1">
          <a:extLst>
            <a:ext uri="{FF2B5EF4-FFF2-40B4-BE49-F238E27FC236}">
              <a16:creationId xmlns:a16="http://schemas.microsoft.com/office/drawing/2014/main" id="{E8D3C2BA-289C-81F5-FE6B-ECAA103F6321}"/>
            </a:ext>
          </a:extLst>
        </p:cNvPr>
        <p:cNvGrpSpPr/>
        <p:nvPr/>
      </p:nvGrpSpPr>
      <p:grpSpPr>
        <a:xfrm>
          <a:off x="0" y="0"/>
          <a:ext cx="0" cy="0"/>
          <a:chOff x="0" y="0"/>
          <a:chExt cx="0" cy="0"/>
        </a:xfrm>
      </p:grpSpPr>
      <p:sp>
        <p:nvSpPr>
          <p:cNvPr id="72" name="Google Shape;72;p16">
            <a:extLst>
              <a:ext uri="{FF2B5EF4-FFF2-40B4-BE49-F238E27FC236}">
                <a16:creationId xmlns:a16="http://schemas.microsoft.com/office/drawing/2014/main" id="{DBB0E90A-AFD6-8FF2-9074-F75C540705F1}"/>
              </a:ext>
            </a:extLst>
          </p:cNvPr>
          <p:cNvSpPr txBox="1">
            <a:spLocks noGrp="1"/>
          </p:cNvSpPr>
          <p:nvPr>
            <p:ph type="title"/>
          </p:nvPr>
        </p:nvSpPr>
        <p:spPr>
          <a:xfrm>
            <a:off x="442775" y="170092"/>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SzPts val="990"/>
              <a:buNone/>
            </a:pPr>
            <a:r>
              <a:rPr lang="en" sz="2000" dirty="0"/>
              <a:t>Top 11 Garbage Codes in 2016</a:t>
            </a:r>
            <a:endParaRPr sz="2000" dirty="0"/>
          </a:p>
        </p:txBody>
      </p:sp>
      <p:graphicFrame>
        <p:nvGraphicFramePr>
          <p:cNvPr id="73" name="Google Shape;73;p16">
            <a:extLst>
              <a:ext uri="{FF2B5EF4-FFF2-40B4-BE49-F238E27FC236}">
                <a16:creationId xmlns:a16="http://schemas.microsoft.com/office/drawing/2014/main" id="{8BF37AE6-0EB0-9EC8-7443-DB4A4BC56F9A}"/>
              </a:ext>
            </a:extLst>
          </p:cNvPr>
          <p:cNvGraphicFramePr/>
          <p:nvPr>
            <p:extLst>
              <p:ext uri="{D42A27DB-BD31-4B8C-83A1-F6EECF244321}">
                <p14:modId xmlns:p14="http://schemas.microsoft.com/office/powerpoint/2010/main" val="3121408941"/>
              </p:ext>
            </p:extLst>
          </p:nvPr>
        </p:nvGraphicFramePr>
        <p:xfrm>
          <a:off x="525450" y="713551"/>
          <a:ext cx="6948777" cy="4285588"/>
        </p:xfrm>
        <a:graphic>
          <a:graphicData uri="http://schemas.openxmlformats.org/drawingml/2006/table">
            <a:tbl>
              <a:tblPr>
                <a:noFill/>
                <a:tableStyleId>{A6B56FE9-9935-4933-9EED-B9BDDED56D02}</a:tableStyleId>
              </a:tblPr>
              <a:tblGrid>
                <a:gridCol w="376493">
                  <a:extLst>
                    <a:ext uri="{9D8B030D-6E8A-4147-A177-3AD203B41FA5}">
                      <a16:colId xmlns:a16="http://schemas.microsoft.com/office/drawing/2014/main" val="20000"/>
                    </a:ext>
                  </a:extLst>
                </a:gridCol>
                <a:gridCol w="2587328">
                  <a:extLst>
                    <a:ext uri="{9D8B030D-6E8A-4147-A177-3AD203B41FA5}">
                      <a16:colId xmlns:a16="http://schemas.microsoft.com/office/drawing/2014/main" val="20001"/>
                    </a:ext>
                  </a:extLst>
                </a:gridCol>
                <a:gridCol w="808547">
                  <a:extLst>
                    <a:ext uri="{9D8B030D-6E8A-4147-A177-3AD203B41FA5}">
                      <a16:colId xmlns:a16="http://schemas.microsoft.com/office/drawing/2014/main" val="20002"/>
                    </a:ext>
                  </a:extLst>
                </a:gridCol>
                <a:gridCol w="473557">
                  <a:extLst>
                    <a:ext uri="{9D8B030D-6E8A-4147-A177-3AD203B41FA5}">
                      <a16:colId xmlns:a16="http://schemas.microsoft.com/office/drawing/2014/main" val="20003"/>
                    </a:ext>
                  </a:extLst>
                </a:gridCol>
                <a:gridCol w="1351426">
                  <a:extLst>
                    <a:ext uri="{9D8B030D-6E8A-4147-A177-3AD203B41FA5}">
                      <a16:colId xmlns:a16="http://schemas.microsoft.com/office/drawing/2014/main" val="20004"/>
                    </a:ext>
                  </a:extLst>
                </a:gridCol>
                <a:gridCol w="1351426">
                  <a:extLst>
                    <a:ext uri="{9D8B030D-6E8A-4147-A177-3AD203B41FA5}">
                      <a16:colId xmlns:a16="http://schemas.microsoft.com/office/drawing/2014/main" val="658849450"/>
                    </a:ext>
                  </a:extLst>
                </a:gridCol>
              </a:tblGrid>
              <a:tr h="387223">
                <a:tc>
                  <a:txBody>
                    <a:bodyPr/>
                    <a:lstStyle/>
                    <a:p>
                      <a:pPr marL="0" lvl="0" indent="0" algn="l" rtl="0">
                        <a:lnSpc>
                          <a:spcPct val="115000"/>
                        </a:lnSpc>
                        <a:spcBef>
                          <a:spcPts val="0"/>
                        </a:spcBef>
                        <a:spcAft>
                          <a:spcPts val="0"/>
                        </a:spcAft>
                        <a:buNone/>
                      </a:pPr>
                      <a:r>
                        <a:rPr lang="en" sz="1000" b="1"/>
                        <a:t>ICD10 </a:t>
                      </a:r>
                      <a:endParaRPr sz="100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0B3B2"/>
                    </a:solidFill>
                  </a:tcPr>
                </a:tc>
                <a:tc>
                  <a:txBody>
                    <a:bodyPr/>
                    <a:lstStyle/>
                    <a:p>
                      <a:pPr marL="0" lvl="0" indent="0" algn="l" rtl="0">
                        <a:lnSpc>
                          <a:spcPct val="115000"/>
                        </a:lnSpc>
                        <a:spcBef>
                          <a:spcPts val="0"/>
                        </a:spcBef>
                        <a:spcAft>
                          <a:spcPts val="0"/>
                        </a:spcAft>
                        <a:buNone/>
                      </a:pPr>
                      <a:r>
                        <a:rPr lang="en" sz="1000" b="1" dirty="0"/>
                        <a:t>Description</a:t>
                      </a:r>
                      <a:endParaRPr sz="1000" b="1"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0B3B2"/>
                    </a:solidFill>
                  </a:tcPr>
                </a:tc>
                <a:tc>
                  <a:txBody>
                    <a:bodyPr/>
                    <a:lstStyle/>
                    <a:p>
                      <a:pPr marL="0" lvl="0" indent="0" algn="l" rtl="0">
                        <a:lnSpc>
                          <a:spcPct val="115000"/>
                        </a:lnSpc>
                        <a:spcBef>
                          <a:spcPts val="0"/>
                        </a:spcBef>
                        <a:spcAft>
                          <a:spcPts val="0"/>
                        </a:spcAft>
                        <a:buNone/>
                      </a:pPr>
                      <a:r>
                        <a:rPr lang="en" sz="1000" b="1"/>
                        <a:t>GBD Severity Index</a:t>
                      </a:r>
                      <a:endParaRPr sz="100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0B3B2"/>
                    </a:solidFill>
                  </a:tcPr>
                </a:tc>
                <a:tc>
                  <a:txBody>
                    <a:bodyPr/>
                    <a:lstStyle/>
                    <a:p>
                      <a:pPr marL="0" lvl="0" indent="0" algn="l" rtl="0">
                        <a:lnSpc>
                          <a:spcPct val="115000"/>
                        </a:lnSpc>
                        <a:spcBef>
                          <a:spcPts val="0"/>
                        </a:spcBef>
                        <a:spcAft>
                          <a:spcPts val="0"/>
                        </a:spcAft>
                        <a:buNone/>
                      </a:pPr>
                      <a:r>
                        <a:rPr lang="en" sz="1000" b="1"/>
                        <a:t>Deaths</a:t>
                      </a:r>
                      <a:endParaRPr sz="100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0B3B2"/>
                    </a:solidFill>
                  </a:tcPr>
                </a:tc>
                <a:tc>
                  <a:txBody>
                    <a:bodyPr/>
                    <a:lstStyle/>
                    <a:p>
                      <a:pPr marL="0" lvl="0" indent="0" algn="l" rtl="0">
                        <a:lnSpc>
                          <a:spcPct val="115000"/>
                        </a:lnSpc>
                        <a:spcBef>
                          <a:spcPts val="0"/>
                        </a:spcBef>
                        <a:spcAft>
                          <a:spcPts val="0"/>
                        </a:spcAft>
                        <a:buNone/>
                      </a:pPr>
                      <a:r>
                        <a:rPr lang="en" sz="1000" b="1" dirty="0"/>
                        <a:t>Share (of garbage codes)</a:t>
                      </a:r>
                      <a:endParaRPr sz="1000" b="1" dirty="0"/>
                    </a:p>
                  </a:txBody>
                  <a:tcPr marL="38100" marR="38100" marT="38100" marB="38100">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B0B3B2"/>
                    </a:solidFill>
                  </a:tcPr>
                </a:tc>
                <a:tc>
                  <a:txBody>
                    <a:bodyPr/>
                    <a:lstStyle/>
                    <a:p>
                      <a:pPr marL="0" lvl="0" indent="0" algn="l" rtl="0">
                        <a:lnSpc>
                          <a:spcPct val="115000"/>
                        </a:lnSpc>
                        <a:spcBef>
                          <a:spcPts val="0"/>
                        </a:spcBef>
                        <a:spcAft>
                          <a:spcPts val="0"/>
                        </a:spcAft>
                        <a:buNone/>
                      </a:pPr>
                      <a:r>
                        <a:rPr lang="en-CA" sz="1000" b="1" dirty="0"/>
                        <a:t>Trend since 2016</a:t>
                      </a:r>
                      <a:endParaRPr sz="1000" b="1"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rgbClr val="B0B3B2"/>
                    </a:solidFill>
                  </a:tcPr>
                </a:tc>
                <a:extLst>
                  <a:ext uri="{0D108BD9-81ED-4DB2-BD59-A6C34878D82A}">
                    <a16:rowId xmlns:a16="http://schemas.microsoft.com/office/drawing/2014/main" val="10000"/>
                  </a:ext>
                </a:extLst>
              </a:tr>
              <a:tr h="304304">
                <a:tc>
                  <a:txBody>
                    <a:bodyPr/>
                    <a:lstStyle/>
                    <a:p>
                      <a:pPr marL="0" lvl="0" indent="0" algn="l" rtl="0">
                        <a:lnSpc>
                          <a:spcPct val="115000"/>
                        </a:lnSpc>
                        <a:spcBef>
                          <a:spcPts val="0"/>
                        </a:spcBef>
                        <a:spcAft>
                          <a:spcPts val="0"/>
                        </a:spcAft>
                        <a:buNone/>
                      </a:pPr>
                      <a:r>
                        <a:rPr lang="en" sz="850" b="1"/>
                        <a:t>I64</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solidFill>
                            <a:schemeClr val="dk1"/>
                          </a:solidFill>
                          <a:highlight>
                            <a:srgbClr val="FFFFFF"/>
                          </a:highlight>
                        </a:rPr>
                        <a:t>Stroke, not specified as </a:t>
                      </a:r>
                      <a:r>
                        <a:rPr lang="en" sz="800" dirty="0" err="1">
                          <a:solidFill>
                            <a:schemeClr val="dk1"/>
                          </a:solidFill>
                          <a:highlight>
                            <a:srgbClr val="FFFFFF"/>
                          </a:highlight>
                        </a:rPr>
                        <a:t>haemorrhage</a:t>
                      </a:r>
                      <a:r>
                        <a:rPr lang="en" sz="800" dirty="0">
                          <a:solidFill>
                            <a:schemeClr val="dk1"/>
                          </a:solidFill>
                          <a:highlight>
                            <a:srgbClr val="FFFFFF"/>
                          </a:highlight>
                        </a:rPr>
                        <a:t> or infarction</a:t>
                      </a:r>
                      <a:endParaRPr sz="80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4</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53758</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21.4%</a:t>
                      </a:r>
                      <a:endParaRPr sz="850" dirty="0"/>
                    </a:p>
                  </a:txBody>
                  <a:tcPr marL="38100" marR="38100" marT="38100" marB="38100">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CA" sz="1200" dirty="0">
                          <a:solidFill>
                            <a:srgbClr val="FF0000"/>
                          </a:solidFill>
                        </a:rPr>
                        <a:t>⚫️</a:t>
                      </a:r>
                      <a:endParaRPr sz="1200" dirty="0">
                        <a:solidFill>
                          <a:srgbClr val="FF0000"/>
                        </a:solidFill>
                      </a:endParaRPr>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24109">
                <a:tc>
                  <a:txBody>
                    <a:bodyPr/>
                    <a:lstStyle/>
                    <a:p>
                      <a:pPr marL="0" lvl="0" indent="0" algn="l" rtl="0">
                        <a:lnSpc>
                          <a:spcPct val="115000"/>
                        </a:lnSpc>
                        <a:spcBef>
                          <a:spcPts val="0"/>
                        </a:spcBef>
                        <a:spcAft>
                          <a:spcPts val="0"/>
                        </a:spcAft>
                        <a:buNone/>
                      </a:pPr>
                      <a:r>
                        <a:rPr lang="en" sz="850" b="1" dirty="0"/>
                        <a:t>X42</a:t>
                      </a:r>
                      <a:endParaRPr sz="850" b="1" dirty="0"/>
                    </a:p>
                  </a:txBody>
                  <a:tcPr marL="38100" marR="38100" marT="38100" marB="38100">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solidFill>
                            <a:schemeClr val="dk1"/>
                          </a:solidFill>
                          <a:highlight>
                            <a:srgbClr val="FFFFFF"/>
                          </a:highlight>
                        </a:rPr>
                        <a:t>Accidental poisoning by and exposure to narcotics and </a:t>
                      </a:r>
                      <a:r>
                        <a:rPr lang="en" sz="800" dirty="0" err="1">
                          <a:solidFill>
                            <a:schemeClr val="dk1"/>
                          </a:solidFill>
                          <a:highlight>
                            <a:srgbClr val="FFFFFF"/>
                          </a:highlight>
                        </a:rPr>
                        <a:t>psychodysleptics</a:t>
                      </a:r>
                      <a:r>
                        <a:rPr lang="en" sz="800" dirty="0">
                          <a:solidFill>
                            <a:schemeClr val="dk1"/>
                          </a:solidFill>
                          <a:highlight>
                            <a:srgbClr val="FFFFFF"/>
                          </a:highlight>
                        </a:rPr>
                        <a:t> [hallucinogens], not elsewhere classified</a:t>
                      </a:r>
                      <a:endParaRPr sz="800" dirty="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1</a:t>
                      </a:r>
                      <a:endParaRPr sz="850" dirty="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39203</a:t>
                      </a:r>
                      <a:endParaRPr sz="850" dirty="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15.6%</a:t>
                      </a:r>
                      <a:endParaRPr sz="850" dirty="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CA" sz="1600" b="1" dirty="0">
                          <a:solidFill>
                            <a:schemeClr val="accent6"/>
                          </a:solidFill>
                        </a:rPr>
                        <a:t>↑</a:t>
                      </a:r>
                      <a:endParaRPr sz="1600" b="1" dirty="0">
                        <a:solidFill>
                          <a:schemeClr val="accent6"/>
                        </a:solidFill>
                      </a:endParaRPr>
                    </a:p>
                  </a:txBody>
                  <a:tcPr marL="38100" marR="38100" marT="38100" marB="3810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24109">
                <a:tc>
                  <a:txBody>
                    <a:bodyPr/>
                    <a:lstStyle/>
                    <a:p>
                      <a:pPr marL="0" lvl="0" indent="0" algn="l" rtl="0">
                        <a:lnSpc>
                          <a:spcPct val="115000"/>
                        </a:lnSpc>
                        <a:spcBef>
                          <a:spcPts val="0"/>
                        </a:spcBef>
                        <a:spcAft>
                          <a:spcPts val="0"/>
                        </a:spcAft>
                        <a:buNone/>
                      </a:pPr>
                      <a:r>
                        <a:rPr lang="en" sz="850" b="1" dirty="0"/>
                        <a:t>X44</a:t>
                      </a:r>
                      <a:endParaRPr sz="850" b="1"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solidFill>
                            <a:schemeClr val="dk1"/>
                          </a:solidFill>
                          <a:highlight>
                            <a:srgbClr val="FFFFFF"/>
                          </a:highlight>
                        </a:rPr>
                        <a:t>Accidental poisoning by and exposure to other and unspecified drugs, medicaments and biological substances</a:t>
                      </a:r>
                      <a:endParaRPr sz="80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1</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35654</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14.2%</a:t>
                      </a:r>
                      <a:endParaRPr sz="850" dirty="0"/>
                    </a:p>
                  </a:txBody>
                  <a:tcPr marL="38100" marR="38100" marT="38100" marB="38100">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kumimoji="0" lang="en-CA" sz="1600" b="1" i="0" u="none" strike="noStrike" kern="1200" cap="none" spc="0" normalizeH="0" baseline="0" noProof="0" dirty="0">
                          <a:ln>
                            <a:noFill/>
                          </a:ln>
                          <a:solidFill>
                            <a:srgbClr val="70AD47"/>
                          </a:solidFill>
                          <a:effectLst/>
                          <a:uLnTx/>
                          <a:uFillTx/>
                          <a:latin typeface="Arial"/>
                          <a:cs typeface="Arial"/>
                        </a:rPr>
                        <a:t>↑</a:t>
                      </a:r>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24109">
                <a:tc>
                  <a:txBody>
                    <a:bodyPr/>
                    <a:lstStyle/>
                    <a:p>
                      <a:pPr marL="0" lvl="0" indent="0" algn="l" rtl="0">
                        <a:lnSpc>
                          <a:spcPct val="115000"/>
                        </a:lnSpc>
                        <a:spcBef>
                          <a:spcPts val="0"/>
                        </a:spcBef>
                        <a:spcAft>
                          <a:spcPts val="0"/>
                        </a:spcAft>
                        <a:buNone/>
                      </a:pPr>
                      <a:r>
                        <a:rPr lang="en-CA" sz="850" b="1" dirty="0"/>
                        <a:t>C80</a:t>
                      </a:r>
                    </a:p>
                  </a:txBody>
                  <a:tcPr marL="38100" marR="38100" marT="38100" marB="38100">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CA" sz="800" dirty="0"/>
                        <a:t>Malignant neoplasm without specification of site</a:t>
                      </a:r>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3</a:t>
                      </a:r>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28885</a:t>
                      </a:r>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11.5%</a:t>
                      </a:r>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kumimoji="0" lang="en-CA" sz="1600" b="1" i="0" u="none" strike="noStrike" kern="1200" cap="none" spc="0" normalizeH="0" baseline="0" noProof="0" dirty="0">
                          <a:ln>
                            <a:noFill/>
                          </a:ln>
                          <a:solidFill>
                            <a:srgbClr val="FF0000"/>
                          </a:solidFill>
                          <a:effectLst/>
                          <a:uLnTx/>
                          <a:uFillTx/>
                          <a:latin typeface="Arial"/>
                          <a:cs typeface="Arial"/>
                        </a:rPr>
                        <a:t>↓</a:t>
                      </a:r>
                    </a:p>
                  </a:txBody>
                  <a:tcPr marL="38100" marR="38100" marT="38100" marB="3810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extLst>
                  <a:ext uri="{0D108BD9-81ED-4DB2-BD59-A6C34878D82A}">
                    <a16:rowId xmlns:a16="http://schemas.microsoft.com/office/drawing/2014/main" val="4164120683"/>
                  </a:ext>
                </a:extLst>
              </a:tr>
              <a:tr h="304304">
                <a:tc>
                  <a:txBody>
                    <a:bodyPr/>
                    <a:lstStyle/>
                    <a:p>
                      <a:pPr marL="0" lvl="0" indent="0" algn="l" rtl="0">
                        <a:lnSpc>
                          <a:spcPct val="115000"/>
                        </a:lnSpc>
                        <a:spcBef>
                          <a:spcPts val="0"/>
                        </a:spcBef>
                        <a:spcAft>
                          <a:spcPts val="0"/>
                        </a:spcAft>
                        <a:buNone/>
                      </a:pPr>
                      <a:r>
                        <a:rPr lang="en" sz="850" b="1"/>
                        <a:t>I10</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a:t>Essential (primary) hypertension</a:t>
                      </a:r>
                      <a:endParaRPr sz="80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2</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26822</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10.7%</a:t>
                      </a:r>
                      <a:endParaRPr sz="850" dirty="0"/>
                    </a:p>
                  </a:txBody>
                  <a:tcPr marL="38100" marR="38100" marT="38100" marB="38100">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lang="en-CA" sz="1200" dirty="0">
                          <a:solidFill>
                            <a:srgbClr val="FF0000"/>
                          </a:solidFill>
                        </a:rPr>
                        <a:t>⚫️</a:t>
                      </a:r>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04304">
                <a:tc>
                  <a:txBody>
                    <a:bodyPr/>
                    <a:lstStyle/>
                    <a:p>
                      <a:pPr marL="0" lvl="0" indent="0" algn="l" rtl="0">
                        <a:lnSpc>
                          <a:spcPct val="115000"/>
                        </a:lnSpc>
                        <a:spcBef>
                          <a:spcPts val="0"/>
                        </a:spcBef>
                        <a:spcAft>
                          <a:spcPts val="0"/>
                        </a:spcAft>
                        <a:buNone/>
                      </a:pPr>
                      <a:r>
                        <a:rPr lang="en" sz="850" b="1"/>
                        <a:t>R99</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t>Ill-defined and unknown cause of mortality</a:t>
                      </a:r>
                      <a:endParaRPr sz="80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a:t>1</a:t>
                      </a:r>
                      <a:endParaRPr sz="85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12730</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5.1%</a:t>
                      </a:r>
                      <a:endParaRPr sz="850" dirty="0"/>
                    </a:p>
                  </a:txBody>
                  <a:tcPr marL="38100" marR="38100" marT="38100" marB="38100">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lang="en-CA" sz="1200" dirty="0">
                          <a:solidFill>
                            <a:srgbClr val="FF0000"/>
                          </a:solidFill>
                        </a:rPr>
                        <a:t>⚫️</a:t>
                      </a:r>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04304">
                <a:tc>
                  <a:txBody>
                    <a:bodyPr/>
                    <a:lstStyle/>
                    <a:p>
                      <a:pPr marL="0" lvl="0" indent="0" algn="l" rtl="0">
                        <a:lnSpc>
                          <a:spcPct val="115000"/>
                        </a:lnSpc>
                        <a:spcBef>
                          <a:spcPts val="0"/>
                        </a:spcBef>
                        <a:spcAft>
                          <a:spcPts val="0"/>
                        </a:spcAft>
                        <a:buNone/>
                      </a:pPr>
                      <a:r>
                        <a:rPr lang="en" sz="850" b="1" dirty="0"/>
                        <a:t>X41</a:t>
                      </a:r>
                      <a:endParaRPr sz="850" b="1" dirty="0"/>
                    </a:p>
                  </a:txBody>
                  <a:tcPr marL="38100" marR="38100" marT="38100" marB="38100">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solidFill>
                            <a:schemeClr val="dk1"/>
                          </a:solidFill>
                          <a:highlight>
                            <a:srgbClr val="FFFFFF"/>
                          </a:highlight>
                        </a:rPr>
                        <a:t>Accidental poisoning by and exposure to antiepileptic, sedative-hypnotic, </a:t>
                      </a:r>
                      <a:r>
                        <a:rPr lang="en" sz="800" dirty="0" err="1">
                          <a:solidFill>
                            <a:schemeClr val="dk1"/>
                          </a:solidFill>
                          <a:highlight>
                            <a:srgbClr val="FFFFFF"/>
                          </a:highlight>
                        </a:rPr>
                        <a:t>antiparkinsonism</a:t>
                      </a:r>
                      <a:r>
                        <a:rPr lang="en" sz="800" dirty="0">
                          <a:solidFill>
                            <a:schemeClr val="dk1"/>
                          </a:solidFill>
                          <a:highlight>
                            <a:srgbClr val="FFFFFF"/>
                          </a:highlight>
                        </a:rPr>
                        <a:t> and psychotropic drugs, not elsewhere classified</a:t>
                      </a:r>
                      <a:endParaRPr sz="800" dirty="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1</a:t>
                      </a:r>
                      <a:endParaRPr sz="850" dirty="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8970</a:t>
                      </a:r>
                      <a:endParaRPr sz="850" dirty="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3.6%</a:t>
                      </a:r>
                      <a:endParaRPr sz="850" dirty="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kumimoji="0" lang="en-CA" sz="1600" b="1" i="0" u="none" strike="noStrike" kern="1200" cap="none" spc="0" normalizeH="0" baseline="0" noProof="0" dirty="0">
                          <a:ln>
                            <a:noFill/>
                          </a:ln>
                          <a:solidFill>
                            <a:srgbClr val="70AD47"/>
                          </a:solidFill>
                          <a:effectLst/>
                          <a:uLnTx/>
                          <a:uFillTx/>
                          <a:latin typeface="Arial"/>
                          <a:cs typeface="Arial"/>
                        </a:rPr>
                        <a:t>↑</a:t>
                      </a:r>
                    </a:p>
                  </a:txBody>
                  <a:tcPr marL="38100" marR="38100" marT="38100" marB="3810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extLst>
                  <a:ext uri="{0D108BD9-81ED-4DB2-BD59-A6C34878D82A}">
                    <a16:rowId xmlns:a16="http://schemas.microsoft.com/office/drawing/2014/main" val="3300709392"/>
                  </a:ext>
                </a:extLst>
              </a:tr>
              <a:tr h="304304">
                <a:tc>
                  <a:txBody>
                    <a:bodyPr/>
                    <a:lstStyle/>
                    <a:p>
                      <a:pPr marL="0" lvl="0" indent="0" algn="l" rtl="0">
                        <a:lnSpc>
                          <a:spcPct val="115000"/>
                        </a:lnSpc>
                        <a:spcBef>
                          <a:spcPts val="0"/>
                        </a:spcBef>
                        <a:spcAft>
                          <a:spcPts val="0"/>
                        </a:spcAft>
                        <a:buNone/>
                      </a:pPr>
                      <a:r>
                        <a:rPr lang="en" sz="850" b="1"/>
                        <a:t>N19</a:t>
                      </a:r>
                      <a:endParaRPr sz="850" b="1"/>
                    </a:p>
                  </a:txBody>
                  <a:tcPr marL="38100" marR="38100" marT="38100" marB="38100">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t>Unspecified kidney failure</a:t>
                      </a:r>
                      <a:endParaRPr sz="800" dirty="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1</a:t>
                      </a:r>
                      <a:endParaRPr sz="850" dirty="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6358</a:t>
                      </a:r>
                      <a:endParaRPr sz="850" dirty="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2.5%</a:t>
                      </a:r>
                      <a:endParaRPr sz="850" dirty="0"/>
                    </a:p>
                  </a:txBody>
                  <a:tcPr marL="38100" marR="38100" marT="38100" marB="38100">
                    <a:lnL w="9525" cap="flat" cmpd="sng" algn="ctr">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kumimoji="0" lang="en-CA" sz="1600" b="1" i="0" u="none" strike="noStrike" kern="1200" cap="none" spc="0" normalizeH="0" baseline="0" noProof="0" dirty="0">
                          <a:ln>
                            <a:noFill/>
                          </a:ln>
                          <a:solidFill>
                            <a:srgbClr val="FF0000"/>
                          </a:solidFill>
                          <a:effectLst/>
                          <a:uLnTx/>
                          <a:uFillTx/>
                          <a:latin typeface="Arial"/>
                          <a:cs typeface="Arial"/>
                        </a:rPr>
                        <a:t>↓</a:t>
                      </a:r>
                    </a:p>
                  </a:txBody>
                  <a:tcPr marL="38100" marR="38100" marT="38100" marB="38100">
                    <a:lnL w="9525" cap="flat" cmpd="sng" algn="ctr">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275408">
                <a:tc>
                  <a:txBody>
                    <a:bodyPr/>
                    <a:lstStyle/>
                    <a:p>
                      <a:pPr marL="0" lvl="0" indent="0" algn="l" rtl="0">
                        <a:lnSpc>
                          <a:spcPct val="115000"/>
                        </a:lnSpc>
                        <a:spcBef>
                          <a:spcPts val="0"/>
                        </a:spcBef>
                        <a:spcAft>
                          <a:spcPts val="0"/>
                        </a:spcAft>
                        <a:buNone/>
                      </a:pPr>
                      <a:r>
                        <a:rPr lang="en" sz="850" b="1"/>
                        <a:t>C55</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t>Malignant neoplasm of uterus, part unspecified</a:t>
                      </a:r>
                      <a:endParaRPr sz="80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3</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5846</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2.3%</a:t>
                      </a:r>
                      <a:endParaRPr sz="850" dirty="0"/>
                    </a:p>
                  </a:txBody>
                  <a:tcPr marL="38100" marR="38100" marT="38100" marB="38100">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kumimoji="0" lang="en-CA" sz="1600" b="1" i="0" u="none" strike="noStrike" kern="1200" cap="none" spc="0" normalizeH="0" baseline="0" noProof="0" dirty="0">
                          <a:ln>
                            <a:noFill/>
                          </a:ln>
                          <a:solidFill>
                            <a:srgbClr val="FF0000"/>
                          </a:solidFill>
                          <a:effectLst/>
                          <a:uLnTx/>
                          <a:uFillTx/>
                          <a:latin typeface="Arial"/>
                          <a:cs typeface="Arial"/>
                        </a:rPr>
                        <a:t>↓</a:t>
                      </a:r>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304304">
                <a:tc>
                  <a:txBody>
                    <a:bodyPr/>
                    <a:lstStyle/>
                    <a:p>
                      <a:pPr marL="0" lvl="0" indent="0" algn="l" rtl="0">
                        <a:lnSpc>
                          <a:spcPct val="115000"/>
                        </a:lnSpc>
                        <a:spcBef>
                          <a:spcPts val="0"/>
                        </a:spcBef>
                        <a:spcAft>
                          <a:spcPts val="0"/>
                        </a:spcAft>
                        <a:buNone/>
                      </a:pPr>
                      <a:r>
                        <a:rPr lang="en" sz="850" b="1"/>
                        <a:t>C97</a:t>
                      </a:r>
                      <a:endParaRPr sz="850" b="1"/>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4D4D4"/>
                    </a:solidFill>
                  </a:tcPr>
                </a:tc>
                <a:tc>
                  <a:txBody>
                    <a:bodyPr/>
                    <a:lstStyle/>
                    <a:p>
                      <a:pPr marL="0" lvl="0" indent="0" algn="l" rtl="0">
                        <a:lnSpc>
                          <a:spcPct val="115000"/>
                        </a:lnSpc>
                        <a:spcBef>
                          <a:spcPts val="0"/>
                        </a:spcBef>
                        <a:spcAft>
                          <a:spcPts val="0"/>
                        </a:spcAft>
                        <a:buNone/>
                      </a:pPr>
                      <a:r>
                        <a:rPr lang="en" sz="800" dirty="0">
                          <a:solidFill>
                            <a:schemeClr val="dk1"/>
                          </a:solidFill>
                          <a:highlight>
                            <a:srgbClr val="FFFFFF"/>
                          </a:highlight>
                        </a:rPr>
                        <a:t>Age-related physical debility</a:t>
                      </a:r>
                      <a:endParaRPr sz="80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1</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4980</a:t>
                      </a:r>
                      <a:endParaRPr sz="850" dirty="0"/>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850" dirty="0"/>
                        <a:t>2.0%</a:t>
                      </a:r>
                      <a:endParaRPr sz="850" dirty="0"/>
                    </a:p>
                  </a:txBody>
                  <a:tcPr marL="38100" marR="38100" marT="38100" marB="38100">
                    <a:lnL w="9525" cap="flat" cmpd="sng">
                      <a:solidFill>
                        <a:srgbClr val="000000"/>
                      </a:solidFill>
                      <a:prstDash val="solid"/>
                      <a:round/>
                      <a:headEnd type="none" w="sm" len="sm"/>
                      <a:tailEnd type="none" w="sm" len="sm"/>
                    </a:lnL>
                    <a:lnR w="9525" cap="flat" cmpd="sng" algn="ctr">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defTabSz="685800" rtl="0" eaLnBrk="1" fontAlgn="auto" latinLnBrk="0" hangingPunct="1">
                        <a:lnSpc>
                          <a:spcPct val="115000"/>
                        </a:lnSpc>
                        <a:spcBef>
                          <a:spcPts val="0"/>
                        </a:spcBef>
                        <a:spcAft>
                          <a:spcPts val="0"/>
                        </a:spcAft>
                        <a:buClrTx/>
                        <a:buSzTx/>
                        <a:buFontTx/>
                        <a:buNone/>
                        <a:tabLst/>
                        <a:defRPr/>
                      </a:pPr>
                      <a:r>
                        <a:rPr kumimoji="0" lang="en-CA" sz="1600" b="1" i="0" u="none" strike="noStrike" kern="1200" cap="none" spc="0" normalizeH="0" baseline="0" noProof="0" dirty="0">
                          <a:ln>
                            <a:noFill/>
                          </a:ln>
                          <a:solidFill>
                            <a:srgbClr val="70AD47"/>
                          </a:solidFill>
                          <a:effectLst/>
                          <a:uLnTx/>
                          <a:uFillTx/>
                          <a:latin typeface="Arial"/>
                          <a:cs typeface="Arial"/>
                        </a:rPr>
                        <a:t>↑</a:t>
                      </a:r>
                    </a:p>
                  </a:txBody>
                  <a:tcPr marL="38100" marR="38100" marT="38100" marB="381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lgn="ctr">
                      <a:solidFill>
                        <a:srgbClr val="000000"/>
                      </a:solidFill>
                      <a:prstDash val="solid"/>
                      <a:round/>
                      <a:headEnd type="none" w="sm" len="sm"/>
                      <a:tailEnd type="none" w="sm" len="sm"/>
                    </a:lnT>
                    <a:lnB w="9525" cap="flat" cmpd="sng" algn="ctr">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47386394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E6EBF369-BDE3-0A8B-CB32-55B4D436AAA7}"/>
            </a:ext>
          </a:extLst>
        </p:cNvPr>
        <p:cNvGrpSpPr/>
        <p:nvPr/>
      </p:nvGrpSpPr>
      <p:grpSpPr>
        <a:xfrm>
          <a:off x="0" y="0"/>
          <a:ext cx="0" cy="0"/>
          <a:chOff x="0" y="0"/>
          <a:chExt cx="0" cy="0"/>
        </a:xfrm>
      </p:grpSpPr>
      <p:sp>
        <p:nvSpPr>
          <p:cNvPr id="59" name="Google Shape;59;p14">
            <a:extLst>
              <a:ext uri="{FF2B5EF4-FFF2-40B4-BE49-F238E27FC236}">
                <a16:creationId xmlns:a16="http://schemas.microsoft.com/office/drawing/2014/main" id="{3479CB8E-2A19-0896-C118-D11EBB838A44}"/>
              </a:ext>
            </a:extLst>
          </p:cNvPr>
          <p:cNvSpPr txBox="1">
            <a:spLocks noGrp="1"/>
          </p:cNvSpPr>
          <p:nvPr>
            <p:ph type="ctrTitle"/>
          </p:nvPr>
        </p:nvSpPr>
        <p:spPr>
          <a:xfrm>
            <a:off x="311700" y="196149"/>
            <a:ext cx="8520600" cy="627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SzPts val="990"/>
              <a:buNone/>
            </a:pPr>
            <a:r>
              <a:rPr lang="en" sz="2800" dirty="0"/>
              <a:t>Number of Secondary Factors</a:t>
            </a:r>
            <a:endParaRPr sz="2800" dirty="0"/>
          </a:p>
        </p:txBody>
      </p:sp>
      <p:graphicFrame>
        <p:nvGraphicFramePr>
          <p:cNvPr id="2" name="Table 1">
            <a:extLst>
              <a:ext uri="{FF2B5EF4-FFF2-40B4-BE49-F238E27FC236}">
                <a16:creationId xmlns:a16="http://schemas.microsoft.com/office/drawing/2014/main" id="{5E9635C4-4AE7-ABD8-5D60-D0427F3C01D4}"/>
              </a:ext>
            </a:extLst>
          </p:cNvPr>
          <p:cNvGraphicFramePr>
            <a:graphicFrameLocks noGrp="1"/>
          </p:cNvGraphicFramePr>
          <p:nvPr>
            <p:extLst>
              <p:ext uri="{D42A27DB-BD31-4B8C-83A1-F6EECF244321}">
                <p14:modId xmlns:p14="http://schemas.microsoft.com/office/powerpoint/2010/main" val="3520608415"/>
              </p:ext>
            </p:extLst>
          </p:nvPr>
        </p:nvGraphicFramePr>
        <p:xfrm>
          <a:off x="311700" y="1462758"/>
          <a:ext cx="4973532" cy="1986280"/>
        </p:xfrm>
        <a:graphic>
          <a:graphicData uri="http://schemas.openxmlformats.org/drawingml/2006/table">
            <a:tbl>
              <a:tblPr firstRow="1" bandRow="1">
                <a:tableStyleId>{BFA11F67-8BD6-47EC-9F71-6CD8F6C066F8}</a:tableStyleId>
              </a:tblPr>
              <a:tblGrid>
                <a:gridCol w="2486766">
                  <a:extLst>
                    <a:ext uri="{9D8B030D-6E8A-4147-A177-3AD203B41FA5}">
                      <a16:colId xmlns:a16="http://schemas.microsoft.com/office/drawing/2014/main" val="3989279615"/>
                    </a:ext>
                  </a:extLst>
                </a:gridCol>
                <a:gridCol w="2486766">
                  <a:extLst>
                    <a:ext uri="{9D8B030D-6E8A-4147-A177-3AD203B41FA5}">
                      <a16:colId xmlns:a16="http://schemas.microsoft.com/office/drawing/2014/main" val="4010461188"/>
                    </a:ext>
                  </a:extLst>
                </a:gridCol>
              </a:tblGrid>
              <a:tr h="370840">
                <a:tc>
                  <a:txBody>
                    <a:bodyPr/>
                    <a:lstStyle/>
                    <a:p>
                      <a:r>
                        <a:rPr lang="en-US" dirty="0"/>
                        <a:t>Race</a:t>
                      </a:r>
                    </a:p>
                  </a:txBody>
                  <a:tcPr/>
                </a:tc>
                <a:tc>
                  <a:txBody>
                    <a:bodyPr/>
                    <a:lstStyle/>
                    <a:p>
                      <a:r>
                        <a:rPr lang="en-US" dirty="0"/>
                        <a:t>Average # of Secondary Factors Listed</a:t>
                      </a:r>
                    </a:p>
                  </a:txBody>
                  <a:tcPr/>
                </a:tc>
                <a:extLst>
                  <a:ext uri="{0D108BD9-81ED-4DB2-BD59-A6C34878D82A}">
                    <a16:rowId xmlns:a16="http://schemas.microsoft.com/office/drawing/2014/main" val="3441494424"/>
                  </a:ext>
                </a:extLst>
              </a:tr>
              <a:tr h="370840">
                <a:tc>
                  <a:txBody>
                    <a:bodyPr/>
                    <a:lstStyle/>
                    <a:p>
                      <a:r>
                        <a:rPr lang="en-US" dirty="0"/>
                        <a:t>White</a:t>
                      </a:r>
                    </a:p>
                  </a:txBody>
                  <a:tcPr>
                    <a:solidFill>
                      <a:schemeClr val="bg2"/>
                    </a:solidFill>
                  </a:tcPr>
                </a:tc>
                <a:tc>
                  <a:txBody>
                    <a:bodyPr/>
                    <a:lstStyle/>
                    <a:p>
                      <a:r>
                        <a:rPr lang="en-US" dirty="0"/>
                        <a:t>1.26</a:t>
                      </a:r>
                    </a:p>
                  </a:txBody>
                  <a:tcPr>
                    <a:solidFill>
                      <a:schemeClr val="bg2"/>
                    </a:solidFill>
                  </a:tcPr>
                </a:tc>
                <a:extLst>
                  <a:ext uri="{0D108BD9-81ED-4DB2-BD59-A6C34878D82A}">
                    <a16:rowId xmlns:a16="http://schemas.microsoft.com/office/drawing/2014/main" val="1978091271"/>
                  </a:ext>
                </a:extLst>
              </a:tr>
              <a:tr h="370840">
                <a:tc>
                  <a:txBody>
                    <a:bodyPr/>
                    <a:lstStyle/>
                    <a:p>
                      <a:r>
                        <a:rPr lang="en-US" dirty="0"/>
                        <a:t>Black</a:t>
                      </a:r>
                    </a:p>
                  </a:txBody>
                  <a:tcPr>
                    <a:solidFill>
                      <a:schemeClr val="bg2"/>
                    </a:solidFill>
                  </a:tcPr>
                </a:tc>
                <a:tc>
                  <a:txBody>
                    <a:bodyPr/>
                    <a:lstStyle/>
                    <a:p>
                      <a:r>
                        <a:rPr lang="en-US" dirty="0"/>
                        <a:t>1.25</a:t>
                      </a:r>
                    </a:p>
                  </a:txBody>
                  <a:tcPr>
                    <a:solidFill>
                      <a:schemeClr val="bg2"/>
                    </a:solidFill>
                  </a:tcPr>
                </a:tc>
                <a:extLst>
                  <a:ext uri="{0D108BD9-81ED-4DB2-BD59-A6C34878D82A}">
                    <a16:rowId xmlns:a16="http://schemas.microsoft.com/office/drawing/2014/main" val="446706471"/>
                  </a:ext>
                </a:extLst>
              </a:tr>
              <a:tr h="370840">
                <a:tc>
                  <a:txBody>
                    <a:bodyPr/>
                    <a:lstStyle/>
                    <a:p>
                      <a:r>
                        <a:rPr lang="en-US" dirty="0"/>
                        <a:t>Indigenous</a:t>
                      </a:r>
                    </a:p>
                  </a:txBody>
                  <a:tcPr>
                    <a:solidFill>
                      <a:schemeClr val="bg2"/>
                    </a:solidFill>
                  </a:tcPr>
                </a:tc>
                <a:tc>
                  <a:txBody>
                    <a:bodyPr/>
                    <a:lstStyle/>
                    <a:p>
                      <a:r>
                        <a:rPr lang="en-US" dirty="0"/>
                        <a:t>1.6</a:t>
                      </a:r>
                    </a:p>
                  </a:txBody>
                  <a:tcPr>
                    <a:solidFill>
                      <a:schemeClr val="bg2"/>
                    </a:solidFill>
                  </a:tcPr>
                </a:tc>
                <a:extLst>
                  <a:ext uri="{0D108BD9-81ED-4DB2-BD59-A6C34878D82A}">
                    <a16:rowId xmlns:a16="http://schemas.microsoft.com/office/drawing/2014/main" val="3537160196"/>
                  </a:ext>
                </a:extLst>
              </a:tr>
              <a:tr h="370840">
                <a:tc>
                  <a:txBody>
                    <a:bodyPr/>
                    <a:lstStyle/>
                    <a:p>
                      <a:r>
                        <a:rPr lang="en-US" dirty="0"/>
                        <a:t>Asian or Pacific Islander </a:t>
                      </a:r>
                    </a:p>
                  </a:txBody>
                  <a:tcPr>
                    <a:solidFill>
                      <a:schemeClr val="bg2"/>
                    </a:solidFill>
                  </a:tcPr>
                </a:tc>
                <a:tc>
                  <a:txBody>
                    <a:bodyPr/>
                    <a:lstStyle/>
                    <a:p>
                      <a:r>
                        <a:rPr lang="en-US" dirty="0"/>
                        <a:t>1.3</a:t>
                      </a:r>
                    </a:p>
                  </a:txBody>
                  <a:tcPr>
                    <a:solidFill>
                      <a:schemeClr val="bg2"/>
                    </a:solidFill>
                  </a:tcPr>
                </a:tc>
                <a:extLst>
                  <a:ext uri="{0D108BD9-81ED-4DB2-BD59-A6C34878D82A}">
                    <a16:rowId xmlns:a16="http://schemas.microsoft.com/office/drawing/2014/main" val="2050751449"/>
                  </a:ext>
                </a:extLst>
              </a:tr>
            </a:tbl>
          </a:graphicData>
        </a:graphic>
      </p:graphicFrame>
      <p:graphicFrame>
        <p:nvGraphicFramePr>
          <p:cNvPr id="4" name="Table 3">
            <a:extLst>
              <a:ext uri="{FF2B5EF4-FFF2-40B4-BE49-F238E27FC236}">
                <a16:creationId xmlns:a16="http://schemas.microsoft.com/office/drawing/2014/main" id="{C17E42DD-57A9-D130-E29C-C5319A9D5E20}"/>
              </a:ext>
            </a:extLst>
          </p:cNvPr>
          <p:cNvGraphicFramePr>
            <a:graphicFrameLocks noGrp="1"/>
          </p:cNvGraphicFramePr>
          <p:nvPr>
            <p:extLst>
              <p:ext uri="{D42A27DB-BD31-4B8C-83A1-F6EECF244321}">
                <p14:modId xmlns:p14="http://schemas.microsoft.com/office/powerpoint/2010/main" val="3481792819"/>
              </p:ext>
            </p:extLst>
          </p:nvPr>
        </p:nvGraphicFramePr>
        <p:xfrm>
          <a:off x="5742432" y="1450749"/>
          <a:ext cx="2962656" cy="1649883"/>
        </p:xfrm>
        <a:graphic>
          <a:graphicData uri="http://schemas.openxmlformats.org/drawingml/2006/table">
            <a:tbl>
              <a:tblPr firstRow="1" bandRow="1">
                <a:tableStyleId>{BFA11F67-8BD6-47EC-9F71-6CD8F6C066F8}</a:tableStyleId>
              </a:tblPr>
              <a:tblGrid>
                <a:gridCol w="1078992">
                  <a:extLst>
                    <a:ext uri="{9D8B030D-6E8A-4147-A177-3AD203B41FA5}">
                      <a16:colId xmlns:a16="http://schemas.microsoft.com/office/drawing/2014/main" val="1142209065"/>
                    </a:ext>
                  </a:extLst>
                </a:gridCol>
                <a:gridCol w="1883664">
                  <a:extLst>
                    <a:ext uri="{9D8B030D-6E8A-4147-A177-3AD203B41FA5}">
                      <a16:colId xmlns:a16="http://schemas.microsoft.com/office/drawing/2014/main" val="2977386956"/>
                    </a:ext>
                  </a:extLst>
                </a:gridCol>
              </a:tblGrid>
              <a:tr h="710367">
                <a:tc>
                  <a:txBody>
                    <a:bodyPr/>
                    <a:lstStyle/>
                    <a:p>
                      <a:r>
                        <a:rPr lang="en-US" dirty="0"/>
                        <a:t>Sex</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Average # of Secondary Factors Listed</a:t>
                      </a:r>
                    </a:p>
                  </a:txBody>
                  <a:tcPr/>
                </a:tc>
                <a:extLst>
                  <a:ext uri="{0D108BD9-81ED-4DB2-BD59-A6C34878D82A}">
                    <a16:rowId xmlns:a16="http://schemas.microsoft.com/office/drawing/2014/main" val="1392087711"/>
                  </a:ext>
                </a:extLst>
              </a:tr>
              <a:tr h="469758">
                <a:tc>
                  <a:txBody>
                    <a:bodyPr/>
                    <a:lstStyle/>
                    <a:p>
                      <a:r>
                        <a:rPr lang="en-US" dirty="0"/>
                        <a:t>Female</a:t>
                      </a:r>
                    </a:p>
                  </a:txBody>
                  <a:tcPr/>
                </a:tc>
                <a:tc>
                  <a:txBody>
                    <a:bodyPr/>
                    <a:lstStyle/>
                    <a:p>
                      <a:r>
                        <a:rPr lang="en-US" dirty="0"/>
                        <a:t>1.2</a:t>
                      </a:r>
                    </a:p>
                  </a:txBody>
                  <a:tcPr/>
                </a:tc>
                <a:extLst>
                  <a:ext uri="{0D108BD9-81ED-4DB2-BD59-A6C34878D82A}">
                    <a16:rowId xmlns:a16="http://schemas.microsoft.com/office/drawing/2014/main" val="30744591"/>
                  </a:ext>
                </a:extLst>
              </a:tr>
              <a:tr h="469758">
                <a:tc>
                  <a:txBody>
                    <a:bodyPr/>
                    <a:lstStyle/>
                    <a:p>
                      <a:r>
                        <a:rPr lang="en-US" dirty="0"/>
                        <a:t>Male</a:t>
                      </a:r>
                    </a:p>
                  </a:txBody>
                  <a:tcPr/>
                </a:tc>
                <a:tc>
                  <a:txBody>
                    <a:bodyPr/>
                    <a:lstStyle/>
                    <a:p>
                      <a:r>
                        <a:rPr lang="en-US" dirty="0"/>
                        <a:t>1.3</a:t>
                      </a:r>
                    </a:p>
                  </a:txBody>
                  <a:tcPr/>
                </a:tc>
                <a:extLst>
                  <a:ext uri="{0D108BD9-81ED-4DB2-BD59-A6C34878D82A}">
                    <a16:rowId xmlns:a16="http://schemas.microsoft.com/office/drawing/2014/main" val="3998251909"/>
                  </a:ext>
                </a:extLst>
              </a:tr>
            </a:tbl>
          </a:graphicData>
        </a:graphic>
      </p:graphicFrame>
      <p:sp>
        <p:nvSpPr>
          <p:cNvPr id="3" name="TextBox 2">
            <a:extLst>
              <a:ext uri="{FF2B5EF4-FFF2-40B4-BE49-F238E27FC236}">
                <a16:creationId xmlns:a16="http://schemas.microsoft.com/office/drawing/2014/main" id="{7333EF8F-6E9D-6C42-AE85-8848ADFBA96E}"/>
              </a:ext>
            </a:extLst>
          </p:cNvPr>
          <p:cNvSpPr txBox="1"/>
          <p:nvPr/>
        </p:nvSpPr>
        <p:spPr>
          <a:xfrm>
            <a:off x="311700" y="3719015"/>
            <a:ext cx="3370614" cy="369332"/>
          </a:xfrm>
          <a:prstGeom prst="rect">
            <a:avLst/>
          </a:prstGeom>
          <a:noFill/>
        </p:spPr>
        <p:txBody>
          <a:bodyPr wrap="square" rtlCol="0">
            <a:spAutoFit/>
          </a:bodyPr>
          <a:lstStyle/>
          <a:p>
            <a:r>
              <a:rPr lang="en-US" dirty="0"/>
              <a:t>The detailedness decreased a lot.</a:t>
            </a:r>
          </a:p>
        </p:txBody>
      </p:sp>
    </p:spTree>
    <p:extLst>
      <p:ext uri="{BB962C8B-B14F-4D97-AF65-F5344CB8AC3E}">
        <p14:creationId xmlns:p14="http://schemas.microsoft.com/office/powerpoint/2010/main" val="16416394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70A062C9-23D9-E47F-1C85-90CC9D3BE22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7455174-3AAB-CE32-9151-6E39E46B7024}"/>
              </a:ext>
            </a:extLst>
          </p:cNvPr>
          <p:cNvSpPr txBox="1"/>
          <p:nvPr/>
        </p:nvSpPr>
        <p:spPr>
          <a:xfrm>
            <a:off x="250253" y="144581"/>
            <a:ext cx="8643494" cy="338554"/>
          </a:xfrm>
          <a:prstGeom prst="rect">
            <a:avLst/>
          </a:prstGeom>
          <a:noFill/>
        </p:spPr>
        <p:txBody>
          <a:bodyPr wrap="square" rtlCol="0">
            <a:spAutoFit/>
          </a:bodyPr>
          <a:lstStyle/>
          <a:p>
            <a:r>
              <a:rPr lang="en-US" sz="1600" dirty="0"/>
              <a:t>Average Number of Secondary Factors by Marital Status</a:t>
            </a:r>
          </a:p>
        </p:txBody>
      </p:sp>
      <p:graphicFrame>
        <p:nvGraphicFramePr>
          <p:cNvPr id="3" name="Table 2">
            <a:extLst>
              <a:ext uri="{FF2B5EF4-FFF2-40B4-BE49-F238E27FC236}">
                <a16:creationId xmlns:a16="http://schemas.microsoft.com/office/drawing/2014/main" id="{E02B70DD-E66F-9C69-02B2-04C24801EF83}"/>
              </a:ext>
            </a:extLst>
          </p:cNvPr>
          <p:cNvGraphicFramePr>
            <a:graphicFrameLocks noGrp="1"/>
          </p:cNvGraphicFramePr>
          <p:nvPr>
            <p:extLst>
              <p:ext uri="{D42A27DB-BD31-4B8C-83A1-F6EECF244321}">
                <p14:modId xmlns:p14="http://schemas.microsoft.com/office/powerpoint/2010/main" val="4215837837"/>
              </p:ext>
            </p:extLst>
          </p:nvPr>
        </p:nvGraphicFramePr>
        <p:xfrm>
          <a:off x="379192" y="858274"/>
          <a:ext cx="4192808" cy="2361285"/>
        </p:xfrm>
        <a:graphic>
          <a:graphicData uri="http://schemas.openxmlformats.org/drawingml/2006/table">
            <a:tbl>
              <a:tblPr firstRow="1" bandRow="1">
                <a:tableStyleId>{BFA11F67-8BD6-47EC-9F71-6CD8F6C066F8}</a:tableStyleId>
              </a:tblPr>
              <a:tblGrid>
                <a:gridCol w="2096404">
                  <a:extLst>
                    <a:ext uri="{9D8B030D-6E8A-4147-A177-3AD203B41FA5}">
                      <a16:colId xmlns:a16="http://schemas.microsoft.com/office/drawing/2014/main" val="3989279615"/>
                    </a:ext>
                  </a:extLst>
                </a:gridCol>
                <a:gridCol w="2096404">
                  <a:extLst>
                    <a:ext uri="{9D8B030D-6E8A-4147-A177-3AD203B41FA5}">
                      <a16:colId xmlns:a16="http://schemas.microsoft.com/office/drawing/2014/main" val="4010461188"/>
                    </a:ext>
                  </a:extLst>
                </a:gridCol>
              </a:tblGrid>
              <a:tr h="499916">
                <a:tc>
                  <a:txBody>
                    <a:bodyPr/>
                    <a:lstStyle/>
                    <a:p>
                      <a:r>
                        <a:rPr lang="en-US" dirty="0"/>
                        <a:t>Marital Status</a:t>
                      </a:r>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a:t>Average # of Secondary Factors</a:t>
                      </a:r>
                    </a:p>
                  </a:txBody>
                  <a:tcPr>
                    <a:noFill/>
                  </a:tcPr>
                </a:tc>
                <a:extLst>
                  <a:ext uri="{0D108BD9-81ED-4DB2-BD59-A6C34878D82A}">
                    <a16:rowId xmlns:a16="http://schemas.microsoft.com/office/drawing/2014/main" val="3441494424"/>
                  </a:ext>
                </a:extLst>
              </a:tr>
              <a:tr h="368625">
                <a:tc>
                  <a:txBody>
                    <a:bodyPr/>
                    <a:lstStyle/>
                    <a:p>
                      <a:r>
                        <a:rPr lang="en-US" dirty="0"/>
                        <a:t>Single</a:t>
                      </a:r>
                    </a:p>
                  </a:txBody>
                  <a:tcPr>
                    <a:noFill/>
                  </a:tcPr>
                </a:tc>
                <a:tc>
                  <a:txBody>
                    <a:bodyPr/>
                    <a:lstStyle/>
                    <a:p>
                      <a:r>
                        <a:rPr lang="en-US" dirty="0"/>
                        <a:t>1.3</a:t>
                      </a:r>
                    </a:p>
                  </a:txBody>
                  <a:tcPr>
                    <a:noFill/>
                  </a:tcPr>
                </a:tc>
                <a:extLst>
                  <a:ext uri="{0D108BD9-81ED-4DB2-BD59-A6C34878D82A}">
                    <a16:rowId xmlns:a16="http://schemas.microsoft.com/office/drawing/2014/main" val="1978091271"/>
                  </a:ext>
                </a:extLst>
              </a:tr>
              <a:tr h="368625">
                <a:tc>
                  <a:txBody>
                    <a:bodyPr/>
                    <a:lstStyle/>
                    <a:p>
                      <a:r>
                        <a:rPr lang="en-US" dirty="0"/>
                        <a:t>Unknown</a:t>
                      </a:r>
                    </a:p>
                  </a:txBody>
                  <a:tcPr>
                    <a:noFill/>
                  </a:tcPr>
                </a:tc>
                <a:tc>
                  <a:txBody>
                    <a:bodyPr/>
                    <a:lstStyle/>
                    <a:p>
                      <a:r>
                        <a:rPr lang="en-US" dirty="0"/>
                        <a:t>1.4</a:t>
                      </a:r>
                    </a:p>
                  </a:txBody>
                  <a:tcPr>
                    <a:noFill/>
                  </a:tcPr>
                </a:tc>
                <a:extLst>
                  <a:ext uri="{0D108BD9-81ED-4DB2-BD59-A6C34878D82A}">
                    <a16:rowId xmlns:a16="http://schemas.microsoft.com/office/drawing/2014/main" val="446706471"/>
                  </a:ext>
                </a:extLst>
              </a:tr>
              <a:tr h="368625">
                <a:tc>
                  <a:txBody>
                    <a:bodyPr/>
                    <a:lstStyle/>
                    <a:p>
                      <a:r>
                        <a:rPr lang="en-US" dirty="0"/>
                        <a:t>Divorced</a:t>
                      </a:r>
                    </a:p>
                  </a:txBody>
                  <a:tcPr>
                    <a:noFill/>
                  </a:tcPr>
                </a:tc>
                <a:tc>
                  <a:txBody>
                    <a:bodyPr/>
                    <a:lstStyle/>
                    <a:p>
                      <a:r>
                        <a:rPr lang="en-US" dirty="0"/>
                        <a:t>1.3</a:t>
                      </a:r>
                    </a:p>
                  </a:txBody>
                  <a:tcPr>
                    <a:noFill/>
                  </a:tcPr>
                </a:tc>
                <a:extLst>
                  <a:ext uri="{0D108BD9-81ED-4DB2-BD59-A6C34878D82A}">
                    <a16:rowId xmlns:a16="http://schemas.microsoft.com/office/drawing/2014/main" val="3537160196"/>
                  </a:ext>
                </a:extLst>
              </a:tr>
              <a:tr h="368625">
                <a:tc>
                  <a:txBody>
                    <a:bodyPr/>
                    <a:lstStyle/>
                    <a:p>
                      <a:r>
                        <a:rPr lang="en-US" dirty="0"/>
                        <a:t>Widowed</a:t>
                      </a:r>
                    </a:p>
                  </a:txBody>
                  <a:tcPr>
                    <a:noFill/>
                  </a:tcPr>
                </a:tc>
                <a:tc>
                  <a:txBody>
                    <a:bodyPr/>
                    <a:lstStyle/>
                    <a:p>
                      <a:r>
                        <a:rPr lang="en-US" dirty="0"/>
                        <a:t>1.2</a:t>
                      </a:r>
                    </a:p>
                  </a:txBody>
                  <a:tcPr>
                    <a:noFill/>
                  </a:tcPr>
                </a:tc>
                <a:extLst>
                  <a:ext uri="{0D108BD9-81ED-4DB2-BD59-A6C34878D82A}">
                    <a16:rowId xmlns:a16="http://schemas.microsoft.com/office/drawing/2014/main" val="2050751449"/>
                  </a:ext>
                </a:extLst>
              </a:tr>
              <a:tr h="368625">
                <a:tc>
                  <a:txBody>
                    <a:bodyPr/>
                    <a:lstStyle/>
                    <a:p>
                      <a:r>
                        <a:rPr lang="en-US" dirty="0"/>
                        <a:t>Married</a:t>
                      </a:r>
                    </a:p>
                  </a:txBody>
                  <a:tcPr>
                    <a:noFill/>
                  </a:tcPr>
                </a:tc>
                <a:tc>
                  <a:txBody>
                    <a:bodyPr/>
                    <a:lstStyle/>
                    <a:p>
                      <a:r>
                        <a:rPr lang="en-US" dirty="0"/>
                        <a:t>1.3</a:t>
                      </a:r>
                    </a:p>
                  </a:txBody>
                  <a:tcPr>
                    <a:noFill/>
                  </a:tcPr>
                </a:tc>
                <a:extLst>
                  <a:ext uri="{0D108BD9-81ED-4DB2-BD59-A6C34878D82A}">
                    <a16:rowId xmlns:a16="http://schemas.microsoft.com/office/drawing/2014/main" val="4210811717"/>
                  </a:ext>
                </a:extLst>
              </a:tr>
            </a:tbl>
          </a:graphicData>
        </a:graphic>
      </p:graphicFrame>
      <p:sp>
        <p:nvSpPr>
          <p:cNvPr id="5" name="TextBox 4">
            <a:extLst>
              <a:ext uri="{FF2B5EF4-FFF2-40B4-BE49-F238E27FC236}">
                <a16:creationId xmlns:a16="http://schemas.microsoft.com/office/drawing/2014/main" id="{A2D4727E-6993-919D-4D0D-C1B611FFCFA6}"/>
              </a:ext>
            </a:extLst>
          </p:cNvPr>
          <p:cNvSpPr txBox="1"/>
          <p:nvPr/>
        </p:nvSpPr>
        <p:spPr>
          <a:xfrm>
            <a:off x="4946310" y="1623417"/>
            <a:ext cx="3358195" cy="830997"/>
          </a:xfrm>
          <a:prstGeom prst="rect">
            <a:avLst/>
          </a:prstGeom>
          <a:noFill/>
        </p:spPr>
        <p:txBody>
          <a:bodyPr wrap="square" rtlCol="0">
            <a:spAutoFit/>
          </a:bodyPr>
          <a:lstStyle/>
          <a:p>
            <a:r>
              <a:rPr lang="en-US" sz="1600" dirty="0"/>
              <a:t>Education status similarly shows that more educated people have less secondary factors listed.</a:t>
            </a:r>
          </a:p>
        </p:txBody>
      </p:sp>
    </p:spTree>
    <p:extLst>
      <p:ext uri="{BB962C8B-B14F-4D97-AF65-F5344CB8AC3E}">
        <p14:creationId xmlns:p14="http://schemas.microsoft.com/office/powerpoint/2010/main" val="4204306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A5D39B50-8A05-9DA1-11EC-558BC37B2C6F}"/>
            </a:ext>
          </a:extLst>
        </p:cNvPr>
        <p:cNvGrpSpPr/>
        <p:nvPr/>
      </p:nvGrpSpPr>
      <p:grpSpPr>
        <a:xfrm>
          <a:off x="0" y="0"/>
          <a:ext cx="0" cy="0"/>
          <a:chOff x="0" y="0"/>
          <a:chExt cx="0" cy="0"/>
        </a:xfrm>
      </p:grpSpPr>
      <p:pic>
        <p:nvPicPr>
          <p:cNvPr id="7" name="Picture 6" descr="A graph with red bars&#10;&#10;AI-generated content may be incorrect.">
            <a:extLst>
              <a:ext uri="{FF2B5EF4-FFF2-40B4-BE49-F238E27FC236}">
                <a16:creationId xmlns:a16="http://schemas.microsoft.com/office/drawing/2014/main" id="{56493269-1695-A268-D428-021F6B2AE8DC}"/>
              </a:ext>
            </a:extLst>
          </p:cNvPr>
          <p:cNvPicPr>
            <a:picLocks noChangeAspect="1"/>
          </p:cNvPicPr>
          <p:nvPr/>
        </p:nvPicPr>
        <p:blipFill>
          <a:blip r:embed="rId3"/>
          <a:stretch>
            <a:fillRect/>
          </a:stretch>
        </p:blipFill>
        <p:spPr>
          <a:xfrm>
            <a:off x="914400" y="742950"/>
            <a:ext cx="7315200" cy="3657600"/>
          </a:xfrm>
          <a:prstGeom prst="rect">
            <a:avLst/>
          </a:prstGeom>
        </p:spPr>
      </p:pic>
    </p:spTree>
    <p:extLst>
      <p:ext uri="{BB962C8B-B14F-4D97-AF65-F5344CB8AC3E}">
        <p14:creationId xmlns:p14="http://schemas.microsoft.com/office/powerpoint/2010/main" val="18740085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45F34ABE-7195-F3F5-CF9C-85AB974E64C2}"/>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6907E14E-933F-A748-EDB1-1EE5E1E5B6E1}"/>
              </a:ext>
            </a:extLst>
          </p:cNvPr>
          <p:cNvSpPr txBox="1"/>
          <p:nvPr/>
        </p:nvSpPr>
        <p:spPr>
          <a:xfrm>
            <a:off x="557940" y="823449"/>
            <a:ext cx="7467312" cy="627300"/>
          </a:xfrm>
          <a:prstGeom prst="rect">
            <a:avLst/>
          </a:prstGeom>
          <a:noFill/>
          <a:ln>
            <a:noFill/>
          </a:ln>
        </p:spPr>
        <p:txBody>
          <a:bodyPr spcFirstLastPara="1" wrap="square" lIns="91425" tIns="91425" rIns="91425" bIns="91425" anchor="t" anchorCtr="0">
            <a:noAutofit/>
          </a:bodyPr>
          <a:lstStyle/>
          <a:p>
            <a:pPr lvl="0"/>
            <a:r>
              <a:rPr lang="en-CA" dirty="0">
                <a:solidFill>
                  <a:schemeClr val="dk2"/>
                </a:solidFill>
              </a:rPr>
              <a:t>The average number of listed secondary factors was 1.99</a:t>
            </a:r>
          </a:p>
        </p:txBody>
      </p:sp>
      <p:graphicFrame>
        <p:nvGraphicFramePr>
          <p:cNvPr id="2" name="Table 1">
            <a:extLst>
              <a:ext uri="{FF2B5EF4-FFF2-40B4-BE49-F238E27FC236}">
                <a16:creationId xmlns:a16="http://schemas.microsoft.com/office/drawing/2014/main" id="{F7BEFE09-748C-80DC-607B-EC3D8CB9AC83}"/>
              </a:ext>
            </a:extLst>
          </p:cNvPr>
          <p:cNvGraphicFramePr>
            <a:graphicFrameLocks noGrp="1"/>
          </p:cNvGraphicFramePr>
          <p:nvPr>
            <p:extLst>
              <p:ext uri="{D42A27DB-BD31-4B8C-83A1-F6EECF244321}">
                <p14:modId xmlns:p14="http://schemas.microsoft.com/office/powerpoint/2010/main" val="2122367723"/>
              </p:ext>
            </p:extLst>
          </p:nvPr>
        </p:nvGraphicFramePr>
        <p:xfrm>
          <a:off x="311700" y="1462758"/>
          <a:ext cx="4973532" cy="1986280"/>
        </p:xfrm>
        <a:graphic>
          <a:graphicData uri="http://schemas.openxmlformats.org/drawingml/2006/table">
            <a:tbl>
              <a:tblPr firstRow="1" bandRow="1">
                <a:tableStyleId>{BFA11F67-8BD6-47EC-9F71-6CD8F6C066F8}</a:tableStyleId>
              </a:tblPr>
              <a:tblGrid>
                <a:gridCol w="2486766">
                  <a:extLst>
                    <a:ext uri="{9D8B030D-6E8A-4147-A177-3AD203B41FA5}">
                      <a16:colId xmlns:a16="http://schemas.microsoft.com/office/drawing/2014/main" val="3989279615"/>
                    </a:ext>
                  </a:extLst>
                </a:gridCol>
                <a:gridCol w="2486766">
                  <a:extLst>
                    <a:ext uri="{9D8B030D-6E8A-4147-A177-3AD203B41FA5}">
                      <a16:colId xmlns:a16="http://schemas.microsoft.com/office/drawing/2014/main" val="4010461188"/>
                    </a:ext>
                  </a:extLst>
                </a:gridCol>
              </a:tblGrid>
              <a:tr h="370840">
                <a:tc>
                  <a:txBody>
                    <a:bodyPr/>
                    <a:lstStyle/>
                    <a:p>
                      <a:r>
                        <a:rPr lang="en-US" dirty="0"/>
                        <a:t>Race</a:t>
                      </a:r>
                    </a:p>
                  </a:txBody>
                  <a:tcPr/>
                </a:tc>
                <a:tc>
                  <a:txBody>
                    <a:bodyPr/>
                    <a:lstStyle/>
                    <a:p>
                      <a:r>
                        <a:rPr lang="en-US" dirty="0"/>
                        <a:t>Percentage with 0 secondary factors listed</a:t>
                      </a:r>
                    </a:p>
                  </a:txBody>
                  <a:tcPr/>
                </a:tc>
                <a:extLst>
                  <a:ext uri="{0D108BD9-81ED-4DB2-BD59-A6C34878D82A}">
                    <a16:rowId xmlns:a16="http://schemas.microsoft.com/office/drawing/2014/main" val="3441494424"/>
                  </a:ext>
                </a:extLst>
              </a:tr>
              <a:tr h="370840">
                <a:tc>
                  <a:txBody>
                    <a:bodyPr/>
                    <a:lstStyle/>
                    <a:p>
                      <a:r>
                        <a:rPr lang="en-US" dirty="0"/>
                        <a:t>White</a:t>
                      </a:r>
                    </a:p>
                  </a:txBody>
                  <a:tcPr>
                    <a:solidFill>
                      <a:schemeClr val="bg2"/>
                    </a:solidFill>
                  </a:tcPr>
                </a:tc>
                <a:tc>
                  <a:txBody>
                    <a:bodyPr/>
                    <a:lstStyle/>
                    <a:p>
                      <a:r>
                        <a:rPr lang="en-US" dirty="0"/>
                        <a:t>15.1%</a:t>
                      </a:r>
                    </a:p>
                  </a:txBody>
                  <a:tcPr>
                    <a:solidFill>
                      <a:schemeClr val="bg2"/>
                    </a:solidFill>
                  </a:tcPr>
                </a:tc>
                <a:extLst>
                  <a:ext uri="{0D108BD9-81ED-4DB2-BD59-A6C34878D82A}">
                    <a16:rowId xmlns:a16="http://schemas.microsoft.com/office/drawing/2014/main" val="1978091271"/>
                  </a:ext>
                </a:extLst>
              </a:tr>
              <a:tr h="370840">
                <a:tc>
                  <a:txBody>
                    <a:bodyPr/>
                    <a:lstStyle/>
                    <a:p>
                      <a:r>
                        <a:rPr lang="en-US" dirty="0"/>
                        <a:t>Black</a:t>
                      </a:r>
                    </a:p>
                  </a:txBody>
                  <a:tcPr>
                    <a:solidFill>
                      <a:schemeClr val="bg2"/>
                    </a:solidFill>
                  </a:tcPr>
                </a:tc>
                <a:tc>
                  <a:txBody>
                    <a:bodyPr/>
                    <a:lstStyle/>
                    <a:p>
                      <a:r>
                        <a:rPr lang="en-US" dirty="0"/>
                        <a:t>15.5%</a:t>
                      </a:r>
                    </a:p>
                  </a:txBody>
                  <a:tcPr>
                    <a:solidFill>
                      <a:schemeClr val="bg2"/>
                    </a:solidFill>
                  </a:tcPr>
                </a:tc>
                <a:extLst>
                  <a:ext uri="{0D108BD9-81ED-4DB2-BD59-A6C34878D82A}">
                    <a16:rowId xmlns:a16="http://schemas.microsoft.com/office/drawing/2014/main" val="446706471"/>
                  </a:ext>
                </a:extLst>
              </a:tr>
              <a:tr h="370840">
                <a:tc>
                  <a:txBody>
                    <a:bodyPr/>
                    <a:lstStyle/>
                    <a:p>
                      <a:r>
                        <a:rPr lang="en-US" dirty="0"/>
                        <a:t>Indigenous</a:t>
                      </a:r>
                    </a:p>
                  </a:txBody>
                  <a:tcPr>
                    <a:solidFill>
                      <a:schemeClr val="bg2"/>
                    </a:solidFill>
                  </a:tcPr>
                </a:tc>
                <a:tc>
                  <a:txBody>
                    <a:bodyPr/>
                    <a:lstStyle/>
                    <a:p>
                      <a:r>
                        <a:rPr lang="en-US" dirty="0"/>
                        <a:t>16.6%</a:t>
                      </a:r>
                    </a:p>
                  </a:txBody>
                  <a:tcPr>
                    <a:solidFill>
                      <a:schemeClr val="bg2"/>
                    </a:solidFill>
                  </a:tcPr>
                </a:tc>
                <a:extLst>
                  <a:ext uri="{0D108BD9-81ED-4DB2-BD59-A6C34878D82A}">
                    <a16:rowId xmlns:a16="http://schemas.microsoft.com/office/drawing/2014/main" val="3537160196"/>
                  </a:ext>
                </a:extLst>
              </a:tr>
              <a:tr h="370840">
                <a:tc>
                  <a:txBody>
                    <a:bodyPr/>
                    <a:lstStyle/>
                    <a:p>
                      <a:r>
                        <a:rPr lang="en-US" dirty="0"/>
                        <a:t>Asian or Pacific Islander </a:t>
                      </a:r>
                    </a:p>
                  </a:txBody>
                  <a:tcPr>
                    <a:solidFill>
                      <a:schemeClr val="bg2"/>
                    </a:solidFill>
                  </a:tcPr>
                </a:tc>
                <a:tc>
                  <a:txBody>
                    <a:bodyPr/>
                    <a:lstStyle/>
                    <a:p>
                      <a:r>
                        <a:rPr lang="en-US" dirty="0"/>
                        <a:t>15.4%</a:t>
                      </a:r>
                    </a:p>
                  </a:txBody>
                  <a:tcPr>
                    <a:solidFill>
                      <a:schemeClr val="bg2"/>
                    </a:solidFill>
                  </a:tcPr>
                </a:tc>
                <a:extLst>
                  <a:ext uri="{0D108BD9-81ED-4DB2-BD59-A6C34878D82A}">
                    <a16:rowId xmlns:a16="http://schemas.microsoft.com/office/drawing/2014/main" val="2050751449"/>
                  </a:ext>
                </a:extLst>
              </a:tr>
            </a:tbl>
          </a:graphicData>
        </a:graphic>
      </p:graphicFrame>
      <p:graphicFrame>
        <p:nvGraphicFramePr>
          <p:cNvPr id="4" name="Table 3">
            <a:extLst>
              <a:ext uri="{FF2B5EF4-FFF2-40B4-BE49-F238E27FC236}">
                <a16:creationId xmlns:a16="http://schemas.microsoft.com/office/drawing/2014/main" id="{9C538A27-2942-CA14-AAA5-39B6C43C53B4}"/>
              </a:ext>
            </a:extLst>
          </p:cNvPr>
          <p:cNvGraphicFramePr>
            <a:graphicFrameLocks noGrp="1"/>
          </p:cNvGraphicFramePr>
          <p:nvPr>
            <p:extLst>
              <p:ext uri="{D42A27DB-BD31-4B8C-83A1-F6EECF244321}">
                <p14:modId xmlns:p14="http://schemas.microsoft.com/office/powerpoint/2010/main" val="2347005051"/>
              </p:ext>
            </p:extLst>
          </p:nvPr>
        </p:nvGraphicFramePr>
        <p:xfrm>
          <a:off x="5742432" y="1450749"/>
          <a:ext cx="2962656" cy="1649883"/>
        </p:xfrm>
        <a:graphic>
          <a:graphicData uri="http://schemas.openxmlformats.org/drawingml/2006/table">
            <a:tbl>
              <a:tblPr firstRow="1" bandRow="1">
                <a:tableStyleId>{BFA11F67-8BD6-47EC-9F71-6CD8F6C066F8}</a:tableStyleId>
              </a:tblPr>
              <a:tblGrid>
                <a:gridCol w="1078992">
                  <a:extLst>
                    <a:ext uri="{9D8B030D-6E8A-4147-A177-3AD203B41FA5}">
                      <a16:colId xmlns:a16="http://schemas.microsoft.com/office/drawing/2014/main" val="1142209065"/>
                    </a:ext>
                  </a:extLst>
                </a:gridCol>
                <a:gridCol w="1883664">
                  <a:extLst>
                    <a:ext uri="{9D8B030D-6E8A-4147-A177-3AD203B41FA5}">
                      <a16:colId xmlns:a16="http://schemas.microsoft.com/office/drawing/2014/main" val="2977386956"/>
                    </a:ext>
                  </a:extLst>
                </a:gridCol>
              </a:tblGrid>
              <a:tr h="710367">
                <a:tc>
                  <a:txBody>
                    <a:bodyPr/>
                    <a:lstStyle/>
                    <a:p>
                      <a:r>
                        <a:rPr lang="en-US" dirty="0"/>
                        <a:t>Sex</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Average # of Secondary Factors Listed</a:t>
                      </a:r>
                    </a:p>
                  </a:txBody>
                  <a:tcPr/>
                </a:tc>
                <a:extLst>
                  <a:ext uri="{0D108BD9-81ED-4DB2-BD59-A6C34878D82A}">
                    <a16:rowId xmlns:a16="http://schemas.microsoft.com/office/drawing/2014/main" val="1392087711"/>
                  </a:ext>
                </a:extLst>
              </a:tr>
              <a:tr h="469758">
                <a:tc>
                  <a:txBody>
                    <a:bodyPr/>
                    <a:lstStyle/>
                    <a:p>
                      <a:r>
                        <a:rPr lang="en-US" dirty="0"/>
                        <a:t>Female</a:t>
                      </a:r>
                    </a:p>
                  </a:txBody>
                  <a:tcPr/>
                </a:tc>
                <a:tc>
                  <a:txBody>
                    <a:bodyPr/>
                    <a:lstStyle/>
                    <a:p>
                      <a:r>
                        <a:rPr lang="en-US" dirty="0"/>
                        <a:t>14.8%</a:t>
                      </a:r>
                    </a:p>
                  </a:txBody>
                  <a:tcPr/>
                </a:tc>
                <a:extLst>
                  <a:ext uri="{0D108BD9-81ED-4DB2-BD59-A6C34878D82A}">
                    <a16:rowId xmlns:a16="http://schemas.microsoft.com/office/drawing/2014/main" val="30744591"/>
                  </a:ext>
                </a:extLst>
              </a:tr>
              <a:tr h="469758">
                <a:tc>
                  <a:txBody>
                    <a:bodyPr/>
                    <a:lstStyle/>
                    <a:p>
                      <a:r>
                        <a:rPr lang="en-US" dirty="0"/>
                        <a:t>Male</a:t>
                      </a:r>
                    </a:p>
                  </a:txBody>
                  <a:tcPr/>
                </a:tc>
                <a:tc>
                  <a:txBody>
                    <a:bodyPr/>
                    <a:lstStyle/>
                    <a:p>
                      <a:r>
                        <a:rPr lang="en-US" dirty="0"/>
                        <a:t>15.6%</a:t>
                      </a:r>
                    </a:p>
                  </a:txBody>
                  <a:tcPr/>
                </a:tc>
                <a:extLst>
                  <a:ext uri="{0D108BD9-81ED-4DB2-BD59-A6C34878D82A}">
                    <a16:rowId xmlns:a16="http://schemas.microsoft.com/office/drawing/2014/main" val="3998251909"/>
                  </a:ext>
                </a:extLst>
              </a:tr>
            </a:tbl>
          </a:graphicData>
        </a:graphic>
      </p:graphicFrame>
      <p:sp>
        <p:nvSpPr>
          <p:cNvPr id="6" name="Google Shape;59;p14">
            <a:extLst>
              <a:ext uri="{FF2B5EF4-FFF2-40B4-BE49-F238E27FC236}">
                <a16:creationId xmlns:a16="http://schemas.microsoft.com/office/drawing/2014/main" id="{F2AF3BE8-FBCA-B778-2EBE-A0E7E93767BB}"/>
              </a:ext>
            </a:extLst>
          </p:cNvPr>
          <p:cNvSpPr txBox="1">
            <a:spLocks/>
          </p:cNvSpPr>
          <p:nvPr/>
        </p:nvSpPr>
        <p:spPr>
          <a:xfrm>
            <a:off x="311700" y="196149"/>
            <a:ext cx="8520600" cy="627300"/>
          </a:xfrm>
          <a:prstGeom prst="rect">
            <a:avLst/>
          </a:prstGeom>
        </p:spPr>
        <p:txBody>
          <a:bodyPr spcFirstLastPara="1" vert="horz" wrap="square" lIns="91425" tIns="91425" rIns="91425" bIns="91425"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spcBef>
                <a:spcPts val="0"/>
              </a:spcBef>
              <a:buSzPts val="990"/>
            </a:pPr>
            <a:r>
              <a:rPr lang="en-CA" sz="2800" dirty="0"/>
              <a:t>Proportion with 0 secondary factors listed</a:t>
            </a:r>
          </a:p>
        </p:txBody>
      </p:sp>
    </p:spTree>
    <p:extLst>
      <p:ext uri="{BB962C8B-B14F-4D97-AF65-F5344CB8AC3E}">
        <p14:creationId xmlns:p14="http://schemas.microsoft.com/office/powerpoint/2010/main" val="21548815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2BB1FAB5-1F1E-FC6F-F0BC-E2C1CB2DCB2D}"/>
            </a:ext>
          </a:extLst>
        </p:cNvPr>
        <p:cNvGrpSpPr/>
        <p:nvPr/>
      </p:nvGrpSpPr>
      <p:grpSpPr>
        <a:xfrm>
          <a:off x="0" y="0"/>
          <a:ext cx="0" cy="0"/>
          <a:chOff x="0" y="0"/>
          <a:chExt cx="0" cy="0"/>
        </a:xfrm>
      </p:grpSpPr>
      <p:sp>
        <p:nvSpPr>
          <p:cNvPr id="6" name="Google Shape;59;p14">
            <a:extLst>
              <a:ext uri="{FF2B5EF4-FFF2-40B4-BE49-F238E27FC236}">
                <a16:creationId xmlns:a16="http://schemas.microsoft.com/office/drawing/2014/main" id="{7C0509CF-46FB-FA22-38DC-F8BF14B816F1}"/>
              </a:ext>
            </a:extLst>
          </p:cNvPr>
          <p:cNvSpPr txBox="1">
            <a:spLocks/>
          </p:cNvSpPr>
          <p:nvPr/>
        </p:nvSpPr>
        <p:spPr>
          <a:xfrm>
            <a:off x="311700" y="196149"/>
            <a:ext cx="8520600" cy="627300"/>
          </a:xfrm>
          <a:prstGeom prst="rect">
            <a:avLst/>
          </a:prstGeom>
        </p:spPr>
        <p:txBody>
          <a:bodyPr spcFirstLastPara="1" vert="horz" wrap="square" lIns="91425" tIns="91425" rIns="91425" bIns="91425" rtlCol="0" anchor="b" anchorCtr="0">
            <a:noAutofit/>
          </a:bodyPr>
          <a:lstStyle>
            <a:lvl1pPr algn="ctr" defTabSz="685800" rtl="0" eaLnBrk="1" latinLnBrk="0" hangingPunct="1">
              <a:lnSpc>
                <a:spcPct val="90000"/>
              </a:lnSpc>
              <a:spcBef>
                <a:spcPct val="0"/>
              </a:spcBef>
              <a:buNone/>
              <a:defRPr sz="4500" kern="1200">
                <a:solidFill>
                  <a:schemeClr val="tx1"/>
                </a:solidFill>
                <a:latin typeface="+mj-lt"/>
                <a:ea typeface="+mj-ea"/>
                <a:cs typeface="+mj-cs"/>
              </a:defRPr>
            </a:lvl1pPr>
          </a:lstStyle>
          <a:p>
            <a:pPr>
              <a:spcBef>
                <a:spcPts val="0"/>
              </a:spcBef>
              <a:buSzPts val="990"/>
            </a:pPr>
            <a:r>
              <a:rPr lang="en-CA" sz="2800" dirty="0"/>
              <a:t>Proportion with 0 secondary factors listed</a:t>
            </a:r>
          </a:p>
        </p:txBody>
      </p:sp>
      <p:graphicFrame>
        <p:nvGraphicFramePr>
          <p:cNvPr id="3" name="Table 2">
            <a:extLst>
              <a:ext uri="{FF2B5EF4-FFF2-40B4-BE49-F238E27FC236}">
                <a16:creationId xmlns:a16="http://schemas.microsoft.com/office/drawing/2014/main" id="{349EEFAB-07C4-F9D2-BBB1-606CECAB1644}"/>
              </a:ext>
            </a:extLst>
          </p:cNvPr>
          <p:cNvGraphicFramePr>
            <a:graphicFrameLocks noGrp="1"/>
          </p:cNvGraphicFramePr>
          <p:nvPr>
            <p:extLst>
              <p:ext uri="{D42A27DB-BD31-4B8C-83A1-F6EECF244321}">
                <p14:modId xmlns:p14="http://schemas.microsoft.com/office/powerpoint/2010/main" val="2617596970"/>
              </p:ext>
            </p:extLst>
          </p:nvPr>
        </p:nvGraphicFramePr>
        <p:xfrm>
          <a:off x="2774590" y="1408691"/>
          <a:ext cx="3844852" cy="2574645"/>
        </p:xfrm>
        <a:graphic>
          <a:graphicData uri="http://schemas.openxmlformats.org/drawingml/2006/table">
            <a:tbl>
              <a:tblPr firstRow="1" bandRow="1">
                <a:tableStyleId>{BFA11F67-8BD6-47EC-9F71-6CD8F6C066F8}</a:tableStyleId>
              </a:tblPr>
              <a:tblGrid>
                <a:gridCol w="1922426">
                  <a:extLst>
                    <a:ext uri="{9D8B030D-6E8A-4147-A177-3AD203B41FA5}">
                      <a16:colId xmlns:a16="http://schemas.microsoft.com/office/drawing/2014/main" val="3989279615"/>
                    </a:ext>
                  </a:extLst>
                </a:gridCol>
                <a:gridCol w="1922426">
                  <a:extLst>
                    <a:ext uri="{9D8B030D-6E8A-4147-A177-3AD203B41FA5}">
                      <a16:colId xmlns:a16="http://schemas.microsoft.com/office/drawing/2014/main" val="4010461188"/>
                    </a:ext>
                  </a:extLst>
                </a:gridCol>
              </a:tblGrid>
              <a:tr h="499916">
                <a:tc>
                  <a:txBody>
                    <a:bodyPr/>
                    <a:lstStyle/>
                    <a:p>
                      <a:r>
                        <a:rPr lang="en-US" dirty="0"/>
                        <a:t>Marital Status</a:t>
                      </a:r>
                    </a:p>
                  </a:txBody>
                  <a:tcPr>
                    <a:noFill/>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dirty="0"/>
                        <a:t>Percentage with 0 secondary factors  (%)</a:t>
                      </a:r>
                    </a:p>
                  </a:txBody>
                  <a:tcPr>
                    <a:noFill/>
                  </a:tcPr>
                </a:tc>
                <a:extLst>
                  <a:ext uri="{0D108BD9-81ED-4DB2-BD59-A6C34878D82A}">
                    <a16:rowId xmlns:a16="http://schemas.microsoft.com/office/drawing/2014/main" val="3441494424"/>
                  </a:ext>
                </a:extLst>
              </a:tr>
              <a:tr h="368625">
                <a:tc>
                  <a:txBody>
                    <a:bodyPr/>
                    <a:lstStyle/>
                    <a:p>
                      <a:r>
                        <a:rPr lang="en-US" dirty="0"/>
                        <a:t>Single</a:t>
                      </a:r>
                    </a:p>
                  </a:txBody>
                  <a:tcPr>
                    <a:noFill/>
                  </a:tcPr>
                </a:tc>
                <a:tc>
                  <a:txBody>
                    <a:bodyPr/>
                    <a:lstStyle/>
                    <a:p>
                      <a:r>
                        <a:rPr lang="en-US" dirty="0"/>
                        <a:t>15.2</a:t>
                      </a:r>
                    </a:p>
                  </a:txBody>
                  <a:tcPr>
                    <a:noFill/>
                  </a:tcPr>
                </a:tc>
                <a:extLst>
                  <a:ext uri="{0D108BD9-81ED-4DB2-BD59-A6C34878D82A}">
                    <a16:rowId xmlns:a16="http://schemas.microsoft.com/office/drawing/2014/main" val="1978091271"/>
                  </a:ext>
                </a:extLst>
              </a:tr>
              <a:tr h="368625">
                <a:tc>
                  <a:txBody>
                    <a:bodyPr/>
                    <a:lstStyle/>
                    <a:p>
                      <a:r>
                        <a:rPr lang="en-US" dirty="0"/>
                        <a:t>Unknown</a:t>
                      </a:r>
                    </a:p>
                  </a:txBody>
                  <a:tcPr>
                    <a:noFill/>
                  </a:tcPr>
                </a:tc>
                <a:tc>
                  <a:txBody>
                    <a:bodyPr/>
                    <a:lstStyle/>
                    <a:p>
                      <a:r>
                        <a:rPr lang="en-US" dirty="0"/>
                        <a:t>15.7</a:t>
                      </a:r>
                    </a:p>
                  </a:txBody>
                  <a:tcPr>
                    <a:noFill/>
                  </a:tcPr>
                </a:tc>
                <a:extLst>
                  <a:ext uri="{0D108BD9-81ED-4DB2-BD59-A6C34878D82A}">
                    <a16:rowId xmlns:a16="http://schemas.microsoft.com/office/drawing/2014/main" val="446706471"/>
                  </a:ext>
                </a:extLst>
              </a:tr>
              <a:tr h="368625">
                <a:tc>
                  <a:txBody>
                    <a:bodyPr/>
                    <a:lstStyle/>
                    <a:p>
                      <a:r>
                        <a:rPr lang="en-US" dirty="0"/>
                        <a:t>Divorced</a:t>
                      </a:r>
                    </a:p>
                  </a:txBody>
                  <a:tcPr>
                    <a:noFill/>
                  </a:tcPr>
                </a:tc>
                <a:tc>
                  <a:txBody>
                    <a:bodyPr/>
                    <a:lstStyle/>
                    <a:p>
                      <a:r>
                        <a:rPr lang="en-US" dirty="0"/>
                        <a:t>15.6</a:t>
                      </a:r>
                    </a:p>
                  </a:txBody>
                  <a:tcPr>
                    <a:noFill/>
                  </a:tcPr>
                </a:tc>
                <a:extLst>
                  <a:ext uri="{0D108BD9-81ED-4DB2-BD59-A6C34878D82A}">
                    <a16:rowId xmlns:a16="http://schemas.microsoft.com/office/drawing/2014/main" val="3537160196"/>
                  </a:ext>
                </a:extLst>
              </a:tr>
              <a:tr h="368625">
                <a:tc>
                  <a:txBody>
                    <a:bodyPr/>
                    <a:lstStyle/>
                    <a:p>
                      <a:r>
                        <a:rPr lang="en-US" dirty="0"/>
                        <a:t>Widowed</a:t>
                      </a:r>
                    </a:p>
                  </a:txBody>
                  <a:tcPr>
                    <a:noFill/>
                  </a:tcPr>
                </a:tc>
                <a:tc>
                  <a:txBody>
                    <a:bodyPr/>
                    <a:lstStyle/>
                    <a:p>
                      <a:r>
                        <a:rPr lang="en-US" dirty="0"/>
                        <a:t>14.6</a:t>
                      </a:r>
                    </a:p>
                  </a:txBody>
                  <a:tcPr>
                    <a:noFill/>
                  </a:tcPr>
                </a:tc>
                <a:extLst>
                  <a:ext uri="{0D108BD9-81ED-4DB2-BD59-A6C34878D82A}">
                    <a16:rowId xmlns:a16="http://schemas.microsoft.com/office/drawing/2014/main" val="2050751449"/>
                  </a:ext>
                </a:extLst>
              </a:tr>
              <a:tr h="368625">
                <a:tc>
                  <a:txBody>
                    <a:bodyPr/>
                    <a:lstStyle/>
                    <a:p>
                      <a:r>
                        <a:rPr lang="en-US" dirty="0"/>
                        <a:t>Married</a:t>
                      </a:r>
                    </a:p>
                  </a:txBody>
                  <a:tcPr>
                    <a:noFill/>
                  </a:tcPr>
                </a:tc>
                <a:tc>
                  <a:txBody>
                    <a:bodyPr/>
                    <a:lstStyle/>
                    <a:p>
                      <a:r>
                        <a:rPr lang="en-US" dirty="0"/>
                        <a:t>15.3</a:t>
                      </a:r>
                    </a:p>
                  </a:txBody>
                  <a:tcPr>
                    <a:noFill/>
                  </a:tcPr>
                </a:tc>
                <a:extLst>
                  <a:ext uri="{0D108BD9-81ED-4DB2-BD59-A6C34878D82A}">
                    <a16:rowId xmlns:a16="http://schemas.microsoft.com/office/drawing/2014/main" val="4210811717"/>
                  </a:ext>
                </a:extLst>
              </a:tr>
            </a:tbl>
          </a:graphicData>
        </a:graphic>
      </p:graphicFrame>
    </p:spTree>
    <p:extLst>
      <p:ext uri="{BB962C8B-B14F-4D97-AF65-F5344CB8AC3E}">
        <p14:creationId xmlns:p14="http://schemas.microsoft.com/office/powerpoint/2010/main" val="38968611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8">
          <a:extLst>
            <a:ext uri="{FF2B5EF4-FFF2-40B4-BE49-F238E27FC236}">
              <a16:creationId xmlns:a16="http://schemas.microsoft.com/office/drawing/2014/main" id="{D4A8774B-DC07-4E6D-EE9C-34A1D998A7E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3FB96EF-E973-572D-8382-A3314E3AB861}"/>
              </a:ext>
            </a:extLst>
          </p:cNvPr>
          <p:cNvSpPr txBox="1"/>
          <p:nvPr/>
        </p:nvSpPr>
        <p:spPr>
          <a:xfrm>
            <a:off x="1156307" y="941489"/>
            <a:ext cx="6985370" cy="2031325"/>
          </a:xfrm>
          <a:prstGeom prst="rect">
            <a:avLst/>
          </a:prstGeom>
          <a:noFill/>
        </p:spPr>
        <p:txBody>
          <a:bodyPr wrap="square" rtlCol="0">
            <a:spAutoFit/>
          </a:bodyPr>
          <a:lstStyle/>
          <a:p>
            <a:r>
              <a:rPr lang="en-US" dirty="0"/>
              <a:t>Next steps:</a:t>
            </a:r>
          </a:p>
          <a:p>
            <a:pPr marL="285750" indent="-285750">
              <a:buFontTx/>
              <a:buChar char="-"/>
            </a:pPr>
            <a:r>
              <a:rPr lang="en-US" dirty="0"/>
              <a:t>2020 onwards has detailed occupation data which I was wondering if this could be used as a proxy for income or otherwise make use of it</a:t>
            </a:r>
          </a:p>
          <a:p>
            <a:pPr marL="285750" indent="-285750">
              <a:buFontTx/>
              <a:buChar char="-"/>
            </a:pPr>
            <a:r>
              <a:rPr lang="en-US" dirty="0"/>
              <a:t>Improve the time series and make ones for proportion with 0 secondary factors</a:t>
            </a:r>
          </a:p>
          <a:p>
            <a:pPr marL="285750" indent="-285750">
              <a:buFontTx/>
              <a:buChar char="-"/>
            </a:pPr>
            <a:r>
              <a:rPr lang="en-US" dirty="0"/>
              <a:t>Maps!</a:t>
            </a:r>
          </a:p>
          <a:p>
            <a:pPr marL="285750" indent="-285750">
              <a:buFontTx/>
              <a:buChar char="-"/>
            </a:pPr>
            <a:r>
              <a:rPr lang="en-US" dirty="0"/>
              <a:t>Other thoughts?</a:t>
            </a:r>
          </a:p>
        </p:txBody>
      </p:sp>
    </p:spTree>
    <p:extLst>
      <p:ext uri="{BB962C8B-B14F-4D97-AF65-F5344CB8AC3E}">
        <p14:creationId xmlns:p14="http://schemas.microsoft.com/office/powerpoint/2010/main" val="865868414"/>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2711</TotalTime>
  <Words>2660</Words>
  <Application>Microsoft Macintosh PowerPoint</Application>
  <PresentationFormat>On-screen Show (16:9)</PresentationFormat>
  <Paragraphs>691</Paragraphs>
  <Slides>44</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vt:lpstr>
      <vt:lpstr>Calibri</vt:lpstr>
      <vt:lpstr>Calibri Light</vt:lpstr>
      <vt:lpstr>inherit</vt:lpstr>
      <vt:lpstr>Office 2013 - 2022 Theme</vt:lpstr>
      <vt:lpstr>Quality of 2016 US Mortality Data</vt:lpstr>
      <vt:lpstr>ANACONDA Index</vt:lpstr>
      <vt:lpstr>Summary of Things I Looked At</vt:lpstr>
      <vt:lpstr>Data is complete (or very close)</vt:lpstr>
      <vt:lpstr>Biologically Implausible Codes</vt:lpstr>
      <vt:lpstr>Fraction of Garbage Codes and GBD Severity Profile</vt:lpstr>
      <vt:lpstr>Demographics and Percentage Garbage Codes</vt:lpstr>
      <vt:lpstr>PowerPoint Presentation</vt:lpstr>
      <vt:lpstr>PowerPoint Presentation</vt:lpstr>
      <vt:lpstr>PowerPoint Presentation</vt:lpstr>
      <vt:lpstr>What are GBD severities?</vt:lpstr>
      <vt:lpstr>Top 11 Garbage Codes in 2016</vt:lpstr>
      <vt:lpstr>COD detail</vt:lpstr>
      <vt:lpstr>Number of Secondary Factors</vt:lpstr>
      <vt:lpstr>PowerPoint Presentation</vt:lpstr>
      <vt:lpstr>PowerPoint Presentation</vt:lpstr>
      <vt:lpstr>PowerPoint Presentation</vt:lpstr>
      <vt:lpstr>PowerPoint Presentation</vt:lpstr>
      <vt:lpstr>PowerPoint Presentation</vt:lpstr>
      <vt:lpstr>Autopsies</vt:lpstr>
      <vt:lpstr>PowerPoint Presentation</vt:lpstr>
      <vt:lpstr>PowerPoint Presentation</vt:lpstr>
      <vt:lpstr>How correlated are the various indices?</vt:lpstr>
      <vt:lpstr>Timeseries</vt:lpstr>
      <vt:lpstr>PowerPoint Presentation</vt:lpstr>
      <vt:lpstr>PowerPoint Presentation</vt:lpstr>
      <vt:lpstr>PowerPoint Presentation</vt:lpstr>
      <vt:lpstr>PowerPoint Presentation</vt:lpstr>
      <vt:lpstr>PowerPoint Presentation</vt:lpstr>
      <vt:lpstr>PowerPoint Presentation</vt:lpstr>
      <vt:lpstr>Quality of 2020 US Mortality Data</vt:lpstr>
      <vt:lpstr>Fraction of Garbage Codes and GBD Severity Profile</vt:lpstr>
      <vt:lpstr>Demographics and Percentage Garbage Codes</vt:lpstr>
      <vt:lpstr>PowerPoint Presentation</vt:lpstr>
      <vt:lpstr>PowerPoint Presentation</vt:lpstr>
      <vt:lpstr>PowerPoint Presentation</vt:lpstr>
      <vt:lpstr>PowerPoint Presentation</vt:lpstr>
      <vt:lpstr>Top 11 Garbage Codes in 2016</vt:lpstr>
      <vt:lpstr>Number of Secondary Factors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Amy Mann</cp:lastModifiedBy>
  <cp:revision>81</cp:revision>
  <dcterms:modified xsi:type="dcterms:W3CDTF">2025-05-21T02:47:21Z</dcterms:modified>
</cp:coreProperties>
</file>